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56" r:id="rId5"/>
    <p:sldId id="5483" r:id="rId6"/>
    <p:sldId id="5475" r:id="rId7"/>
    <p:sldId id="5494" r:id="rId8"/>
    <p:sldId id="5492" r:id="rId9"/>
    <p:sldId id="5491" r:id="rId10"/>
    <p:sldId id="261" r:id="rId11"/>
    <p:sldId id="5489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02AD6-0D1E-4E6B-B4F1-EF03810DA7D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E3E8B-28EA-4C2D-B853-608C65CA7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87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BC8E6-923F-1B94-2C1A-DD07F0AD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DE4C8-5C42-5D07-009E-100450CAE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231DC-03D9-B323-9898-FFFE90676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620E1-ADE3-8CC2-1EE5-49744987D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818C8-CFED-431A-BEDC-6D39737FF32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71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4A6EC-DEEA-C28B-5084-2F801C50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EDD84-C9C8-4080-1B09-CAAD735AE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95797-7FF4-BCFF-57CA-DA95E56F0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0154B-10DC-7E1E-86CA-F38202078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818C8-CFED-431A-BEDC-6D39737FF32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769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B583-FF75-554A-4BD3-501CA55C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85CE5-1FBB-0470-94B4-FF3C9A924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483D5-D302-EC34-2EB4-CD7095B21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D1E8A-BC85-86B9-15EB-B9F8752FA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818C8-CFED-431A-BEDC-6D39737FF32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90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6AB1E-69D0-48F6-91BA-96CAF439A5B2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8123" y="4639990"/>
            <a:ext cx="366080" cy="3613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57187" y="4557712"/>
            <a:ext cx="8192770" cy="0"/>
          </a:xfrm>
          <a:custGeom>
            <a:avLst/>
            <a:gdLst/>
            <a:ahLst/>
            <a:cxnLst/>
            <a:rect l="l" t="t" r="r" b="b"/>
            <a:pathLst>
              <a:path w="8192770">
                <a:moveTo>
                  <a:pt x="8192706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F4B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38137" y="681101"/>
            <a:ext cx="8173720" cy="0"/>
          </a:xfrm>
          <a:custGeom>
            <a:avLst/>
            <a:gdLst/>
            <a:ahLst/>
            <a:cxnLst/>
            <a:rect l="l" t="t" r="r" b="b"/>
            <a:pathLst>
              <a:path w="8173720">
                <a:moveTo>
                  <a:pt x="0" y="0"/>
                </a:moveTo>
                <a:lnTo>
                  <a:pt x="8173529" y="0"/>
                </a:lnTo>
              </a:path>
            </a:pathLst>
          </a:custGeom>
          <a:ln w="12700">
            <a:solidFill>
              <a:srgbClr val="F089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AC1F3-05DD-4844-A680-49302CC2CB8D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DED81-8D38-429D-8D3A-93D22AA449E3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8123" y="4639990"/>
            <a:ext cx="366080" cy="3613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57187" y="4557712"/>
            <a:ext cx="8192770" cy="0"/>
          </a:xfrm>
          <a:custGeom>
            <a:avLst/>
            <a:gdLst/>
            <a:ahLst/>
            <a:cxnLst/>
            <a:rect l="l" t="t" r="r" b="b"/>
            <a:pathLst>
              <a:path w="8192770">
                <a:moveTo>
                  <a:pt x="8192706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F4B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38137" y="681101"/>
            <a:ext cx="8173720" cy="0"/>
          </a:xfrm>
          <a:custGeom>
            <a:avLst/>
            <a:gdLst/>
            <a:ahLst/>
            <a:cxnLst/>
            <a:rect l="l" t="t" r="r" b="b"/>
            <a:pathLst>
              <a:path w="8173720">
                <a:moveTo>
                  <a:pt x="0" y="0"/>
                </a:moveTo>
                <a:lnTo>
                  <a:pt x="8173529" y="0"/>
                </a:lnTo>
              </a:path>
            </a:pathLst>
          </a:custGeom>
          <a:ln w="12700">
            <a:solidFill>
              <a:srgbClr val="F089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498585" y="4848009"/>
            <a:ext cx="60325" cy="99695"/>
          </a:xfrm>
          <a:custGeom>
            <a:avLst/>
            <a:gdLst/>
            <a:ahLst/>
            <a:cxnLst/>
            <a:rect l="l" t="t" r="r" b="b"/>
            <a:pathLst>
              <a:path w="60325" h="99695">
                <a:moveTo>
                  <a:pt x="33400" y="0"/>
                </a:moveTo>
                <a:lnTo>
                  <a:pt x="25781" y="0"/>
                </a:lnTo>
                <a:lnTo>
                  <a:pt x="22733" y="292"/>
                </a:lnTo>
                <a:lnTo>
                  <a:pt x="2667" y="12217"/>
                </a:lnTo>
                <a:lnTo>
                  <a:pt x="2921" y="17449"/>
                </a:lnTo>
                <a:lnTo>
                  <a:pt x="3556" y="18440"/>
                </a:lnTo>
                <a:lnTo>
                  <a:pt x="5207" y="18745"/>
                </a:lnTo>
                <a:lnTo>
                  <a:pt x="6096" y="18313"/>
                </a:lnTo>
                <a:lnTo>
                  <a:pt x="8636" y="16586"/>
                </a:lnTo>
                <a:lnTo>
                  <a:pt x="13970" y="13665"/>
                </a:lnTo>
                <a:lnTo>
                  <a:pt x="20828" y="10998"/>
                </a:lnTo>
                <a:lnTo>
                  <a:pt x="23495" y="10566"/>
                </a:lnTo>
                <a:lnTo>
                  <a:pt x="29083" y="10566"/>
                </a:lnTo>
                <a:lnTo>
                  <a:pt x="42164" y="23317"/>
                </a:lnTo>
                <a:lnTo>
                  <a:pt x="42164" y="28028"/>
                </a:lnTo>
                <a:lnTo>
                  <a:pt x="11811" y="43395"/>
                </a:lnTo>
                <a:lnTo>
                  <a:pt x="10795" y="44018"/>
                </a:lnTo>
                <a:lnTo>
                  <a:pt x="10287" y="44754"/>
                </a:lnTo>
                <a:lnTo>
                  <a:pt x="9779" y="46494"/>
                </a:lnTo>
                <a:lnTo>
                  <a:pt x="9779" y="50101"/>
                </a:lnTo>
                <a:lnTo>
                  <a:pt x="10160" y="51396"/>
                </a:lnTo>
                <a:lnTo>
                  <a:pt x="10922" y="52704"/>
                </a:lnTo>
                <a:lnTo>
                  <a:pt x="12065" y="53339"/>
                </a:lnTo>
                <a:lnTo>
                  <a:pt x="26289" y="53428"/>
                </a:lnTo>
                <a:lnTo>
                  <a:pt x="29845" y="53847"/>
                </a:lnTo>
                <a:lnTo>
                  <a:pt x="47244" y="68630"/>
                </a:lnTo>
                <a:lnTo>
                  <a:pt x="47244" y="73837"/>
                </a:lnTo>
                <a:lnTo>
                  <a:pt x="30099" y="88557"/>
                </a:lnTo>
                <a:lnTo>
                  <a:pt x="23368" y="88557"/>
                </a:lnTo>
                <a:lnTo>
                  <a:pt x="20193" y="88150"/>
                </a:lnTo>
                <a:lnTo>
                  <a:pt x="14478" y="86563"/>
                </a:lnTo>
                <a:lnTo>
                  <a:pt x="9906" y="84797"/>
                </a:lnTo>
                <a:lnTo>
                  <a:pt x="2540" y="81038"/>
                </a:lnTo>
                <a:lnTo>
                  <a:pt x="1397" y="81038"/>
                </a:lnTo>
                <a:lnTo>
                  <a:pt x="889" y="81381"/>
                </a:lnTo>
                <a:lnTo>
                  <a:pt x="127" y="82765"/>
                </a:lnTo>
                <a:lnTo>
                  <a:pt x="0" y="84010"/>
                </a:lnTo>
                <a:lnTo>
                  <a:pt x="127" y="89153"/>
                </a:lnTo>
                <a:lnTo>
                  <a:pt x="23241" y="99123"/>
                </a:lnTo>
                <a:lnTo>
                  <a:pt x="31750" y="99123"/>
                </a:lnTo>
                <a:lnTo>
                  <a:pt x="60325" y="74587"/>
                </a:lnTo>
                <a:lnTo>
                  <a:pt x="60325" y="70167"/>
                </a:lnTo>
                <a:lnTo>
                  <a:pt x="60325" y="67144"/>
                </a:lnTo>
                <a:lnTo>
                  <a:pt x="37846" y="47256"/>
                </a:lnTo>
                <a:lnTo>
                  <a:pt x="37846" y="47104"/>
                </a:lnTo>
                <a:lnTo>
                  <a:pt x="55880" y="26682"/>
                </a:lnTo>
                <a:lnTo>
                  <a:pt x="55880" y="20142"/>
                </a:lnTo>
                <a:lnTo>
                  <a:pt x="37338" y="571"/>
                </a:lnTo>
                <a:lnTo>
                  <a:pt x="33400" y="0"/>
                </a:lnTo>
                <a:close/>
              </a:path>
            </a:pathLst>
          </a:custGeom>
          <a:solidFill>
            <a:srgbClr val="3E3E3E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003" y="1005839"/>
            <a:ext cx="5874287" cy="34070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AFE50-27D1-46B7-8970-06D9BF181928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D782C-BC1B-408B-8033-34E34E4148C9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88123" y="4639990"/>
            <a:ext cx="366080" cy="3613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57187" y="4557712"/>
            <a:ext cx="8192770" cy="0"/>
          </a:xfrm>
          <a:custGeom>
            <a:avLst/>
            <a:gdLst/>
            <a:ahLst/>
            <a:cxnLst/>
            <a:rect l="l" t="t" r="r" b="b"/>
            <a:pathLst>
              <a:path w="8192770">
                <a:moveTo>
                  <a:pt x="8192706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F4B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1945" y="175894"/>
            <a:ext cx="8500109" cy="426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0040" y="784605"/>
            <a:ext cx="8002905" cy="2709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04C60-6BE7-4758-B3CD-5373CD0EC4DD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29880" y="4773658"/>
            <a:ext cx="67945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050" spc="-6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"/>
            <a:ext cx="9164411" cy="5143498"/>
            <a:chOff x="-20411" y="0"/>
            <a:chExt cx="9164411" cy="5143498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0"/>
              <a:ext cx="4572000" cy="51434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3997" y="527329"/>
              <a:ext cx="363220" cy="363220"/>
            </a:xfrm>
            <a:custGeom>
              <a:avLst/>
              <a:gdLst/>
              <a:ahLst/>
              <a:cxnLst/>
              <a:rect l="l" t="t" r="r" b="b"/>
              <a:pathLst>
                <a:path w="363220" h="363219">
                  <a:moveTo>
                    <a:pt x="362839" y="345998"/>
                  </a:moveTo>
                  <a:lnTo>
                    <a:pt x="362788" y="16497"/>
                  </a:lnTo>
                  <a:lnTo>
                    <a:pt x="362788" y="16179"/>
                  </a:lnTo>
                  <a:lnTo>
                    <a:pt x="362788" y="0"/>
                  </a:lnTo>
                  <a:lnTo>
                    <a:pt x="50" y="0"/>
                  </a:lnTo>
                  <a:lnTo>
                    <a:pt x="50" y="16497"/>
                  </a:lnTo>
                  <a:lnTo>
                    <a:pt x="25" y="346532"/>
                  </a:lnTo>
                  <a:lnTo>
                    <a:pt x="0" y="363029"/>
                  </a:lnTo>
                  <a:lnTo>
                    <a:pt x="362839" y="363029"/>
                  </a:lnTo>
                  <a:lnTo>
                    <a:pt x="362839" y="346532"/>
                  </a:lnTo>
                  <a:lnTo>
                    <a:pt x="16421" y="346532"/>
                  </a:lnTo>
                  <a:lnTo>
                    <a:pt x="16421" y="16497"/>
                  </a:lnTo>
                  <a:lnTo>
                    <a:pt x="346456" y="16497"/>
                  </a:lnTo>
                  <a:lnTo>
                    <a:pt x="346392" y="345998"/>
                  </a:lnTo>
                  <a:lnTo>
                    <a:pt x="362839" y="345998"/>
                  </a:lnTo>
                  <a:close/>
                </a:path>
              </a:pathLst>
            </a:custGeom>
            <a:solidFill>
              <a:srgbClr val="F089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419" y="587508"/>
              <a:ext cx="186101" cy="1857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241" y="771417"/>
              <a:ext cx="215038" cy="2144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0032" y="518178"/>
              <a:ext cx="2440519" cy="2809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0032" y="883851"/>
              <a:ext cx="2416793" cy="11075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1381125"/>
              <a:ext cx="5162550" cy="3752850"/>
            </a:xfrm>
            <a:custGeom>
              <a:avLst/>
              <a:gdLst/>
              <a:ahLst/>
              <a:cxnLst/>
              <a:rect l="l" t="t" r="r" b="b"/>
              <a:pathLst>
                <a:path w="5162550" h="3752850">
                  <a:moveTo>
                    <a:pt x="4153027" y="0"/>
                  </a:moveTo>
                  <a:lnTo>
                    <a:pt x="0" y="0"/>
                  </a:lnTo>
                  <a:lnTo>
                    <a:pt x="0" y="3752849"/>
                  </a:lnTo>
                  <a:lnTo>
                    <a:pt x="5162550" y="3752849"/>
                  </a:lnTo>
                  <a:lnTo>
                    <a:pt x="415302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-20411" y="1541929"/>
              <a:ext cx="4592411" cy="3600450"/>
            </a:xfrm>
            <a:custGeom>
              <a:avLst/>
              <a:gdLst/>
              <a:ahLst/>
              <a:cxnLst/>
              <a:rect l="l" t="t" r="r" b="b"/>
              <a:pathLst>
                <a:path w="5000625" h="3600450">
                  <a:moveTo>
                    <a:pt x="4022852" y="0"/>
                  </a:moveTo>
                  <a:lnTo>
                    <a:pt x="0" y="0"/>
                  </a:lnTo>
                  <a:lnTo>
                    <a:pt x="0" y="3600449"/>
                  </a:lnTo>
                  <a:lnTo>
                    <a:pt x="5000625" y="3600449"/>
                  </a:lnTo>
                  <a:lnTo>
                    <a:pt x="402285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530" y="2460105"/>
            <a:ext cx="3810031" cy="157222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>
                <a:solidFill>
                  <a:schemeClr val="tx2">
                    <a:lumMod val="75000"/>
                  </a:schemeClr>
                </a:solidFill>
                <a:latin typeface="+mn-lt"/>
                <a:cs typeface="Calibri"/>
              </a:rPr>
              <a:t>HMH - </a:t>
            </a:r>
            <a:r>
              <a:rPr lang="en-US" b="1" err="1">
                <a:solidFill>
                  <a:schemeClr val="tx2">
                    <a:lumMod val="75000"/>
                  </a:schemeClr>
                </a:solidFill>
                <a:latin typeface="+mn-lt"/>
                <a:cs typeface="Calibri"/>
              </a:rPr>
              <a:t>DataPattern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+mn-lt"/>
                <a:cs typeface="Calibri"/>
              </a:rPr>
              <a:t> Leadership </a:t>
            </a:r>
            <a:r>
              <a:rPr lang="en-US" b="1" err="1">
                <a:solidFill>
                  <a:schemeClr val="tx2">
                    <a:lumMod val="75000"/>
                  </a:schemeClr>
                </a:solidFill>
                <a:latin typeface="+mn-lt"/>
                <a:cs typeface="Calibri"/>
              </a:rPr>
              <a:t>SyncUp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+mn-lt"/>
                <a:cs typeface="Calibri"/>
              </a:rPr>
              <a:t> </a:t>
            </a:r>
            <a:endParaRPr lang="en-US">
              <a:solidFill>
                <a:schemeClr val="tx2">
                  <a:lumMod val="75000"/>
                </a:schemeClr>
              </a:solidFill>
            </a:endParaRPr>
          </a:p>
          <a:p>
            <a:pPr marL="12700">
              <a:spcBef>
                <a:spcPts val="100"/>
              </a:spcBef>
            </a:pPr>
            <a:r>
              <a:rPr lang="en-US" b="1">
                <a:solidFill>
                  <a:schemeClr val="tx2">
                    <a:lumMod val="75000"/>
                  </a:schemeClr>
                </a:solidFill>
                <a:latin typeface="+mn-lt"/>
                <a:ea typeface="Calibri"/>
                <a:cs typeface="Calibri"/>
              </a:rPr>
              <a:t>      </a:t>
            </a:r>
          </a:p>
          <a:p>
            <a:pPr marL="12700">
              <a:spcBef>
                <a:spcPts val="100"/>
              </a:spcBef>
            </a:pPr>
            <a:r>
              <a:rPr lang="en-US" b="1">
                <a:solidFill>
                  <a:schemeClr val="tx2">
                    <a:lumMod val="75000"/>
                  </a:schemeClr>
                </a:solidFill>
                <a:latin typeface="+mn-lt"/>
                <a:ea typeface="Calibri"/>
                <a:cs typeface="Calibri"/>
              </a:rPr>
              <a:t>   - May 08, 2026</a:t>
            </a:r>
            <a:endParaRPr lang="en-US" b="1">
              <a:solidFill>
                <a:schemeClr val="tx2">
                  <a:lumMod val="75000"/>
                </a:schemeClr>
              </a:solidFill>
            </a:endParaRPr>
          </a:p>
          <a:p>
            <a:pPr marL="12700">
              <a:spcBef>
                <a:spcPts val="100"/>
              </a:spcBef>
            </a:pPr>
            <a:endParaRPr lang="en-US" sz="2400" b="1">
              <a:solidFill>
                <a:schemeClr val="tx2">
                  <a:lumMod val="75000"/>
                </a:schemeClr>
              </a:solidFill>
              <a:latin typeface="+mn-lt"/>
              <a:cs typeface="Calibri"/>
            </a:endParaRPr>
          </a:p>
          <a:p>
            <a:pPr marL="12700">
              <a:spcBef>
                <a:spcPts val="100"/>
              </a:spcBef>
            </a:pPr>
            <a:r>
              <a:rPr lang="en-US" b="1">
                <a:solidFill>
                  <a:schemeClr val="tx2">
                    <a:lumMod val="75000"/>
                  </a:schemeClr>
                </a:solidFill>
                <a:latin typeface="+mn-lt"/>
                <a:cs typeface="Calibri"/>
              </a:rPr>
              <a:t>   </a:t>
            </a:r>
            <a:endParaRPr lang="en-US" sz="2000" b="1" i="1">
              <a:solidFill>
                <a:schemeClr val="tx2">
                  <a:lumMod val="75000"/>
                </a:schemeClr>
              </a:solidFill>
              <a:latin typeface="+mn-lt"/>
              <a:ea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1000" y="2124075"/>
            <a:ext cx="866775" cy="2266950"/>
            <a:chOff x="4191000" y="2124075"/>
            <a:chExt cx="866775" cy="2266950"/>
          </a:xfrm>
        </p:grpSpPr>
        <p:sp>
          <p:nvSpPr>
            <p:cNvPr id="14" name="object 14"/>
            <p:cNvSpPr/>
            <p:nvPr/>
          </p:nvSpPr>
          <p:spPr>
            <a:xfrm>
              <a:off x="4191000" y="2124075"/>
              <a:ext cx="819150" cy="2266950"/>
            </a:xfrm>
            <a:custGeom>
              <a:avLst/>
              <a:gdLst/>
              <a:ahLst/>
              <a:cxnLst/>
              <a:rect l="l" t="t" r="r" b="b"/>
              <a:pathLst>
                <a:path w="819150" h="2266950">
                  <a:moveTo>
                    <a:pt x="212344" y="0"/>
                  </a:moveTo>
                  <a:lnTo>
                    <a:pt x="0" y="0"/>
                  </a:lnTo>
                  <a:lnTo>
                    <a:pt x="606805" y="2266950"/>
                  </a:lnTo>
                  <a:lnTo>
                    <a:pt x="819150" y="2266950"/>
                  </a:lnTo>
                  <a:lnTo>
                    <a:pt x="212344" y="0"/>
                  </a:lnTo>
                  <a:close/>
                </a:path>
              </a:pathLst>
            </a:custGeom>
            <a:solidFill>
              <a:srgbClr val="033B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05300" y="2228850"/>
              <a:ext cx="752475" cy="2066925"/>
            </a:xfrm>
            <a:custGeom>
              <a:avLst/>
              <a:gdLst/>
              <a:ahLst/>
              <a:cxnLst/>
              <a:rect l="l" t="t" r="r" b="b"/>
              <a:pathLst>
                <a:path w="752475" h="2066925">
                  <a:moveTo>
                    <a:pt x="195072" y="0"/>
                  </a:moveTo>
                  <a:lnTo>
                    <a:pt x="0" y="0"/>
                  </a:lnTo>
                  <a:lnTo>
                    <a:pt x="557402" y="2066925"/>
                  </a:lnTo>
                  <a:lnTo>
                    <a:pt x="752475" y="2066925"/>
                  </a:lnTo>
                  <a:lnTo>
                    <a:pt x="195072" y="0"/>
                  </a:lnTo>
                  <a:close/>
                </a:path>
              </a:pathLst>
            </a:custGeom>
            <a:solidFill>
              <a:srgbClr val="F089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C45B7-CA3C-8C6F-ADDB-4707C5D9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E3EFAE-13D0-3DCB-862C-A136A397A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011" y="172770"/>
            <a:ext cx="1639506" cy="40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3E94B9-1906-83DA-ABD2-538BE2EF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84" y="372842"/>
            <a:ext cx="8500109" cy="426720"/>
          </a:xfrm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>
                <a:solidFill>
                  <a:srgbClr val="002060"/>
                </a:solidFill>
                <a:ea typeface="Calibri"/>
                <a:cs typeface="Calibri"/>
              </a:rPr>
              <a:t>Monthly Status Report – HMH  </a:t>
            </a:r>
            <a:endParaRPr lang="en-IN" sz="1350" b="0">
              <a:solidFill>
                <a:schemeClr val="tx2">
                  <a:lumMod val="75000"/>
                </a:schemeClr>
              </a:solidFill>
              <a:ea typeface="Segoe UI Historic"/>
              <a:cs typeface="Segoe UI Historic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C84B5C-7E25-A801-764A-C4C8C8D23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50639"/>
              </p:ext>
            </p:extLst>
          </p:nvPr>
        </p:nvGraphicFramePr>
        <p:xfrm>
          <a:off x="368084" y="762829"/>
          <a:ext cx="4056682" cy="2176634"/>
        </p:xfrm>
        <a:graphic>
          <a:graphicData uri="http://schemas.openxmlformats.org/drawingml/2006/table">
            <a:tbl>
              <a:tblPr firstRow="1" bandRow="1"/>
              <a:tblGrid>
                <a:gridCol w="4056682">
                  <a:extLst>
                    <a:ext uri="{9D8B030D-6E8A-4147-A177-3AD203B41FA5}">
                      <a16:colId xmlns:a16="http://schemas.microsoft.com/office/drawing/2014/main" val="2638798687"/>
                    </a:ext>
                  </a:extLst>
                </a:gridCol>
              </a:tblGrid>
              <a:tr h="2459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/>
                      <a:r>
                        <a:rPr lang="en-IN" sz="1100" b="1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Highlights &amp; Accomplishments</a:t>
                      </a:r>
                      <a:endParaRPr lang="en-IN" sz="9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90000"/>
                        <a:lumOff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917092"/>
                  </a:ext>
                </a:extLst>
              </a:tr>
              <a:tr h="19306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r>
                        <a:rPr lang="en-IN" sz="1200" b="1">
                          <a:solidFill>
                            <a:schemeClr val="accent6"/>
                          </a:solidFill>
                          <a:latin typeface="+mn-lt"/>
                        </a:rPr>
                        <a:t>Completed Platforms &amp; Tasks</a:t>
                      </a:r>
                      <a:endParaRPr lang="en-IN" sz="900" b="1">
                        <a:solidFill>
                          <a:srgbClr val="F79646"/>
                        </a:solidFill>
                        <a:latin typeface="+mn-lt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02187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4B9FBB-BC52-C28F-C6A3-8486B1903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681904"/>
              </p:ext>
            </p:extLst>
          </p:nvPr>
        </p:nvGraphicFramePr>
        <p:xfrm>
          <a:off x="4527531" y="3040265"/>
          <a:ext cx="4155225" cy="1457171"/>
        </p:xfrm>
        <a:graphic>
          <a:graphicData uri="http://schemas.openxmlformats.org/drawingml/2006/table">
            <a:tbl>
              <a:tblPr firstRow="1" bandRow="1"/>
              <a:tblGrid>
                <a:gridCol w="4155225">
                  <a:extLst>
                    <a:ext uri="{9D8B030D-6E8A-4147-A177-3AD203B41FA5}">
                      <a16:colId xmlns:a16="http://schemas.microsoft.com/office/drawing/2014/main" val="2638798687"/>
                    </a:ext>
                  </a:extLst>
                </a:gridCol>
              </a:tblGrid>
              <a:tr h="2501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/>
                      <a:r>
                        <a:rPr lang="en-IN" sz="900" b="1" i="0" kern="1200">
                          <a:solidFill>
                            <a:schemeClr val="bg1"/>
                          </a:solidFill>
                          <a:effectLst/>
                          <a:latin typeface="Aptos" panose="02110004020202020204"/>
                          <a:ea typeface="+mn-ea"/>
                          <a:cs typeface="+mn-cs"/>
                        </a:rPr>
                        <a:t>Risk &amp; Issues</a:t>
                      </a:r>
                      <a:endParaRPr lang="en-IN" sz="9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90000"/>
                        <a:lumOff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917092"/>
                  </a:ext>
                </a:extLst>
              </a:tr>
              <a:tr h="12070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Calibri"/>
                          <a:ea typeface="Calibri"/>
                          <a:cs typeface="Calibri"/>
                        </a:rPr>
                        <a:t>JIRA Migration Dependency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</a:p>
                    <a:p>
                      <a:pPr marL="177800" lvl="1" indent="0">
                        <a:lnSpc>
                          <a:spcPct val="100000"/>
                        </a:lnSpc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Migration delays may impact reporting continuity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latin typeface="Calibri"/>
                          <a:ea typeface="Calibri"/>
                          <a:cs typeface="Calibri"/>
                        </a:rPr>
                        <a:t>Automation Not Yet Production Ready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</a:p>
                    <a:p>
                      <a:pPr marL="177800" lvl="1" indent="0" algn="l">
                        <a:lnSpc>
                          <a:spcPct val="100000"/>
                        </a:lnSpc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Validation agents still under development → risk to reporting accuracy </a:t>
                      </a:r>
                    </a:p>
                    <a:p>
                      <a:pPr marL="171450" lvl="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1"/>
                        <a:t>Mitigation</a:t>
                      </a:r>
                      <a:endParaRPr lang="en-US" sz="1000"/>
                    </a:p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>
                          <a:latin typeface="Calibri (Headings)"/>
                        </a:rPr>
                        <a:t>      Phased migration with validation to ensure continuity and accuracy.</a:t>
                      </a:r>
                    </a:p>
                  </a:txBody>
                  <a:tcPr marL="68580" marR="68580" marT="34290" marB="34290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02187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7790BBD-0DBD-6949-0B1F-88989ABB1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623976"/>
              </p:ext>
            </p:extLst>
          </p:nvPr>
        </p:nvGraphicFramePr>
        <p:xfrm>
          <a:off x="368084" y="3040265"/>
          <a:ext cx="4056682" cy="1457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0408">
                  <a:extLst>
                    <a:ext uri="{9D8B030D-6E8A-4147-A177-3AD203B41FA5}">
                      <a16:colId xmlns:a16="http://schemas.microsoft.com/office/drawing/2014/main" val="325615774"/>
                    </a:ext>
                  </a:extLst>
                </a:gridCol>
                <a:gridCol w="366274">
                  <a:extLst>
                    <a:ext uri="{9D8B030D-6E8A-4147-A177-3AD203B41FA5}">
                      <a16:colId xmlns:a16="http://schemas.microsoft.com/office/drawing/2014/main" val="3117850080"/>
                    </a:ext>
                  </a:extLst>
                </a:gridCol>
              </a:tblGrid>
              <a:tr h="251211"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Upcoming </a:t>
                      </a:r>
                      <a:r>
                        <a:rPr lang="en-US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Activities</a:t>
                      </a: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( Next Plan)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3E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986336"/>
                  </a:ext>
                </a:extLst>
              </a:tr>
              <a:tr h="1205960">
                <a:tc>
                  <a:txBody>
                    <a:bodyPr/>
                    <a:lstStyle/>
                    <a:p>
                      <a:pPr marL="357188" indent="-179388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000"/>
                        <a:t>Complete </a:t>
                      </a:r>
                      <a:r>
                        <a:rPr lang="en-IN" sz="1000" b="1"/>
                        <a:t>JIRA Migration &amp; Validation</a:t>
                      </a:r>
                      <a:r>
                        <a:rPr lang="en-IN" sz="1000"/>
                        <a:t> </a:t>
                      </a:r>
                    </a:p>
                    <a:p>
                      <a:pPr marL="357188" indent="-17145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000"/>
                        <a:t>Finalize </a:t>
                      </a:r>
                      <a:r>
                        <a:rPr lang="en-IN" sz="1000" b="1"/>
                        <a:t>Report Export Framework (client-ready format)</a:t>
                      </a:r>
                      <a:r>
                        <a:rPr lang="en-IN" sz="1000"/>
                        <a:t> </a:t>
                      </a:r>
                    </a:p>
                    <a:p>
                      <a:pPr marL="357188" indent="-17145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000"/>
                        <a:t>Deploy </a:t>
                      </a:r>
                      <a:r>
                        <a:rPr lang="en-IN" sz="1000" b="1"/>
                        <a:t>Automation Agents for Report Validation</a:t>
                      </a:r>
                      <a:r>
                        <a:rPr lang="en-IN" sz="1000"/>
                        <a:t> </a:t>
                      </a:r>
                    </a:p>
                    <a:p>
                      <a:pPr marL="357188" indent="-17145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000"/>
                        <a:t>Perform </a:t>
                      </a:r>
                      <a:r>
                        <a:rPr lang="en-IN" sz="1000" b="1"/>
                        <a:t>Data Accuracy Testing (Sampling + Cross-validation)</a:t>
                      </a:r>
                      <a:r>
                        <a:rPr lang="en-IN" sz="1000"/>
                        <a:t> </a:t>
                      </a:r>
                    </a:p>
                  </a:txBody>
                  <a:tcPr marL="5333" marR="5333" marT="5333" marB="0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sz="800" u="none" strike="noStrike">
                        <a:effectLst/>
                        <a:latin typeface="Aptos"/>
                      </a:endParaRPr>
                    </a:p>
                  </a:txBody>
                  <a:tcPr marL="5333" marR="5333" marT="53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07945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EF265A-DA09-A8F1-9B37-5FFFCB6F4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837822"/>
              </p:ext>
            </p:extLst>
          </p:nvPr>
        </p:nvGraphicFramePr>
        <p:xfrm>
          <a:off x="4527531" y="762829"/>
          <a:ext cx="4155225" cy="2176634"/>
        </p:xfrm>
        <a:graphic>
          <a:graphicData uri="http://schemas.openxmlformats.org/drawingml/2006/table">
            <a:tbl>
              <a:tblPr firstRow="1" bandRow="1"/>
              <a:tblGrid>
                <a:gridCol w="4155225">
                  <a:extLst>
                    <a:ext uri="{9D8B030D-6E8A-4147-A177-3AD203B41FA5}">
                      <a16:colId xmlns:a16="http://schemas.microsoft.com/office/drawing/2014/main" val="2638798687"/>
                    </a:ext>
                  </a:extLst>
                </a:gridCol>
              </a:tblGrid>
              <a:tr h="2277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/>
                      <a:r>
                        <a:rPr lang="en-IN" sz="900" b="1">
                          <a:solidFill>
                            <a:schemeClr val="bg1"/>
                          </a:solidFill>
                        </a:rPr>
                        <a:t>Ongoing Work (In Progress)</a:t>
                      </a:r>
                      <a:endParaRPr lang="en-IN" sz="9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90000"/>
                        <a:lumOff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917092"/>
                  </a:ext>
                </a:extLst>
              </a:tr>
              <a:tr h="19488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1000" b="1">
                          <a:latin typeface="Calibri"/>
                          <a:ea typeface="Calibri"/>
                          <a:cs typeface="Calibri"/>
                        </a:rPr>
                        <a:t>Report Generation &amp; Data Structuring</a:t>
                      </a:r>
                      <a:r>
                        <a:rPr lang="en-IN" sz="100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br>
                        <a:rPr lang="en-IN" sz="1000"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IN" sz="1000">
                          <a:latin typeface="Calibri"/>
                          <a:ea typeface="Calibri"/>
                          <a:cs typeface="Calibri"/>
                        </a:rPr>
                        <a:t>Building export-ready reports 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000">
                          <a:latin typeface="Calibri"/>
                          <a:ea typeface="Calibri"/>
                          <a:cs typeface="Calibri"/>
                        </a:rPr>
                        <a:t>      Ensuring </a:t>
                      </a:r>
                      <a:r>
                        <a:rPr lang="en-IN" sz="1000" b="1">
                          <a:latin typeface="Calibri"/>
                          <a:ea typeface="Calibri"/>
                          <a:cs typeface="Calibri"/>
                        </a:rPr>
                        <a:t>correct relational mapping (Findings ↔ Assets ↔ Test Cycles)</a:t>
                      </a:r>
                      <a:r>
                        <a:rPr lang="en-IN" sz="100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</a:p>
                    <a:p>
                      <a:pPr marL="171450" indent="-171450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1000" b="1">
                          <a:latin typeface="Calibri"/>
                          <a:ea typeface="Calibri"/>
                          <a:cs typeface="Calibri"/>
                        </a:rPr>
                        <a:t>JIRA Project Migration</a:t>
                      </a:r>
                      <a:r>
                        <a:rPr lang="en-IN" sz="1000">
                          <a:latin typeface="Calibri"/>
                          <a:ea typeface="Calibri"/>
                          <a:cs typeface="Calibri"/>
                        </a:rPr>
                        <a:t> Migrating project from legacy environment to HMH setup 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000">
                          <a:latin typeface="Calibri"/>
                          <a:ea typeface="Calibri"/>
                          <a:cs typeface="Calibri"/>
                        </a:rPr>
                        <a:t>      Validating data integrity post-migration </a:t>
                      </a:r>
                    </a:p>
                    <a:p>
                      <a:pPr marL="177800" indent="-177800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1000" b="1">
                          <a:latin typeface="Calibri"/>
                          <a:ea typeface="Calibri"/>
                          <a:cs typeface="Calibri"/>
                        </a:rPr>
                        <a:t>Report Validation Automation</a:t>
                      </a:r>
                      <a:r>
                        <a:rPr lang="en-IN" sz="1000">
                          <a:latin typeface="Calibri"/>
                          <a:ea typeface="Calibri"/>
                          <a:cs typeface="Calibri"/>
                        </a:rPr>
                        <a:t> Agent-based validation still under development</a:t>
                      </a:r>
                    </a:p>
                    <a:p>
                      <a:pPr marL="177800" indent="0">
                        <a:spcBef>
                          <a:spcPts val="3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000">
                          <a:latin typeface="Calibri"/>
                          <a:ea typeface="Calibri"/>
                          <a:cs typeface="Calibri"/>
                        </a:rPr>
                        <a:t>Aligning logic with updated SOP controls</a:t>
                      </a:r>
                    </a:p>
                    <a:p>
                      <a:endParaRPr lang="en-IN" sz="900" b="0" i="0" u="none" strike="noStrike" noProof="0">
                        <a:latin typeface="+mn-lt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02187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B2C2DC-8B0F-9D53-67B6-5F1C53613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536029"/>
              </p:ext>
            </p:extLst>
          </p:nvPr>
        </p:nvGraphicFramePr>
        <p:xfrm>
          <a:off x="445576" y="1413997"/>
          <a:ext cx="390944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459">
                  <a:extLst>
                    <a:ext uri="{9D8B030D-6E8A-4147-A177-3AD203B41FA5}">
                      <a16:colId xmlns:a16="http://schemas.microsoft.com/office/drawing/2014/main" val="2750671822"/>
                    </a:ext>
                  </a:extLst>
                </a:gridCol>
                <a:gridCol w="2491989">
                  <a:extLst>
                    <a:ext uri="{9D8B030D-6E8A-4147-A177-3AD203B41FA5}">
                      <a16:colId xmlns:a16="http://schemas.microsoft.com/office/drawing/2014/main" val="2413648397"/>
                    </a:ext>
                  </a:extLst>
                </a:gridCol>
              </a:tblGrid>
              <a:tr h="101858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Platforms:</a:t>
                      </a:r>
                    </a:p>
                    <a:p>
                      <a:pPr marL="0" lvl="0" indent="0">
                        <a:lnSpc>
                          <a:spcPct val="150000"/>
                        </a:lnSpc>
                        <a:buClr>
                          <a:srgbClr val="FFFFFF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   ED</a:t>
                      </a:r>
                      <a:r>
                        <a:rPr lang="en-US" sz="10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_M180 – VA</a:t>
                      </a:r>
                      <a:endParaRPr lang="en-US" sz="1000" b="1" i="0" u="none" strike="noStrike" noProof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>
                        <a:lnSpc>
                          <a:spcPct val="150000"/>
                        </a:lnSpc>
                        <a:buFont typeface="Arial"/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    HMH Labs:</a:t>
                      </a:r>
                    </a:p>
                    <a:p>
                      <a:pPr marL="171450" lv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1. Writable - VA</a:t>
                      </a:r>
                    </a:p>
                    <a:p>
                      <a:pPr marL="171450" lv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2. AI Tools - VA</a:t>
                      </a:r>
                    </a:p>
                    <a:p>
                      <a:pPr marL="171450" lv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3. Flight - 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JIRA Dashboard Enhancement - Completed</a:t>
                      </a:r>
                      <a:br>
                        <a:rPr lang="en-US" sz="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Governance view and reporting structure</a:t>
                      </a:r>
                      <a:r>
                        <a:rPr lang="en-US" sz="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finalized for improved visibility 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SOP Updates - Incorporated</a:t>
                      </a:r>
                      <a:br>
                        <a:rPr lang="en-US" sz="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Feedback integrated and aligned with current workflows</a:t>
                      </a: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endParaRPr lang="en-US" sz="800" b="0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US" sz="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Vulnerability Assessment – Completed</a:t>
                      </a:r>
                    </a:p>
                    <a:p>
                      <a:pPr marL="171450" lvl="0" indent="0">
                        <a:buNone/>
                      </a:pPr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ED-M180 &amp; HMH labs </a:t>
                      </a:r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</a:rPr>
                        <a:t>Vulnerability Assessment has been successfully completed, and the report has been submitted</a:t>
                      </a:r>
                      <a:endParaRPr lang="en-US" sz="800" b="0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357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0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175CB-AB2A-CB89-AD16-25261EA1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865761-A09F-1F3A-74D2-94C14BE03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24981"/>
            <a:ext cx="8500109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CA" sz="2000"/>
              <a:t>Quality‑Driven Skill Advancement &amp; Process Evolution   </a:t>
            </a:r>
            <a:endParaRPr lang="en-IN" sz="2000">
              <a:ea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A6DE66-E8EA-23E6-44C1-48EA426CF023}"/>
              </a:ext>
            </a:extLst>
          </p:cNvPr>
          <p:cNvGrpSpPr/>
          <p:nvPr/>
        </p:nvGrpSpPr>
        <p:grpSpPr>
          <a:xfrm>
            <a:off x="418836" y="851097"/>
            <a:ext cx="3353880" cy="250031"/>
            <a:chOff x="762000" y="1733550"/>
            <a:chExt cx="4471787" cy="333375"/>
          </a:xfrm>
        </p:grpSpPr>
        <p:sp>
          <p:nvSpPr>
            <p:cNvPr id="3" name="Google Shape;88;p13">
              <a:extLst>
                <a:ext uri="{FF2B5EF4-FFF2-40B4-BE49-F238E27FC236}">
                  <a16:creationId xmlns:a16="http://schemas.microsoft.com/office/drawing/2014/main" id="{D6F53BE1-3711-5235-0DE4-2EE8126DB854}"/>
                </a:ext>
              </a:extLst>
            </p:cNvPr>
            <p:cNvSpPr/>
            <p:nvPr/>
          </p:nvSpPr>
          <p:spPr>
            <a:xfrm>
              <a:off x="762000" y="1733550"/>
              <a:ext cx="57150" cy="333375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 rtl="0"/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89;p13">
              <a:extLst>
                <a:ext uri="{FF2B5EF4-FFF2-40B4-BE49-F238E27FC236}">
                  <a16:creationId xmlns:a16="http://schemas.microsoft.com/office/drawing/2014/main" id="{628B1D14-7FED-BB70-B914-FF47681452D2}"/>
                </a:ext>
              </a:extLst>
            </p:cNvPr>
            <p:cNvSpPr txBox="1"/>
            <p:nvPr/>
          </p:nvSpPr>
          <p:spPr>
            <a:xfrm>
              <a:off x="908048" y="1738540"/>
              <a:ext cx="4325739" cy="328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CA" sz="1600">
                  <a:solidFill>
                    <a:srgbClr val="00508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Enhanced Testing Methodology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7FBAB1-54C6-7508-6B91-4A4E3F40F23A}"/>
              </a:ext>
            </a:extLst>
          </p:cNvPr>
          <p:cNvSpPr txBox="1"/>
          <p:nvPr/>
        </p:nvSpPr>
        <p:spPr>
          <a:xfrm>
            <a:off x="321947" y="1233837"/>
            <a:ext cx="286893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Built </a:t>
            </a:r>
            <a:r>
              <a:rPr lang="en-CA" sz="1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application‑aligned testing frameworks</a:t>
            </a: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that ensure deeper, more predictable coverage across varied architectures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Strengthened </a:t>
            </a:r>
            <a:r>
              <a:rPr lang="en-CA" sz="1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advanced manual testing techniques</a:t>
            </a: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uncover multi‑step, logic‑driven vulnerabilities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Introduced a </a:t>
            </a:r>
            <a:r>
              <a:rPr lang="en-CA" sz="1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structured false‑positive elimination workflow</a:t>
            </a: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improving accuracy and reducing noise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Added </a:t>
            </a:r>
            <a:r>
              <a:rPr lang="en-CA" sz="1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scenario‑based test design</a:t>
            </a: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enabling testers to validate complex business flows more effectively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CA" sz="1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evidence‑quality standards</a:t>
            </a:r>
            <a:r>
              <a:rPr lang="en-CA" sz="12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ensuring every finding is supported with clear, reproducible proof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C580D7-4700-B9A1-7423-7297211DCBB1}"/>
              </a:ext>
            </a:extLst>
          </p:cNvPr>
          <p:cNvGrpSpPr/>
          <p:nvPr/>
        </p:nvGrpSpPr>
        <p:grpSpPr>
          <a:xfrm>
            <a:off x="3406148" y="851097"/>
            <a:ext cx="3353880" cy="250031"/>
            <a:chOff x="762000" y="1733550"/>
            <a:chExt cx="4471787" cy="333375"/>
          </a:xfrm>
        </p:grpSpPr>
        <p:sp>
          <p:nvSpPr>
            <p:cNvPr id="9" name="Google Shape;88;p13">
              <a:extLst>
                <a:ext uri="{FF2B5EF4-FFF2-40B4-BE49-F238E27FC236}">
                  <a16:creationId xmlns:a16="http://schemas.microsoft.com/office/drawing/2014/main" id="{34117475-293E-5B7B-B7A2-6D5F10FD578F}"/>
                </a:ext>
              </a:extLst>
            </p:cNvPr>
            <p:cNvSpPr/>
            <p:nvPr/>
          </p:nvSpPr>
          <p:spPr>
            <a:xfrm>
              <a:off x="762000" y="1733550"/>
              <a:ext cx="57150" cy="3333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 rtl="0"/>
              <a:endParaRPr sz="135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89;p13">
              <a:extLst>
                <a:ext uri="{FF2B5EF4-FFF2-40B4-BE49-F238E27FC236}">
                  <a16:creationId xmlns:a16="http://schemas.microsoft.com/office/drawing/2014/main" id="{C26CCA26-FB83-DA44-839C-CCD2C48F43C1}"/>
                </a:ext>
              </a:extLst>
            </p:cNvPr>
            <p:cNvSpPr txBox="1"/>
            <p:nvPr/>
          </p:nvSpPr>
          <p:spPr>
            <a:xfrm>
              <a:off x="908048" y="1738539"/>
              <a:ext cx="4325739" cy="328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CA" sz="1600">
                  <a:solidFill>
                    <a:schemeClr val="accent6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Capability &amp; Skill Uplift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B966E15-822B-E68E-AF5C-37377C322B9E}"/>
              </a:ext>
            </a:extLst>
          </p:cNvPr>
          <p:cNvSpPr txBox="1"/>
          <p:nvPr/>
        </p:nvSpPr>
        <p:spPr>
          <a:xfrm>
            <a:off x="3319060" y="1233837"/>
            <a:ext cx="27116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Conducted </a:t>
            </a:r>
            <a:r>
              <a:rPr lang="en-CA" sz="12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real‑world adversarial simulation labs</a:t>
            </a: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sharpen offensive and defensive thinking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Improved </a:t>
            </a:r>
            <a:r>
              <a:rPr lang="en-CA" sz="12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severity calibration discipline,</a:t>
            </a: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aligning technical issues with actual business impact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Established a </a:t>
            </a:r>
            <a:r>
              <a:rPr lang="en-CA" sz="12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peer‑review + secondary validation layer </a:t>
            </a: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ensure consistency and technical precision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Launched </a:t>
            </a:r>
            <a:r>
              <a:rPr lang="en-CA" sz="12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micro‑learning modules </a:t>
            </a: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APIs, cloud security, identity attacks, and platform‑specific risks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Introduced </a:t>
            </a:r>
            <a:r>
              <a:rPr lang="en-CA" sz="1200" b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cross‑platform rotations</a:t>
            </a:r>
            <a:r>
              <a:rPr lang="en-CA" sz="120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enabling testers to build broader product expertise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09036AE-10AA-8EC3-1E96-912D6D64354B}"/>
              </a:ext>
            </a:extLst>
          </p:cNvPr>
          <p:cNvGrpSpPr/>
          <p:nvPr/>
        </p:nvGrpSpPr>
        <p:grpSpPr>
          <a:xfrm>
            <a:off x="6122399" y="851097"/>
            <a:ext cx="3353880" cy="250031"/>
            <a:chOff x="762000" y="1733550"/>
            <a:chExt cx="4471787" cy="333375"/>
          </a:xfrm>
        </p:grpSpPr>
        <p:sp>
          <p:nvSpPr>
            <p:cNvPr id="13" name="Google Shape;88;p13">
              <a:extLst>
                <a:ext uri="{FF2B5EF4-FFF2-40B4-BE49-F238E27FC236}">
                  <a16:creationId xmlns:a16="http://schemas.microsoft.com/office/drawing/2014/main" id="{56F74B4A-4455-1260-B940-914BC3CF37D2}"/>
                </a:ext>
              </a:extLst>
            </p:cNvPr>
            <p:cNvSpPr/>
            <p:nvPr/>
          </p:nvSpPr>
          <p:spPr>
            <a:xfrm>
              <a:off x="762000" y="1733550"/>
              <a:ext cx="57150" cy="3333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 rtl="0"/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89;p13">
              <a:extLst>
                <a:ext uri="{FF2B5EF4-FFF2-40B4-BE49-F238E27FC236}">
                  <a16:creationId xmlns:a16="http://schemas.microsoft.com/office/drawing/2014/main" id="{9C2E469B-B561-352E-9B67-14F0977B3FD3}"/>
                </a:ext>
              </a:extLst>
            </p:cNvPr>
            <p:cNvSpPr txBox="1"/>
            <p:nvPr/>
          </p:nvSpPr>
          <p:spPr>
            <a:xfrm>
              <a:off x="908048" y="1738539"/>
              <a:ext cx="4325739" cy="328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CA" sz="160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Quality Driven Culture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2EB17AD-A4FB-20BB-E601-DC2A35B766C4}"/>
              </a:ext>
            </a:extLst>
          </p:cNvPr>
          <p:cNvSpPr txBox="1"/>
          <p:nvPr/>
        </p:nvSpPr>
        <p:spPr>
          <a:xfrm>
            <a:off x="6013539" y="1233837"/>
            <a:ext cx="27116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Adopted </a:t>
            </a:r>
            <a:r>
              <a:rPr lang="en-CA" sz="12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standardized checklists </a:t>
            </a: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eliminate tester‑to‑tester variability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Strengthened </a:t>
            </a:r>
            <a:r>
              <a:rPr lang="en-CA" sz="12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collaborative review cycles</a:t>
            </a: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reducing rework and improving analytical depth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Implemented root‑cause analysis practices to help testers understand systemic issues behind vulnerabilities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Added </a:t>
            </a:r>
            <a:r>
              <a:rPr lang="en-CA" sz="12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weekly technical huddles</a:t>
            </a: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share patterns, lessons learned, and emerging threat insights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Embedded </a:t>
            </a:r>
            <a:r>
              <a:rPr lang="en-CA" sz="12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continuous improvement loops</a:t>
            </a:r>
            <a:r>
              <a:rPr lang="en-CA" sz="12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feeding assessment learnings back into SOPs and frameworks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A80385-F078-9522-350B-589AD0E96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011" y="172770"/>
            <a:ext cx="1639506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DDEE-0519-71ED-8DB1-A88AADBB9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08416"/>
            <a:ext cx="8500109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 sz="2000"/>
              <a:t>VAPT Governance &amp; KPI Dashboard</a:t>
            </a:r>
            <a:endParaRPr lang="en-US" sz="2000">
              <a:ea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1D003-F56C-8557-143C-224AE9595E73}"/>
              </a:ext>
            </a:extLst>
          </p:cNvPr>
          <p:cNvSpPr txBox="1"/>
          <p:nvPr/>
        </p:nvSpPr>
        <p:spPr>
          <a:xfrm>
            <a:off x="321945" y="615381"/>
            <a:ext cx="4147579" cy="394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Power BI dashboard for real-time monitoring of VAPT performance and risk posture</a:t>
            </a:r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Consolidates key </a:t>
            </a: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and operational KPIs</a:t>
            </a: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a unified view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</a:t>
            </a: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SLA compliance, reporting efficiency, and remediation progress</a:t>
            </a: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platform-level insights into: </a:t>
            </a:r>
          </a:p>
          <a:p>
            <a:pPr marL="4064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Assessment duration trends </a:t>
            </a:r>
          </a:p>
          <a:p>
            <a:pPr marL="4064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Vulnerability distribution by severity </a:t>
            </a:r>
          </a:p>
          <a:p>
            <a:pPr marL="406400" lvl="1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delay patterns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visibility of the assessment lifecycle</a:t>
            </a:r>
            <a:b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(Start Date → End Date → Duration → Test Type)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lang="en-US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 making, remediation prioritization, and governance oversight</a:t>
            </a:r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A958675-CFE8-CE2B-BE3E-58770A07E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66" y="768107"/>
            <a:ext cx="3410704" cy="180364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E0BD725-5ACF-274F-63D6-A45E69C4B6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" t="857" r="430"/>
          <a:stretch>
            <a:fillRect/>
          </a:stretch>
        </p:blipFill>
        <p:spPr bwMode="auto">
          <a:xfrm>
            <a:off x="5071110" y="2833370"/>
            <a:ext cx="3223260" cy="1540652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E94970-6974-B242-B706-25C6FAAC6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011" y="172770"/>
            <a:ext cx="1639506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82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E809-0238-1242-6F4A-A85D12D5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CFE6-0089-37E1-DAF6-B0F8785C4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10" y="324981"/>
            <a:ext cx="8500109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CA" sz="2000"/>
              <a:t>Operational Efficiency Through Simplification</a:t>
            </a:r>
            <a:endParaRPr lang="en-CA" sz="2000">
              <a:ea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6FB6D-2468-D788-11E3-350F88CA5C9B}"/>
              </a:ext>
            </a:extLst>
          </p:cNvPr>
          <p:cNvSpPr txBox="1"/>
          <p:nvPr/>
        </p:nvSpPr>
        <p:spPr>
          <a:xfrm>
            <a:off x="321946" y="754359"/>
            <a:ext cx="396702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Unified </a:t>
            </a:r>
            <a:r>
              <a:rPr lang="en-CA" sz="1400" b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Tracking </a:t>
            </a:r>
          </a:p>
          <a:p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single, consolidated system that brings all testing, findings, and remediation workflows into one governed platform.</a:t>
            </a:r>
          </a:p>
          <a:p>
            <a:endParaRPr lang="en-CA" sz="1200">
              <a:solidFill>
                <a:srgbClr val="2622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Jira Ecosystem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Centralized Workflows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Unified Data 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Eliminated Redundancy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Audit‑Ready History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0FF47-7F90-2718-F0F7-ECF7EC374F0E}"/>
              </a:ext>
            </a:extLst>
          </p:cNvPr>
          <p:cNvSpPr txBox="1"/>
          <p:nvPr/>
        </p:nvSpPr>
        <p:spPr>
          <a:xfrm>
            <a:off x="321946" y="2647949"/>
            <a:ext cx="396702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Standardized workflow</a:t>
            </a:r>
          </a:p>
          <a:p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consistent, repeatable VAPT lifecycle with structured controls, ensuring uniform execution across all engagements.</a:t>
            </a:r>
          </a:p>
          <a:p>
            <a:endParaRPr lang="en-CA" sz="1200">
              <a:solidFill>
                <a:srgbClr val="2622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Defined Lifecycle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 Issue Types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Role‑Based Ownership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Structured Transitions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Mandatory Checkpoints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F8E2D7-2D44-DC91-FAA5-F1497DD62A59}"/>
              </a:ext>
            </a:extLst>
          </p:cNvPr>
          <p:cNvSpPr txBox="1"/>
          <p:nvPr/>
        </p:nvSpPr>
        <p:spPr>
          <a:xfrm>
            <a:off x="4571999" y="754359"/>
            <a:ext cx="396702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Ownership</a:t>
            </a:r>
            <a:endParaRPr lang="en-CA" sz="1200" b="1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 responsibility and governance for every task and vulnerability, ensuring traceability and controlled closure.</a:t>
            </a:r>
          </a:p>
          <a:p>
            <a:endParaRPr lang="en-CA" sz="1200">
              <a:solidFill>
                <a:srgbClr val="2622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 Task 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Reviewer Assignments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Approval Gates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Linked Remediation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Traceable Actions</a:t>
            </a:r>
          </a:p>
          <a:p>
            <a:endParaRPr lang="en-CA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C6302-F06C-21D7-937F-111AF0E1809E}"/>
              </a:ext>
            </a:extLst>
          </p:cNvPr>
          <p:cNvSpPr txBox="1"/>
          <p:nvPr/>
        </p:nvSpPr>
        <p:spPr>
          <a:xfrm>
            <a:off x="4571999" y="2647949"/>
            <a:ext cx="396702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 time visibility</a:t>
            </a:r>
          </a:p>
          <a:p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insights and automated monitoring that provide stakeholders with immediate awareness of progress and risks.</a:t>
            </a:r>
          </a:p>
          <a:p>
            <a:endParaRPr lang="en-CA" sz="1200">
              <a:solidFill>
                <a:srgbClr val="2622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Dashboards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SLA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Automated Alerts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Escalation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Stakeholder Insights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BFFAEC-CD5A-DBF3-598E-6A45F54A7500}"/>
              </a:ext>
            </a:extLst>
          </p:cNvPr>
          <p:cNvCxnSpPr/>
          <p:nvPr/>
        </p:nvCxnSpPr>
        <p:spPr>
          <a:xfrm>
            <a:off x="4288972" y="754359"/>
            <a:ext cx="0" cy="367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9232D8-71DC-0900-5E9F-C4DCBA82AF4B}"/>
              </a:ext>
            </a:extLst>
          </p:cNvPr>
          <p:cNvCxnSpPr>
            <a:cxnSpLocks/>
          </p:cNvCxnSpPr>
          <p:nvPr/>
        </p:nvCxnSpPr>
        <p:spPr>
          <a:xfrm>
            <a:off x="340587" y="2604408"/>
            <a:ext cx="84814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oogle Shape;109;p13" descr="image.png">
            <a:extLst>
              <a:ext uri="{FF2B5EF4-FFF2-40B4-BE49-F238E27FC236}">
                <a16:creationId xmlns:a16="http://schemas.microsoft.com/office/drawing/2014/main" id="{653A9939-5557-5718-4646-31B4D00560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7499" y="1418124"/>
            <a:ext cx="613585" cy="20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11;p13" descr="image.png">
            <a:extLst>
              <a:ext uri="{FF2B5EF4-FFF2-40B4-BE49-F238E27FC236}">
                <a16:creationId xmlns:a16="http://schemas.microsoft.com/office/drawing/2014/main" id="{18A2E0D5-5B59-3101-295C-878E3B9612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3865" y="1652249"/>
            <a:ext cx="597933" cy="185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13;p13" descr="image.png">
            <a:extLst>
              <a:ext uri="{FF2B5EF4-FFF2-40B4-BE49-F238E27FC236}">
                <a16:creationId xmlns:a16="http://schemas.microsoft.com/office/drawing/2014/main" id="{BF30BEE5-2E33-9908-A85F-B9B6CC0142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3865" y="1876043"/>
            <a:ext cx="607219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15;p13" descr="image.png">
            <a:extLst>
              <a:ext uri="{FF2B5EF4-FFF2-40B4-BE49-F238E27FC236}">
                <a16:creationId xmlns:a16="http://schemas.microsoft.com/office/drawing/2014/main" id="{1D7B3493-7D62-15DD-ECD7-2EAF56137D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1009" y="2090658"/>
            <a:ext cx="600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17;p13" descr="image.png">
            <a:extLst>
              <a:ext uri="{FF2B5EF4-FFF2-40B4-BE49-F238E27FC236}">
                <a16:creationId xmlns:a16="http://schemas.microsoft.com/office/drawing/2014/main" id="{8BD23B0F-864D-6EDF-2482-3FA67047994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48930" y="2297947"/>
            <a:ext cx="582868" cy="210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69C7C0-FDC6-DA0A-2953-0EA4730DDF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193" y="1636978"/>
            <a:ext cx="589164" cy="5891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87D7DE2-FA8D-A658-D4FC-9359BE727A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9238" y="3565346"/>
            <a:ext cx="768350" cy="7683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E88F4EE-8C0D-8E27-DD0B-3E9D156149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8193" y="3565346"/>
            <a:ext cx="700083" cy="700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154D21-27E8-8554-995A-F9F1E33C73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9011" y="172770"/>
            <a:ext cx="1639506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9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54DC-F772-3D51-A249-AEC76184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760F08-9088-C8E6-5CBB-263265B1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291851"/>
            <a:ext cx="8500109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CA" sz="2000"/>
              <a:t>Unified &amp; Scalable Delivery Framework</a:t>
            </a:r>
            <a:endParaRPr lang="en-CA" sz="2000">
              <a:ea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03A8A6-4409-E21E-8C7B-092B939B8C97}"/>
              </a:ext>
            </a:extLst>
          </p:cNvPr>
          <p:cNvSpPr txBox="1"/>
          <p:nvPr/>
        </p:nvSpPr>
        <p:spPr>
          <a:xfrm>
            <a:off x="321944" y="693801"/>
            <a:ext cx="2660739" cy="374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14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End‑to‑End </a:t>
            </a:r>
          </a:p>
          <a:p>
            <a:pPr algn="ctr">
              <a:buNone/>
            </a:pPr>
            <a:r>
              <a:rPr lang="en-CA" sz="14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Standardization</a:t>
            </a:r>
            <a:endParaRPr lang="en-CA" sz="1200">
              <a:solidFill>
                <a:srgbClr val="26221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spcBef>
                <a:spcPts val="3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Developed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comprehensive SOPs 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covering Scoping → Testing → Reporting → Retesting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Ensured every engagement follows a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repeatable, predictable process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regardless of team size or platform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Reduced onboarding time with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role‑specific playbooks and quick‑start 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guides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Standardized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terminology, workflows, and expectations across all testers</a:t>
            </a:r>
          </a:p>
          <a:p>
            <a:pPr marL="171450" indent="-171450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Enabled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consistent execution 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even during high‑volume assessment cycles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55E88D-24B6-D8D8-864E-AA7470A73405}"/>
              </a:ext>
            </a:extLst>
          </p:cNvPr>
          <p:cNvSpPr txBox="1"/>
          <p:nvPr/>
        </p:nvSpPr>
        <p:spPr>
          <a:xfrm>
            <a:off x="2982684" y="693801"/>
            <a:ext cx="2917373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450"/>
              </a:spcAft>
              <a:buNone/>
            </a:pPr>
            <a:r>
              <a:rPr lang="en-CA" sz="14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Uniform Reporting &amp; Quality Controls</a:t>
            </a:r>
            <a:endParaRPr lang="en-CA" sz="1200">
              <a:solidFill>
                <a:srgbClr val="26221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spcBef>
                <a:spcPts val="3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Standardized templates with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embedded validation rules 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structure, severity, and evidence formatting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Reduced review cycles by ensuring reports are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client‑ready from the first draft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Improved readability through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structured narratives and aligned severity logic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Added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pre‑delivery governance checks 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ensure alignment with client expectations</a:t>
            </a:r>
          </a:p>
          <a:p>
            <a:pPr marL="171450" indent="-171450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Strengthened evidence requirements to ensure clear,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defensible, audit‑ready findings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700C31-3B6E-F87F-0453-1259F86224D6}"/>
              </a:ext>
            </a:extLst>
          </p:cNvPr>
          <p:cNvSpPr txBox="1"/>
          <p:nvPr/>
        </p:nvSpPr>
        <p:spPr>
          <a:xfrm>
            <a:off x="6019799" y="693801"/>
            <a:ext cx="2802255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450"/>
              </a:spcAft>
              <a:buNone/>
            </a:pPr>
            <a:r>
              <a:rPr lang="en-CA" sz="14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      Scalable, High‑Quality Delivery Engine</a:t>
            </a:r>
          </a:p>
          <a:p>
            <a:pPr marL="171450" indent="-171450">
              <a:spcBef>
                <a:spcPts val="3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Introduced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regular technical + governance review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cadences to maintain delivery momentum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Enabled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parallel assessments 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without compromising depth or accuracy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capacity planning mechanisms 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forecast workload and allocate resources efficiently</a:t>
            </a:r>
          </a:p>
          <a:p>
            <a:pPr marL="171450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Strengthened QA with 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multi‑layer validation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ensuring completeness and reproducibility</a:t>
            </a:r>
          </a:p>
          <a:p>
            <a:pPr marL="171450" indent="-171450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Built a model that supports</a:t>
            </a:r>
            <a:r>
              <a:rPr lang="en-CA" sz="1200" b="1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increasing assessment volume</a:t>
            </a:r>
            <a:r>
              <a:rPr lang="en-CA" sz="1200">
                <a:solidFill>
                  <a:srgbClr val="26221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while maintaining consistent quality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D821051D-E104-60F0-DEB1-98F6CF82C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43" y="693801"/>
            <a:ext cx="493029" cy="49302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1669172-93A1-D05B-F4D0-C235AD64A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052" y="693801"/>
            <a:ext cx="515257" cy="51525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46273E49-8AD6-364B-E231-3BBC2D44A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057" y="718880"/>
            <a:ext cx="467950" cy="467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F9122-F24B-A0C6-84DE-7F60B0FA8B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011" y="172770"/>
            <a:ext cx="1639506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2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137" y="681101"/>
            <a:ext cx="8173720" cy="0"/>
          </a:xfrm>
          <a:custGeom>
            <a:avLst/>
            <a:gdLst/>
            <a:ahLst/>
            <a:cxnLst/>
            <a:rect l="l" t="t" r="r" b="b"/>
            <a:pathLst>
              <a:path w="8173720">
                <a:moveTo>
                  <a:pt x="0" y="0"/>
                </a:moveTo>
                <a:lnTo>
                  <a:pt x="8173529" y="0"/>
                </a:lnTo>
              </a:path>
            </a:pathLst>
          </a:custGeom>
          <a:ln w="12700">
            <a:solidFill>
              <a:srgbClr val="F089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29880" y="4773658"/>
            <a:ext cx="18224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35"/>
              </a:lnSpc>
            </a:pPr>
            <a:r>
              <a:rPr sz="1050" spc="-5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marL="114300">
              <a:lnSpc>
                <a:spcPts val="1080"/>
              </a:lnSpc>
            </a:pPr>
            <a:r>
              <a:rPr sz="1050" spc="-6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-2"/>
            <a:ext cx="9144000" cy="5143500"/>
            <a:chOff x="0" y="-2"/>
            <a:chExt cx="9144000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2019299" cy="5143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" y="-1"/>
              <a:ext cx="8658225" cy="5143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885824"/>
              <a:ext cx="2409825" cy="3371850"/>
            </a:xfrm>
            <a:custGeom>
              <a:avLst/>
              <a:gdLst/>
              <a:ahLst/>
              <a:cxnLst/>
              <a:rect l="l" t="t" r="r" b="b"/>
              <a:pathLst>
                <a:path w="2409825" h="3371850">
                  <a:moveTo>
                    <a:pt x="727100" y="0"/>
                  </a:moveTo>
                  <a:lnTo>
                    <a:pt x="0" y="728454"/>
                  </a:lnTo>
                  <a:lnTo>
                    <a:pt x="0" y="2643395"/>
                  </a:lnTo>
                  <a:lnTo>
                    <a:pt x="727100" y="3371850"/>
                  </a:lnTo>
                  <a:lnTo>
                    <a:pt x="2409825" y="1685925"/>
                  </a:lnTo>
                  <a:lnTo>
                    <a:pt x="727100" y="0"/>
                  </a:lnTo>
                  <a:close/>
                </a:path>
              </a:pathLst>
            </a:custGeom>
            <a:solidFill>
              <a:srgbClr val="BEE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2575" y="2619374"/>
              <a:ext cx="1866900" cy="1876425"/>
            </a:xfrm>
            <a:custGeom>
              <a:avLst/>
              <a:gdLst/>
              <a:ahLst/>
              <a:cxnLst/>
              <a:rect l="l" t="t" r="r" b="b"/>
              <a:pathLst>
                <a:path w="1866900" h="1876425">
                  <a:moveTo>
                    <a:pt x="933450" y="0"/>
                  </a:moveTo>
                  <a:lnTo>
                    <a:pt x="0" y="938276"/>
                  </a:lnTo>
                  <a:lnTo>
                    <a:pt x="933450" y="1876425"/>
                  </a:lnTo>
                  <a:lnTo>
                    <a:pt x="1866900" y="938276"/>
                  </a:lnTo>
                  <a:lnTo>
                    <a:pt x="93345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33600" y="752474"/>
              <a:ext cx="2752725" cy="2743200"/>
            </a:xfrm>
            <a:custGeom>
              <a:avLst/>
              <a:gdLst/>
              <a:ahLst/>
              <a:cxnLst/>
              <a:rect l="l" t="t" r="r" b="b"/>
              <a:pathLst>
                <a:path w="2752725" h="2743200">
                  <a:moveTo>
                    <a:pt x="1376426" y="0"/>
                  </a:moveTo>
                  <a:lnTo>
                    <a:pt x="0" y="1371600"/>
                  </a:lnTo>
                  <a:lnTo>
                    <a:pt x="1376426" y="2743200"/>
                  </a:lnTo>
                  <a:lnTo>
                    <a:pt x="2752725" y="1371600"/>
                  </a:lnTo>
                  <a:lnTo>
                    <a:pt x="137642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4159" y="1980628"/>
            <a:ext cx="1396365" cy="1126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3810" algn="ctr">
              <a:lnSpc>
                <a:spcPct val="100400"/>
              </a:lnSpc>
              <a:spcBef>
                <a:spcPts val="90"/>
              </a:spcBef>
            </a:pPr>
            <a:r>
              <a:rPr sz="2400" b="1">
                <a:solidFill>
                  <a:srgbClr val="001F5F"/>
                </a:solidFill>
                <a:latin typeface="Times New Roman"/>
                <a:cs typeface="Times New Roman"/>
              </a:rPr>
              <a:t>Time</a:t>
            </a:r>
            <a:r>
              <a:rPr sz="2400" b="1" spc="95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25">
                <a:solidFill>
                  <a:srgbClr val="001F5F"/>
                </a:solidFill>
                <a:latin typeface="Times New Roman"/>
                <a:cs typeface="Times New Roman"/>
              </a:rPr>
              <a:t>To </a:t>
            </a:r>
            <a:r>
              <a:rPr sz="2400" b="1" spc="-55">
                <a:solidFill>
                  <a:srgbClr val="001F5F"/>
                </a:solidFill>
                <a:latin typeface="Times New Roman"/>
                <a:cs typeface="Times New Roman"/>
              </a:rPr>
              <a:t>Transform </a:t>
            </a:r>
            <a:r>
              <a:rPr sz="2400" b="1">
                <a:solidFill>
                  <a:srgbClr val="001F5F"/>
                </a:solidFill>
                <a:latin typeface="Times New Roman"/>
                <a:cs typeface="Times New Roman"/>
              </a:rPr>
              <a:t>Is</a:t>
            </a:r>
            <a:r>
              <a:rPr sz="2400" b="1" spc="5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0">
                <a:solidFill>
                  <a:srgbClr val="001F5F"/>
                </a:solidFill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3983" y="2665348"/>
            <a:ext cx="1179195" cy="1128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600" b="1" spc="-50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3600" b="1" spc="-25">
                <a:solidFill>
                  <a:srgbClr val="FFFFFF"/>
                </a:solidFill>
                <a:latin typeface="Times New Roman"/>
                <a:cs typeface="Times New Roman"/>
              </a:rPr>
              <a:t>NOW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34004" y="1808416"/>
            <a:ext cx="135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Times New Roman"/>
                <a:cs typeface="Times New Roman"/>
              </a:rPr>
              <a:t>Thank</a:t>
            </a:r>
            <a:r>
              <a:rPr sz="24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85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46033" y="4983479"/>
            <a:ext cx="933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7E4A-DDDA-125B-0F07-5A45AC98C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24981"/>
            <a:ext cx="8500109" cy="707886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>
                <a:ea typeface="Calibri"/>
              </a:rPr>
              <a:t>AI-Driven Report Quality Assurance</a:t>
            </a:r>
            <a:endParaRPr lang="en-US" sz="2000" b="0">
              <a:solidFill>
                <a:srgbClr val="000000"/>
              </a:solidFill>
              <a:ea typeface="Calibri"/>
            </a:endParaRPr>
          </a:p>
          <a:p>
            <a:endParaRPr lang="en-US">
              <a:ea typeface="Calibri"/>
            </a:endParaRPr>
          </a:p>
        </p:txBody>
      </p:sp>
      <p:grpSp>
        <p:nvGrpSpPr>
          <p:cNvPr id="26" name="Group 0">
            <a:extLst>
              <a:ext uri="{FF2B5EF4-FFF2-40B4-BE49-F238E27FC236}">
                <a16:creationId xmlns:a16="http://schemas.microsoft.com/office/drawing/2014/main" id="{D45D707F-4BF4-E182-5DC9-DD24471B3E48}"/>
              </a:ext>
            </a:extLst>
          </p:cNvPr>
          <p:cNvGrpSpPr/>
          <p:nvPr/>
        </p:nvGrpSpPr>
        <p:grpSpPr>
          <a:xfrm>
            <a:off x="495403" y="884857"/>
            <a:ext cx="7986713" cy="3631883"/>
            <a:chOff x="1215" y="3045"/>
            <a:chExt cx="16770" cy="7626"/>
          </a:xfrm>
        </p:grpSpPr>
        <p:pic>
          <p:nvPicPr>
            <p:cNvPr id="8" name="Google Shape;85;p13" descr="image.png">
              <a:extLst>
                <a:ext uri="{FF2B5EF4-FFF2-40B4-BE49-F238E27FC236}">
                  <a16:creationId xmlns:a16="http://schemas.microsoft.com/office/drawing/2014/main" id="{746CB4C8-4913-D5DA-F8E5-99650D7A92F3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215" y="3045"/>
              <a:ext cx="7935" cy="7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86;p13" descr="image.png">
              <a:extLst>
                <a:ext uri="{FF2B5EF4-FFF2-40B4-BE49-F238E27FC236}">
                  <a16:creationId xmlns:a16="http://schemas.microsoft.com/office/drawing/2014/main" id="{7575A91C-EAE6-1038-97BB-068E638E29F6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050" y="3045"/>
              <a:ext cx="7935" cy="7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92;p13">
              <a:extLst>
                <a:ext uri="{FF2B5EF4-FFF2-40B4-BE49-F238E27FC236}">
                  <a16:creationId xmlns:a16="http://schemas.microsoft.com/office/drawing/2014/main" id="{519BD475-79B2-0774-CD9F-381E1A70E57D}"/>
                </a:ext>
              </a:extLst>
            </p:cNvPr>
            <p:cNvSpPr txBox="1"/>
            <p:nvPr/>
          </p:nvSpPr>
          <p:spPr>
            <a:xfrm>
              <a:off x="1980" y="3585"/>
              <a:ext cx="6961" cy="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3" b="0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Inter SemiBold" panose="02000503000000020004"/>
                </a:rPr>
                <a:t>Advanced Detection Engine</a:t>
              </a:r>
            </a:p>
          </p:txBody>
        </p:sp>
        <p:sp>
          <p:nvSpPr>
            <p:cNvPr id="11" name="Google Shape;93;p13">
              <a:extLst>
                <a:ext uri="{FF2B5EF4-FFF2-40B4-BE49-F238E27FC236}">
                  <a16:creationId xmlns:a16="http://schemas.microsoft.com/office/drawing/2014/main" id="{C1973E6E-9398-EC20-1EAB-FB0328EBDD66}"/>
                </a:ext>
              </a:extLst>
            </p:cNvPr>
            <p:cNvSpPr/>
            <p:nvPr/>
          </p:nvSpPr>
          <p:spPr>
            <a:xfrm>
              <a:off x="1755" y="3585"/>
              <a:ext cx="75" cy="46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94;p13">
              <a:extLst>
                <a:ext uri="{FF2B5EF4-FFF2-40B4-BE49-F238E27FC236}">
                  <a16:creationId xmlns:a16="http://schemas.microsoft.com/office/drawing/2014/main" id="{87DA596C-447C-0936-160D-4A9AA4EAD53D}"/>
                </a:ext>
              </a:extLst>
            </p:cNvPr>
            <p:cNvSpPr txBox="1"/>
            <p:nvPr/>
          </p:nvSpPr>
          <p:spPr>
            <a:xfrm>
              <a:off x="10815" y="3585"/>
              <a:ext cx="6961" cy="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63" b="0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Inter SemiBold" panose="02000503000000020004"/>
                </a:rPr>
                <a:t>Human-in-the-Loop Synergies</a:t>
              </a:r>
            </a:p>
          </p:txBody>
        </p:sp>
        <p:sp>
          <p:nvSpPr>
            <p:cNvPr id="13" name="Google Shape;95;p13">
              <a:extLst>
                <a:ext uri="{FF2B5EF4-FFF2-40B4-BE49-F238E27FC236}">
                  <a16:creationId xmlns:a16="http://schemas.microsoft.com/office/drawing/2014/main" id="{4C81E0BD-B2AE-E654-A5C9-3D0394AA0F1E}"/>
                </a:ext>
              </a:extLst>
            </p:cNvPr>
            <p:cNvSpPr/>
            <p:nvPr/>
          </p:nvSpPr>
          <p:spPr>
            <a:xfrm>
              <a:off x="10590" y="3585"/>
              <a:ext cx="75" cy="46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99;p13">
              <a:extLst>
                <a:ext uri="{FF2B5EF4-FFF2-40B4-BE49-F238E27FC236}">
                  <a16:creationId xmlns:a16="http://schemas.microsoft.com/office/drawing/2014/main" id="{48D1105A-0051-F756-B497-3C6FF560A5B5}"/>
                </a:ext>
              </a:extLst>
            </p:cNvPr>
            <p:cNvSpPr txBox="1"/>
            <p:nvPr/>
          </p:nvSpPr>
          <p:spPr>
            <a:xfrm>
              <a:off x="1755" y="4425"/>
              <a:ext cx="6855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Severity Calibration</a:t>
              </a:r>
            </a:p>
          </p:txBody>
        </p:sp>
        <p:sp>
          <p:nvSpPr>
            <p:cNvPr id="15" name="Google Shape;100;p13">
              <a:extLst>
                <a:ext uri="{FF2B5EF4-FFF2-40B4-BE49-F238E27FC236}">
                  <a16:creationId xmlns:a16="http://schemas.microsoft.com/office/drawing/2014/main" id="{C0AFF42E-894D-3E81-81D1-3F6DD7B6E8CE}"/>
                </a:ext>
              </a:extLst>
            </p:cNvPr>
            <p:cNvSpPr txBox="1"/>
            <p:nvPr/>
          </p:nvSpPr>
          <p:spPr>
            <a:xfrm>
              <a:off x="1755" y="4800"/>
              <a:ext cx="6855" cy="1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3" b="0" i="0" u="none" strike="noStrike" cap="none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Detects inconsistencies between technical findings and assigned risk levels to ensure grading accuracy.</a:t>
              </a:r>
            </a:p>
          </p:txBody>
        </p:sp>
        <p:sp>
          <p:nvSpPr>
            <p:cNvPr id="16" name="Google Shape;101;p13">
              <a:extLst>
                <a:ext uri="{FF2B5EF4-FFF2-40B4-BE49-F238E27FC236}">
                  <a16:creationId xmlns:a16="http://schemas.microsoft.com/office/drawing/2014/main" id="{A59B48F6-B0B3-68DE-157D-8C8A0488AB9A}"/>
                </a:ext>
              </a:extLst>
            </p:cNvPr>
            <p:cNvSpPr txBox="1"/>
            <p:nvPr/>
          </p:nvSpPr>
          <p:spPr>
            <a:xfrm>
              <a:off x="1755" y="6039"/>
              <a:ext cx="6855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Evidentiary Integrity</a:t>
              </a:r>
            </a:p>
          </p:txBody>
        </p:sp>
        <p:sp>
          <p:nvSpPr>
            <p:cNvPr id="17" name="Google Shape;102;p13">
              <a:extLst>
                <a:ext uri="{FF2B5EF4-FFF2-40B4-BE49-F238E27FC236}">
                  <a16:creationId xmlns:a16="http://schemas.microsoft.com/office/drawing/2014/main" id="{DF135A76-204D-62CB-0512-B6F3862A695F}"/>
                </a:ext>
              </a:extLst>
            </p:cNvPr>
            <p:cNvSpPr txBox="1"/>
            <p:nvPr/>
          </p:nvSpPr>
          <p:spPr>
            <a:xfrm>
              <a:off x="1755" y="6414"/>
              <a:ext cx="6855" cy="1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3" b="0" i="0" u="none" strike="noStrike" cap="none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Identifies instances of missing or weak evidence, ensuring all claims are supported by technical artifacts.</a:t>
              </a:r>
            </a:p>
          </p:txBody>
        </p:sp>
        <p:sp>
          <p:nvSpPr>
            <p:cNvPr id="18" name="Google Shape;103;p13">
              <a:extLst>
                <a:ext uri="{FF2B5EF4-FFF2-40B4-BE49-F238E27FC236}">
                  <a16:creationId xmlns:a16="http://schemas.microsoft.com/office/drawing/2014/main" id="{D71668A8-AB31-43D5-288A-BF518778B9AB}"/>
                </a:ext>
              </a:extLst>
            </p:cNvPr>
            <p:cNvSpPr txBox="1"/>
            <p:nvPr/>
          </p:nvSpPr>
          <p:spPr>
            <a:xfrm>
              <a:off x="1755" y="8085"/>
              <a:ext cx="6855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Redundancy Analysis</a:t>
              </a:r>
            </a:p>
          </p:txBody>
        </p:sp>
        <p:sp>
          <p:nvSpPr>
            <p:cNvPr id="19" name="Google Shape;104;p13">
              <a:extLst>
                <a:ext uri="{FF2B5EF4-FFF2-40B4-BE49-F238E27FC236}">
                  <a16:creationId xmlns:a16="http://schemas.microsoft.com/office/drawing/2014/main" id="{7FCB52CA-C19C-3D80-96BF-7948FA347818}"/>
                </a:ext>
              </a:extLst>
            </p:cNvPr>
            <p:cNvSpPr txBox="1"/>
            <p:nvPr/>
          </p:nvSpPr>
          <p:spPr>
            <a:xfrm>
              <a:off x="1755" y="8460"/>
              <a:ext cx="6855" cy="1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3" b="0" i="0" u="none" strike="noStrike" cap="none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Automated detection of duplicate findings to streamline report narratives and improve client readability.</a:t>
              </a:r>
            </a:p>
          </p:txBody>
        </p:sp>
        <p:sp>
          <p:nvSpPr>
            <p:cNvPr id="20" name="Google Shape;105;p13">
              <a:extLst>
                <a:ext uri="{FF2B5EF4-FFF2-40B4-BE49-F238E27FC236}">
                  <a16:creationId xmlns:a16="http://schemas.microsoft.com/office/drawing/2014/main" id="{C05AF837-1A7A-F5EB-994D-3A7E48780777}"/>
                </a:ext>
              </a:extLst>
            </p:cNvPr>
            <p:cNvSpPr txBox="1"/>
            <p:nvPr/>
          </p:nvSpPr>
          <p:spPr>
            <a:xfrm>
              <a:off x="10590" y="4425"/>
              <a:ext cx="6855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Pre-Delivery Validation</a:t>
              </a:r>
            </a:p>
          </p:txBody>
        </p:sp>
        <p:sp>
          <p:nvSpPr>
            <p:cNvPr id="21" name="Google Shape;106;p13">
              <a:extLst>
                <a:ext uri="{FF2B5EF4-FFF2-40B4-BE49-F238E27FC236}">
                  <a16:creationId xmlns:a16="http://schemas.microsoft.com/office/drawing/2014/main" id="{7B8192DB-EF3C-5728-4ECC-56D95D6BFC3B}"/>
                </a:ext>
              </a:extLst>
            </p:cNvPr>
            <p:cNvSpPr txBox="1"/>
            <p:nvPr/>
          </p:nvSpPr>
          <p:spPr>
            <a:xfrm>
              <a:off x="10590" y="4800"/>
              <a:ext cx="6855" cy="1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3" b="0" i="0" u="none" strike="noStrike" cap="none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Implemented as a mandatory gatekeeper agent prior to final client delivery to mitigate human oversight.</a:t>
              </a:r>
            </a:p>
          </p:txBody>
        </p:sp>
        <p:sp>
          <p:nvSpPr>
            <p:cNvPr id="22" name="Google Shape;107;p13">
              <a:extLst>
                <a:ext uri="{FF2B5EF4-FFF2-40B4-BE49-F238E27FC236}">
                  <a16:creationId xmlns:a16="http://schemas.microsoft.com/office/drawing/2014/main" id="{F4B12826-CA16-1AA2-C0F5-DF0C4A746C5C}"/>
                </a:ext>
              </a:extLst>
            </p:cNvPr>
            <p:cNvSpPr txBox="1"/>
            <p:nvPr/>
          </p:nvSpPr>
          <p:spPr>
            <a:xfrm>
              <a:off x="10590" y="6039"/>
              <a:ext cx="6855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Intelligent Validation Insights</a:t>
              </a:r>
            </a:p>
          </p:txBody>
        </p:sp>
        <p:sp>
          <p:nvSpPr>
            <p:cNvPr id="23" name="Google Shape;108;p13">
              <a:extLst>
                <a:ext uri="{FF2B5EF4-FFF2-40B4-BE49-F238E27FC236}">
                  <a16:creationId xmlns:a16="http://schemas.microsoft.com/office/drawing/2014/main" id="{1E761C18-BB56-2DDD-BB2B-9642F2C04CA2}"/>
                </a:ext>
              </a:extLst>
            </p:cNvPr>
            <p:cNvSpPr txBox="1"/>
            <p:nvPr/>
          </p:nvSpPr>
          <p:spPr>
            <a:xfrm>
              <a:off x="10590" y="6414"/>
              <a:ext cx="6855" cy="1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3" b="0" i="0" u="none" strike="noStrike" cap="none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Provides reviewers with context-aware suggestions, significantly reducing manual QA cycles.</a:t>
              </a:r>
            </a:p>
          </p:txBody>
        </p:sp>
        <p:sp>
          <p:nvSpPr>
            <p:cNvPr id="24" name="Google Shape;109;p13">
              <a:extLst>
                <a:ext uri="{FF2B5EF4-FFF2-40B4-BE49-F238E27FC236}">
                  <a16:creationId xmlns:a16="http://schemas.microsoft.com/office/drawing/2014/main" id="{E8409B06-3061-67F6-5766-7A37F5F18F99}"/>
                </a:ext>
              </a:extLst>
            </p:cNvPr>
            <p:cNvSpPr txBox="1"/>
            <p:nvPr/>
          </p:nvSpPr>
          <p:spPr>
            <a:xfrm>
              <a:off x="10590" y="7653"/>
              <a:ext cx="6855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Operational Efficiency</a:t>
              </a:r>
            </a:p>
          </p:txBody>
        </p:sp>
        <p:sp>
          <p:nvSpPr>
            <p:cNvPr id="25" name="Google Shape;110;p13">
              <a:extLst>
                <a:ext uri="{FF2B5EF4-FFF2-40B4-BE49-F238E27FC236}">
                  <a16:creationId xmlns:a16="http://schemas.microsoft.com/office/drawing/2014/main" id="{8537BB8C-DBF8-78C0-9E51-22D945A5591D}"/>
                </a:ext>
              </a:extLst>
            </p:cNvPr>
            <p:cNvSpPr txBox="1"/>
            <p:nvPr/>
          </p:nvSpPr>
          <p:spPr>
            <a:xfrm>
              <a:off x="10590" y="8028"/>
              <a:ext cx="6855" cy="1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05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3" b="0" i="0" u="none" strike="noStrike" cap="none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Inter" panose="02000503000000020004"/>
                </a:rPr>
                <a:t>Optimizes the internal review workflow by focusing human expertise on complex analytical tasks.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CD54D17-8647-88F2-8D83-ED8C2B547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011" y="172770"/>
            <a:ext cx="1639506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66039486083542AF1A8A2AC3DEE223" ma:contentTypeVersion="16" ma:contentTypeDescription="Create a new document." ma:contentTypeScope="" ma:versionID="0ee628a9b15f623c1514ce24126a9d3b">
  <xsd:schema xmlns:xsd="http://www.w3.org/2001/XMLSchema" xmlns:xs="http://www.w3.org/2001/XMLSchema" xmlns:p="http://schemas.microsoft.com/office/2006/metadata/properties" xmlns:ns3="c261a91c-2495-4406-aca5-ab6fed3b17e0" xmlns:ns4="8e75f729-76cf-4b5f-a99c-aa0f9b535e4e" targetNamespace="http://schemas.microsoft.com/office/2006/metadata/properties" ma:root="true" ma:fieldsID="7f86c66aca0063343175509d8ec91376" ns3:_="" ns4:_="">
    <xsd:import namespace="c261a91c-2495-4406-aca5-ab6fed3b17e0"/>
    <xsd:import namespace="8e75f729-76cf-4b5f-a99c-aa0f9b535e4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OCR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61a91c-2495-4406-aca5-ab6fed3b17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75f729-76cf-4b5f-a99c-aa0f9b535e4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261a91c-2495-4406-aca5-ab6fed3b17e0" xsi:nil="true"/>
  </documentManagement>
</p:properties>
</file>

<file path=customXml/itemProps1.xml><?xml version="1.0" encoding="utf-8"?>
<ds:datastoreItem xmlns:ds="http://schemas.openxmlformats.org/officeDocument/2006/customXml" ds:itemID="{5C507CD2-5C07-4BCC-836F-53AC2B2FA149}">
  <ds:schemaRefs>
    <ds:schemaRef ds:uri="8e75f729-76cf-4b5f-a99c-aa0f9b535e4e"/>
    <ds:schemaRef ds:uri="c261a91c-2495-4406-aca5-ab6fed3b17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398CE7B-894A-4897-BF8B-0A36D611D7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6440DA-EDF5-4AAF-B46A-0D6E8CA0D1A3}">
  <ds:schemaRefs>
    <ds:schemaRef ds:uri="http://purl.org/dc/dcmitype/"/>
    <ds:schemaRef ds:uri="http://www.w3.org/XML/1998/namespace"/>
    <ds:schemaRef ds:uri="http://purl.org/dc/terms/"/>
    <ds:schemaRef ds:uri="8e75f729-76cf-4b5f-a99c-aa0f9b535e4e"/>
    <ds:schemaRef ds:uri="c261a91c-2495-4406-aca5-ab6fed3b17e0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1002</Words>
  <Application>Microsoft Office PowerPoint</Application>
  <PresentationFormat>On-screen Show (16:9)</PresentationFormat>
  <Paragraphs>147</Paragraphs>
  <Slides>8</Slides>
  <Notes>3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Monthly Status Report – HMH  </vt:lpstr>
      <vt:lpstr>Quality‑Driven Skill Advancement &amp; Process Evolution   </vt:lpstr>
      <vt:lpstr>VAPT Governance &amp; KPI Dashboard</vt:lpstr>
      <vt:lpstr>Operational Efficiency Through Simplification</vt:lpstr>
      <vt:lpstr>Unified &amp; Scalable Delivery Framework</vt:lpstr>
      <vt:lpstr>PowerPoint Presentation</vt:lpstr>
      <vt:lpstr>AI-Driven Report Quality Assurance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Arun Sridhar</cp:lastModifiedBy>
  <cp:revision>2</cp:revision>
  <dcterms:created xsi:type="dcterms:W3CDTF">2026-02-17T16:12:54Z</dcterms:created>
  <dcterms:modified xsi:type="dcterms:W3CDTF">2026-09-16T09:35:18Z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LastSaved">
    <vt:filetime>2026-02-17T00:00:00Z</vt:filetime>
  </property>
  <property fmtid="{D5CDD505-2E9C-101B-9397-08002B2CF9AE}" pid="4" name="ContentTypeId">
    <vt:lpwstr>0x0101000466039486083542AF1A8A2AC3DEE223</vt:lpwstr>
  </property>
</Properties>
</file>
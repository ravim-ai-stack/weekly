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3419" r:id="rId5"/>
    <p:sldId id="5462" r:id="rId6"/>
    <p:sldId id="5460" r:id="rId7"/>
    <p:sldId id="5466" r:id="rId8"/>
    <p:sldId id="5461" r:id="rId9"/>
    <p:sldId id="3431" r:id="rId10"/>
    <p:sldId id="3430" r:id="rId11"/>
    <p:sldId id="3436" r:id="rId12"/>
    <p:sldId id="259" r:id="rId13"/>
    <p:sldId id="5465" r:id="rId14"/>
    <p:sldId id="5464" r:id="rId15"/>
    <p:sldId id="5459" r:id="rId16"/>
    <p:sldId id="3437" r:id="rId17"/>
    <p:sldId id="5463" r:id="rId18"/>
    <p:sldId id="3420" r:id="rId19"/>
    <p:sldId id="3434" r:id="rId20"/>
    <p:sldId id="3423" r:id="rId21"/>
    <p:sldId id="3427" r:id="rId22"/>
    <p:sldId id="3428" r:id="rId23"/>
    <p:sldId id="342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3D7DEA1-6C15-4278-B357-8EB70E0DDDB5}">
          <p14:sldIdLst>
            <p14:sldId id="3419"/>
            <p14:sldId id="5462"/>
            <p14:sldId id="5460"/>
            <p14:sldId id="5466"/>
            <p14:sldId id="5461"/>
            <p14:sldId id="3431"/>
            <p14:sldId id="3430"/>
            <p14:sldId id="3436"/>
            <p14:sldId id="259"/>
            <p14:sldId id="5465"/>
            <p14:sldId id="5464"/>
            <p14:sldId id="5459"/>
          </p14:sldIdLst>
        </p14:section>
        <p14:section name="Appendix" id="{B1004C36-53E7-4F07-8DF9-F0DD85748B65}">
          <p14:sldIdLst>
            <p14:sldId id="3437"/>
            <p14:sldId id="5463"/>
            <p14:sldId id="3420"/>
            <p14:sldId id="3434"/>
            <p14:sldId id="3423"/>
            <p14:sldId id="3427"/>
            <p14:sldId id="3428"/>
            <p14:sldId id="34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FF"/>
    <a:srgbClr val="FBC3C4"/>
    <a:srgbClr val="C1FD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52BB5D-E7CC-08F2-8DBA-E94373A1D40D}" v="24" dt="2026-08-20T17:38:39.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FD70FD-4E7F-44AB-8D11-D2BA66FA06CF}" type="doc">
      <dgm:prSet loTypeId="urn:microsoft.com/office/officeart/2005/8/layout/process2" loCatId="process" qsTypeId="urn:microsoft.com/office/officeart/2005/8/quickstyle/simple1#1" qsCatId="simple" csTypeId="urn:microsoft.com/office/officeart/2005/8/colors/colorful1#1" csCatId="colorful" phldr="1"/>
      <dgm:spPr/>
      <dgm:t>
        <a:bodyPr/>
        <a:lstStyle/>
        <a:p>
          <a:endParaRPr lang="en-IN"/>
        </a:p>
      </dgm:t>
    </dgm:pt>
    <dgm:pt modelId="{D4CFC292-7C9E-4C46-9DE4-A711EE37016E}">
      <dgm:prSet phldrT="[Text]" phldr="0" custT="1"/>
      <dgm:spPr/>
      <dgm:t>
        <a:bodyPr/>
        <a:lstStyle/>
        <a:p>
          <a:pPr rtl="0"/>
          <a:r>
            <a:rPr lang="en-US" sz="1800" b="1">
              <a:latin typeface="Calibri" panose="020F0502020204030204"/>
            </a:rPr>
            <a:t>Technical Team</a:t>
          </a:r>
          <a:endParaRPr lang="en-US" sz="1800" b="1"/>
        </a:p>
      </dgm:t>
    </dgm:pt>
    <dgm:pt modelId="{46F60B05-3AE5-4A48-A167-B596B5940AE4}" type="parTrans" cxnId="{571F9FBC-0C1F-4FBB-A94B-DE13E58B8822}">
      <dgm:prSet/>
      <dgm:spPr/>
      <dgm:t>
        <a:bodyPr/>
        <a:lstStyle/>
        <a:p>
          <a:endParaRPr lang="en-IN"/>
        </a:p>
      </dgm:t>
    </dgm:pt>
    <dgm:pt modelId="{6D39D551-BD99-464F-A520-2932911D488E}" type="sibTrans" cxnId="{571F9FBC-0C1F-4FBB-A94B-DE13E58B8822}">
      <dgm:prSet/>
      <dgm:spPr/>
      <dgm:t>
        <a:bodyPr/>
        <a:lstStyle/>
        <a:p>
          <a:endParaRPr lang="en-US"/>
        </a:p>
      </dgm:t>
    </dgm:pt>
    <dgm:pt modelId="{89DCF10A-9EF9-49D4-A8C4-F3444D0DD4A8}">
      <dgm:prSet phldrT="[Text]" phldr="0" custT="1"/>
      <dgm:spPr/>
      <dgm:t>
        <a:bodyPr/>
        <a:lstStyle/>
        <a:p>
          <a:pPr rtl="0"/>
          <a:r>
            <a:rPr lang="en-US" sz="1600" b="1">
              <a:latin typeface="Calibri" panose="020F0502020204030204"/>
            </a:rPr>
            <a:t>Delivery Manager</a:t>
          </a:r>
          <a:endParaRPr lang="en-US" sz="1600" b="1"/>
        </a:p>
      </dgm:t>
    </dgm:pt>
    <dgm:pt modelId="{61AE9345-80B7-4A8F-BE79-BF6B7BE09094}" type="parTrans" cxnId="{D541761C-7ECA-4296-9E10-1D7D8BF5B36C}">
      <dgm:prSet/>
      <dgm:spPr/>
      <dgm:t>
        <a:bodyPr/>
        <a:lstStyle/>
        <a:p>
          <a:endParaRPr lang="en-IN"/>
        </a:p>
      </dgm:t>
    </dgm:pt>
    <dgm:pt modelId="{734DBF20-9BBE-489C-8587-47781C06FC24}" type="sibTrans" cxnId="{D541761C-7ECA-4296-9E10-1D7D8BF5B36C}">
      <dgm:prSet/>
      <dgm:spPr/>
      <dgm:t>
        <a:bodyPr/>
        <a:lstStyle/>
        <a:p>
          <a:endParaRPr lang="en-US"/>
        </a:p>
      </dgm:t>
    </dgm:pt>
    <dgm:pt modelId="{89A2445B-896C-40AA-A6EA-AC586F399032}">
      <dgm:prSet phldrT="[Text]" phldr="0" custT="1"/>
      <dgm:spPr/>
      <dgm:t>
        <a:bodyPr/>
        <a:lstStyle/>
        <a:p>
          <a:pPr rtl="0"/>
          <a:r>
            <a:rPr lang="en-US" sz="1800" b="1">
              <a:latin typeface="Calibri" panose="020F0502020204030204"/>
            </a:rPr>
            <a:t>Program</a:t>
          </a:r>
          <a:br>
            <a:rPr lang="en-US" sz="1800" b="1">
              <a:latin typeface="Calibri" panose="020F0502020204030204"/>
            </a:rPr>
          </a:br>
          <a:r>
            <a:rPr lang="en-US" sz="1800" b="1">
              <a:latin typeface="Calibri" panose="020F0502020204030204"/>
            </a:rPr>
            <a:t>Manager</a:t>
          </a:r>
          <a:endParaRPr lang="en-US" sz="1800" b="1"/>
        </a:p>
      </dgm:t>
    </dgm:pt>
    <dgm:pt modelId="{D3A7EC3B-FC15-4798-9F43-FB65C573D0D8}" type="parTrans" cxnId="{0B827A08-65AD-41C1-BF0A-E997CEDE7861}">
      <dgm:prSet/>
      <dgm:spPr/>
      <dgm:t>
        <a:bodyPr/>
        <a:lstStyle/>
        <a:p>
          <a:endParaRPr lang="en-IN"/>
        </a:p>
      </dgm:t>
    </dgm:pt>
    <dgm:pt modelId="{58C82A68-5DEE-469F-9083-78210DF587FB}" type="sibTrans" cxnId="{0B827A08-65AD-41C1-BF0A-E997CEDE7861}">
      <dgm:prSet/>
      <dgm:spPr/>
      <dgm:t>
        <a:bodyPr/>
        <a:lstStyle/>
        <a:p>
          <a:endParaRPr lang="en-IN"/>
        </a:p>
      </dgm:t>
    </dgm:pt>
    <dgm:pt modelId="{792B3B9F-EF83-4FE3-A094-3B61FDDA4025}" type="pres">
      <dgm:prSet presAssocID="{BAFD70FD-4E7F-44AB-8D11-D2BA66FA06CF}" presName="linearFlow" presStyleCnt="0">
        <dgm:presLayoutVars>
          <dgm:resizeHandles val="exact"/>
        </dgm:presLayoutVars>
      </dgm:prSet>
      <dgm:spPr/>
    </dgm:pt>
    <dgm:pt modelId="{F2DA9A74-2CC2-42E5-9A34-787AC5C50837}" type="pres">
      <dgm:prSet presAssocID="{D4CFC292-7C9E-4C46-9DE4-A711EE37016E}" presName="node" presStyleLbl="node1" presStyleIdx="0" presStyleCnt="3">
        <dgm:presLayoutVars>
          <dgm:bulletEnabled val="1"/>
        </dgm:presLayoutVars>
      </dgm:prSet>
      <dgm:spPr/>
    </dgm:pt>
    <dgm:pt modelId="{2F3F86FD-0A2A-4E9A-A864-56C4FF3A4080}" type="pres">
      <dgm:prSet presAssocID="{6D39D551-BD99-464F-A520-2932911D488E}" presName="sibTrans" presStyleLbl="sibTrans2D1" presStyleIdx="0" presStyleCnt="2"/>
      <dgm:spPr/>
    </dgm:pt>
    <dgm:pt modelId="{0B761F35-BC3C-4D20-A8B9-DD5356EE34E9}" type="pres">
      <dgm:prSet presAssocID="{6D39D551-BD99-464F-A520-2932911D488E}" presName="connectorText" presStyleLbl="sibTrans2D1" presStyleIdx="0" presStyleCnt="2"/>
      <dgm:spPr/>
    </dgm:pt>
    <dgm:pt modelId="{2166222E-D09A-4620-AF42-6BCBAF39FCB7}" type="pres">
      <dgm:prSet presAssocID="{89DCF10A-9EF9-49D4-A8C4-F3444D0DD4A8}" presName="node" presStyleLbl="node1" presStyleIdx="1" presStyleCnt="3">
        <dgm:presLayoutVars>
          <dgm:bulletEnabled val="1"/>
        </dgm:presLayoutVars>
      </dgm:prSet>
      <dgm:spPr/>
    </dgm:pt>
    <dgm:pt modelId="{35454EEE-9E0D-4292-BDC7-5F927045E79C}" type="pres">
      <dgm:prSet presAssocID="{734DBF20-9BBE-489C-8587-47781C06FC24}" presName="sibTrans" presStyleLbl="sibTrans2D1" presStyleIdx="1" presStyleCnt="2"/>
      <dgm:spPr/>
    </dgm:pt>
    <dgm:pt modelId="{C6C7296B-032D-4324-80B0-40DC1F83F372}" type="pres">
      <dgm:prSet presAssocID="{734DBF20-9BBE-489C-8587-47781C06FC24}" presName="connectorText" presStyleLbl="sibTrans2D1" presStyleIdx="1" presStyleCnt="2"/>
      <dgm:spPr/>
    </dgm:pt>
    <dgm:pt modelId="{0384D156-41B6-46B2-8B47-EFCC5CD1F664}" type="pres">
      <dgm:prSet presAssocID="{89A2445B-896C-40AA-A6EA-AC586F399032}" presName="node" presStyleLbl="node1" presStyleIdx="2" presStyleCnt="3">
        <dgm:presLayoutVars>
          <dgm:bulletEnabled val="1"/>
        </dgm:presLayoutVars>
      </dgm:prSet>
      <dgm:spPr/>
    </dgm:pt>
  </dgm:ptLst>
  <dgm:cxnLst>
    <dgm:cxn modelId="{0B827A08-65AD-41C1-BF0A-E997CEDE7861}" srcId="{BAFD70FD-4E7F-44AB-8D11-D2BA66FA06CF}" destId="{89A2445B-896C-40AA-A6EA-AC586F399032}" srcOrd="2" destOrd="0" parTransId="{D3A7EC3B-FC15-4798-9F43-FB65C573D0D8}" sibTransId="{58C82A68-5DEE-469F-9083-78210DF587FB}"/>
    <dgm:cxn modelId="{D541761C-7ECA-4296-9E10-1D7D8BF5B36C}" srcId="{BAFD70FD-4E7F-44AB-8D11-D2BA66FA06CF}" destId="{89DCF10A-9EF9-49D4-A8C4-F3444D0DD4A8}" srcOrd="1" destOrd="0" parTransId="{61AE9345-80B7-4A8F-BE79-BF6B7BE09094}" sibTransId="{734DBF20-9BBE-489C-8587-47781C06FC24}"/>
    <dgm:cxn modelId="{8B013C55-3854-4C69-B434-632AD3861743}" type="presOf" srcId="{D4CFC292-7C9E-4C46-9DE4-A711EE37016E}" destId="{F2DA9A74-2CC2-42E5-9A34-787AC5C50837}" srcOrd="0" destOrd="0" presId="urn:microsoft.com/office/officeart/2005/8/layout/process2"/>
    <dgm:cxn modelId="{072B2685-FFC6-4A60-ACB7-1A349A085234}" type="presOf" srcId="{734DBF20-9BBE-489C-8587-47781C06FC24}" destId="{35454EEE-9E0D-4292-BDC7-5F927045E79C}" srcOrd="0" destOrd="0" presId="urn:microsoft.com/office/officeart/2005/8/layout/process2"/>
    <dgm:cxn modelId="{F696339D-CDAD-4F0A-94F0-EE4FB7F01841}" type="presOf" srcId="{89DCF10A-9EF9-49D4-A8C4-F3444D0DD4A8}" destId="{2166222E-D09A-4620-AF42-6BCBAF39FCB7}" srcOrd="0" destOrd="0" presId="urn:microsoft.com/office/officeart/2005/8/layout/process2"/>
    <dgm:cxn modelId="{103A199F-9F02-47D6-B496-D90E88A7B984}" type="presOf" srcId="{89A2445B-896C-40AA-A6EA-AC586F399032}" destId="{0384D156-41B6-46B2-8B47-EFCC5CD1F664}" srcOrd="0" destOrd="0" presId="urn:microsoft.com/office/officeart/2005/8/layout/process2"/>
    <dgm:cxn modelId="{EC17CAAB-3995-47FE-95E1-20D134B1CA20}" type="presOf" srcId="{BAFD70FD-4E7F-44AB-8D11-D2BA66FA06CF}" destId="{792B3B9F-EF83-4FE3-A094-3B61FDDA4025}" srcOrd="0" destOrd="0" presId="urn:microsoft.com/office/officeart/2005/8/layout/process2"/>
    <dgm:cxn modelId="{EB9CF7AE-99A8-4D47-8F23-B8E91DE9C838}" type="presOf" srcId="{6D39D551-BD99-464F-A520-2932911D488E}" destId="{0B761F35-BC3C-4D20-A8B9-DD5356EE34E9}" srcOrd="1" destOrd="0" presId="urn:microsoft.com/office/officeart/2005/8/layout/process2"/>
    <dgm:cxn modelId="{571F9FBC-0C1F-4FBB-A94B-DE13E58B8822}" srcId="{BAFD70FD-4E7F-44AB-8D11-D2BA66FA06CF}" destId="{D4CFC292-7C9E-4C46-9DE4-A711EE37016E}" srcOrd="0" destOrd="0" parTransId="{46F60B05-3AE5-4A48-A167-B596B5940AE4}" sibTransId="{6D39D551-BD99-464F-A520-2932911D488E}"/>
    <dgm:cxn modelId="{FE5799CB-D3AB-47F9-A67E-36C449FA9C5E}" type="presOf" srcId="{6D39D551-BD99-464F-A520-2932911D488E}" destId="{2F3F86FD-0A2A-4E9A-A864-56C4FF3A4080}" srcOrd="0" destOrd="0" presId="urn:microsoft.com/office/officeart/2005/8/layout/process2"/>
    <dgm:cxn modelId="{CAF3BED1-1B51-4338-B300-9D82E4D4B48D}" type="presOf" srcId="{734DBF20-9BBE-489C-8587-47781C06FC24}" destId="{C6C7296B-032D-4324-80B0-40DC1F83F372}" srcOrd="1" destOrd="0" presId="urn:microsoft.com/office/officeart/2005/8/layout/process2"/>
    <dgm:cxn modelId="{4A45DC44-5BCE-423A-8789-0DFABB768FC4}" type="presParOf" srcId="{792B3B9F-EF83-4FE3-A094-3B61FDDA4025}" destId="{F2DA9A74-2CC2-42E5-9A34-787AC5C50837}" srcOrd="0" destOrd="0" presId="urn:microsoft.com/office/officeart/2005/8/layout/process2"/>
    <dgm:cxn modelId="{61144B36-E09A-4242-886B-7DE728A3D875}" type="presParOf" srcId="{792B3B9F-EF83-4FE3-A094-3B61FDDA4025}" destId="{2F3F86FD-0A2A-4E9A-A864-56C4FF3A4080}" srcOrd="1" destOrd="0" presId="urn:microsoft.com/office/officeart/2005/8/layout/process2"/>
    <dgm:cxn modelId="{41925B35-9D78-4986-A4A0-3E37BA670F9D}" type="presParOf" srcId="{2F3F86FD-0A2A-4E9A-A864-56C4FF3A4080}" destId="{0B761F35-BC3C-4D20-A8B9-DD5356EE34E9}" srcOrd="0" destOrd="0" presId="urn:microsoft.com/office/officeart/2005/8/layout/process2"/>
    <dgm:cxn modelId="{F764E5E3-E7A0-4A3C-98F5-8EF0C9973744}" type="presParOf" srcId="{792B3B9F-EF83-4FE3-A094-3B61FDDA4025}" destId="{2166222E-D09A-4620-AF42-6BCBAF39FCB7}" srcOrd="2" destOrd="0" presId="urn:microsoft.com/office/officeart/2005/8/layout/process2"/>
    <dgm:cxn modelId="{91845CFF-8D27-44C8-9EB6-71D571E85C27}" type="presParOf" srcId="{792B3B9F-EF83-4FE3-A094-3B61FDDA4025}" destId="{35454EEE-9E0D-4292-BDC7-5F927045E79C}" srcOrd="3" destOrd="0" presId="urn:microsoft.com/office/officeart/2005/8/layout/process2"/>
    <dgm:cxn modelId="{CAFBF25B-F632-4C74-81E6-006CA754AAC7}" type="presParOf" srcId="{35454EEE-9E0D-4292-BDC7-5F927045E79C}" destId="{C6C7296B-032D-4324-80B0-40DC1F83F372}" srcOrd="0" destOrd="0" presId="urn:microsoft.com/office/officeart/2005/8/layout/process2"/>
    <dgm:cxn modelId="{D17421FA-6E3F-404B-AF7E-219F1DAA5399}" type="presParOf" srcId="{792B3B9F-EF83-4FE3-A094-3B61FDDA4025}" destId="{0384D156-41B6-46B2-8B47-EFCC5CD1F664}"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30FD7A-BD34-45C9-90E2-15BA8FD2A838}" type="doc">
      <dgm:prSet loTypeId="urn:microsoft.com/office/officeart/2005/8/layout/hChevron3" loCatId="process" qsTypeId="urn:microsoft.com/office/officeart/2005/8/quickstyle/simple1#2" qsCatId="simple" csTypeId="urn:microsoft.com/office/officeart/2005/8/colors/colorful1#2" csCatId="colorful" phldr="1"/>
      <dgm:spPr/>
      <dgm:t>
        <a:bodyPr/>
        <a:lstStyle/>
        <a:p>
          <a:endParaRPr lang="en-IN"/>
        </a:p>
      </dgm:t>
    </dgm:pt>
    <dgm:pt modelId="{16455BD1-91A7-4E9E-97A7-1375235655DD}">
      <dgm:prSet phldrT="[Text]" phldr="0"/>
      <dgm:spPr/>
      <dgm:t>
        <a:bodyPr/>
        <a:lstStyle/>
        <a:p>
          <a:r>
            <a:rPr lang="en-IN"/>
            <a:t>Sales (Booking)</a:t>
          </a:r>
        </a:p>
      </dgm:t>
    </dgm:pt>
    <dgm:pt modelId="{E4CA75C9-BDB9-4562-8A6F-8FFFA72709E1}" type="parTrans" cxnId="{449E6259-EAF3-4FBB-B97F-1774FC08229C}">
      <dgm:prSet/>
      <dgm:spPr/>
      <dgm:t>
        <a:bodyPr/>
        <a:lstStyle/>
        <a:p>
          <a:endParaRPr lang="en-IN"/>
        </a:p>
      </dgm:t>
    </dgm:pt>
    <dgm:pt modelId="{D561B70E-841B-46EE-BBA7-D5700D78B1EC}" type="sibTrans" cxnId="{449E6259-EAF3-4FBB-B97F-1774FC08229C}">
      <dgm:prSet/>
      <dgm:spPr/>
      <dgm:t>
        <a:bodyPr/>
        <a:lstStyle/>
        <a:p>
          <a:endParaRPr lang="en-IN"/>
        </a:p>
      </dgm:t>
    </dgm:pt>
    <dgm:pt modelId="{AA71F88A-7098-474F-A162-E1360D1C390E}">
      <dgm:prSet phldrT="[Text]" phldr="0"/>
      <dgm:spPr/>
      <dgm:t>
        <a:bodyPr/>
        <a:lstStyle/>
        <a:p>
          <a:r>
            <a:rPr lang="en-IN"/>
            <a:t>Operations</a:t>
          </a:r>
          <a:br>
            <a:rPr lang="en-IN"/>
          </a:br>
          <a:r>
            <a:rPr lang="en-IN"/>
            <a:t>(Shipments)</a:t>
          </a:r>
        </a:p>
      </dgm:t>
    </dgm:pt>
    <dgm:pt modelId="{BFCB7CBC-EAE0-41C8-AFD4-7FDAB70D3829}" type="parTrans" cxnId="{D023E13A-D045-4B26-B2C1-914892053418}">
      <dgm:prSet/>
      <dgm:spPr/>
      <dgm:t>
        <a:bodyPr/>
        <a:lstStyle/>
        <a:p>
          <a:endParaRPr lang="en-IN"/>
        </a:p>
      </dgm:t>
    </dgm:pt>
    <dgm:pt modelId="{0BF2B8E4-ACC5-499D-B81B-029AD6B7E891}" type="sibTrans" cxnId="{D023E13A-D045-4B26-B2C1-914892053418}">
      <dgm:prSet/>
      <dgm:spPr/>
      <dgm:t>
        <a:bodyPr/>
        <a:lstStyle/>
        <a:p>
          <a:endParaRPr lang="en-IN"/>
        </a:p>
      </dgm:t>
    </dgm:pt>
    <dgm:pt modelId="{415B4101-9449-4C49-9A7B-4750A3447014}">
      <dgm:prSet phldrT="[Text]" phldr="0"/>
      <dgm:spPr/>
      <dgm:t>
        <a:bodyPr/>
        <a:lstStyle/>
        <a:p>
          <a:r>
            <a:rPr lang="en-IN"/>
            <a:t>Finance</a:t>
          </a:r>
        </a:p>
        <a:p>
          <a:r>
            <a:rPr lang="en-IN"/>
            <a:t>(Revenue &amp; Margin)</a:t>
          </a:r>
        </a:p>
      </dgm:t>
    </dgm:pt>
    <dgm:pt modelId="{FE8BB263-E11A-49FE-91A0-D4F765C48270}" type="parTrans" cxnId="{EC85DE85-AFF3-47CA-8925-B78334811138}">
      <dgm:prSet/>
      <dgm:spPr/>
      <dgm:t>
        <a:bodyPr/>
        <a:lstStyle/>
        <a:p>
          <a:endParaRPr lang="en-IN"/>
        </a:p>
      </dgm:t>
    </dgm:pt>
    <dgm:pt modelId="{7795CCA0-44CA-4220-849C-3D9F379102B2}" type="sibTrans" cxnId="{EC85DE85-AFF3-47CA-8925-B78334811138}">
      <dgm:prSet/>
      <dgm:spPr/>
      <dgm:t>
        <a:bodyPr/>
        <a:lstStyle/>
        <a:p>
          <a:endParaRPr lang="en-IN"/>
        </a:p>
      </dgm:t>
    </dgm:pt>
    <dgm:pt modelId="{04788D91-9F8D-4C2A-A4A1-E7E3B9B2432F}">
      <dgm:prSet/>
      <dgm:spPr/>
      <dgm:t>
        <a:bodyPr/>
        <a:lstStyle/>
        <a:p>
          <a:r>
            <a:rPr lang="en-IN"/>
            <a:t>Financial Engine</a:t>
          </a:r>
        </a:p>
      </dgm:t>
    </dgm:pt>
    <dgm:pt modelId="{93EEA52B-FD63-412D-B5A8-805028EA54B6}" type="parTrans" cxnId="{2236BC6D-2C54-43D6-8444-A35ED67BCC2A}">
      <dgm:prSet/>
      <dgm:spPr/>
      <dgm:t>
        <a:bodyPr/>
        <a:lstStyle/>
        <a:p>
          <a:endParaRPr lang="en-IN"/>
        </a:p>
      </dgm:t>
    </dgm:pt>
    <dgm:pt modelId="{600E4DC5-DDE7-4BA2-87F8-DBEDBC581521}" type="sibTrans" cxnId="{2236BC6D-2C54-43D6-8444-A35ED67BCC2A}">
      <dgm:prSet/>
      <dgm:spPr/>
      <dgm:t>
        <a:bodyPr/>
        <a:lstStyle/>
        <a:p>
          <a:endParaRPr lang="en-IN"/>
        </a:p>
      </dgm:t>
    </dgm:pt>
    <dgm:pt modelId="{2A2E0E74-FE23-44B2-96E0-CC381D4895EF}" type="pres">
      <dgm:prSet presAssocID="{7630FD7A-BD34-45C9-90E2-15BA8FD2A838}" presName="Name0" presStyleCnt="0">
        <dgm:presLayoutVars>
          <dgm:dir/>
          <dgm:resizeHandles val="exact"/>
        </dgm:presLayoutVars>
      </dgm:prSet>
      <dgm:spPr/>
    </dgm:pt>
    <dgm:pt modelId="{CEDC29DE-54D1-43D5-9767-B5EAED7F2904}" type="pres">
      <dgm:prSet presAssocID="{16455BD1-91A7-4E9E-97A7-1375235655DD}" presName="parTxOnly" presStyleLbl="node1" presStyleIdx="0" presStyleCnt="4">
        <dgm:presLayoutVars>
          <dgm:bulletEnabled val="1"/>
        </dgm:presLayoutVars>
      </dgm:prSet>
      <dgm:spPr/>
    </dgm:pt>
    <dgm:pt modelId="{9E5FC4B8-761F-4B13-94C1-C27FC427F26A}" type="pres">
      <dgm:prSet presAssocID="{D561B70E-841B-46EE-BBA7-D5700D78B1EC}" presName="parSpace" presStyleCnt="0"/>
      <dgm:spPr/>
    </dgm:pt>
    <dgm:pt modelId="{A9FF69D0-BB49-49FD-94F9-DDF73AEB8229}" type="pres">
      <dgm:prSet presAssocID="{AA71F88A-7098-474F-A162-E1360D1C390E}" presName="parTxOnly" presStyleLbl="node1" presStyleIdx="1" presStyleCnt="4">
        <dgm:presLayoutVars>
          <dgm:bulletEnabled val="1"/>
        </dgm:presLayoutVars>
      </dgm:prSet>
      <dgm:spPr/>
    </dgm:pt>
    <dgm:pt modelId="{915C1207-4880-419D-A768-D78391F5BFBC}" type="pres">
      <dgm:prSet presAssocID="{0BF2B8E4-ACC5-499D-B81B-029AD6B7E891}" presName="parSpace" presStyleCnt="0"/>
      <dgm:spPr/>
    </dgm:pt>
    <dgm:pt modelId="{3BCC2A65-D43F-4FA2-AC97-FD3F5D712C5E}" type="pres">
      <dgm:prSet presAssocID="{415B4101-9449-4C49-9A7B-4750A3447014}" presName="parTxOnly" presStyleLbl="node1" presStyleIdx="2" presStyleCnt="4">
        <dgm:presLayoutVars>
          <dgm:bulletEnabled val="1"/>
        </dgm:presLayoutVars>
      </dgm:prSet>
      <dgm:spPr/>
    </dgm:pt>
    <dgm:pt modelId="{D2A05641-0167-45C3-82D5-4211D71BD007}" type="pres">
      <dgm:prSet presAssocID="{7795CCA0-44CA-4220-849C-3D9F379102B2}" presName="parSpace" presStyleCnt="0"/>
      <dgm:spPr/>
    </dgm:pt>
    <dgm:pt modelId="{3E537F48-7744-4C7A-B485-AC0D0339810F}" type="pres">
      <dgm:prSet presAssocID="{04788D91-9F8D-4C2A-A4A1-E7E3B9B2432F}" presName="parTxOnly" presStyleLbl="node1" presStyleIdx="3" presStyleCnt="4" custLinFactX="11893" custLinFactNeighborX="100000" custLinFactNeighborY="-2076">
        <dgm:presLayoutVars>
          <dgm:bulletEnabled val="1"/>
        </dgm:presLayoutVars>
      </dgm:prSet>
      <dgm:spPr/>
    </dgm:pt>
  </dgm:ptLst>
  <dgm:cxnLst>
    <dgm:cxn modelId="{D023E13A-D045-4B26-B2C1-914892053418}" srcId="{7630FD7A-BD34-45C9-90E2-15BA8FD2A838}" destId="{AA71F88A-7098-474F-A162-E1360D1C390E}" srcOrd="1" destOrd="0" parTransId="{BFCB7CBC-EAE0-41C8-AFD4-7FDAB70D3829}" sibTransId="{0BF2B8E4-ACC5-499D-B81B-029AD6B7E891}"/>
    <dgm:cxn modelId="{D7DB8142-6D76-4D0B-9DEC-EC441532A7DA}" type="presOf" srcId="{04788D91-9F8D-4C2A-A4A1-E7E3B9B2432F}" destId="{3E537F48-7744-4C7A-B485-AC0D0339810F}" srcOrd="0" destOrd="0" presId="urn:microsoft.com/office/officeart/2005/8/layout/hChevron3"/>
    <dgm:cxn modelId="{2236BC6D-2C54-43D6-8444-A35ED67BCC2A}" srcId="{7630FD7A-BD34-45C9-90E2-15BA8FD2A838}" destId="{04788D91-9F8D-4C2A-A4A1-E7E3B9B2432F}" srcOrd="3" destOrd="0" parTransId="{93EEA52B-FD63-412D-B5A8-805028EA54B6}" sibTransId="{600E4DC5-DDE7-4BA2-87F8-DBEDBC581521}"/>
    <dgm:cxn modelId="{449E6259-EAF3-4FBB-B97F-1774FC08229C}" srcId="{7630FD7A-BD34-45C9-90E2-15BA8FD2A838}" destId="{16455BD1-91A7-4E9E-97A7-1375235655DD}" srcOrd="0" destOrd="0" parTransId="{E4CA75C9-BDB9-4562-8A6F-8FFFA72709E1}" sibTransId="{D561B70E-841B-46EE-BBA7-D5700D78B1EC}"/>
    <dgm:cxn modelId="{EC85DE85-AFF3-47CA-8925-B78334811138}" srcId="{7630FD7A-BD34-45C9-90E2-15BA8FD2A838}" destId="{415B4101-9449-4C49-9A7B-4750A3447014}" srcOrd="2" destOrd="0" parTransId="{FE8BB263-E11A-49FE-91A0-D4F765C48270}" sibTransId="{7795CCA0-44CA-4220-849C-3D9F379102B2}"/>
    <dgm:cxn modelId="{E4086196-5087-41E9-B663-2833B8DA797E}" type="presOf" srcId="{7630FD7A-BD34-45C9-90E2-15BA8FD2A838}" destId="{2A2E0E74-FE23-44B2-96E0-CC381D4895EF}" srcOrd="0" destOrd="0" presId="urn:microsoft.com/office/officeart/2005/8/layout/hChevron3"/>
    <dgm:cxn modelId="{58D314C5-94F9-45C9-8A13-FEA64DB837EA}" type="presOf" srcId="{415B4101-9449-4C49-9A7B-4750A3447014}" destId="{3BCC2A65-D43F-4FA2-AC97-FD3F5D712C5E}" srcOrd="0" destOrd="0" presId="urn:microsoft.com/office/officeart/2005/8/layout/hChevron3"/>
    <dgm:cxn modelId="{0B45A5D2-991D-49AD-9E14-84BF907C289C}" type="presOf" srcId="{16455BD1-91A7-4E9E-97A7-1375235655DD}" destId="{CEDC29DE-54D1-43D5-9767-B5EAED7F2904}" srcOrd="0" destOrd="0" presId="urn:microsoft.com/office/officeart/2005/8/layout/hChevron3"/>
    <dgm:cxn modelId="{5D36ACED-F938-43F4-9762-C2C11B6F7DB1}" type="presOf" srcId="{AA71F88A-7098-474F-A162-E1360D1C390E}" destId="{A9FF69D0-BB49-49FD-94F9-DDF73AEB8229}" srcOrd="0" destOrd="0" presId="urn:microsoft.com/office/officeart/2005/8/layout/hChevron3"/>
    <dgm:cxn modelId="{58E5092A-191A-4023-BA11-B87ECCAD0EFC}" type="presParOf" srcId="{2A2E0E74-FE23-44B2-96E0-CC381D4895EF}" destId="{CEDC29DE-54D1-43D5-9767-B5EAED7F2904}" srcOrd="0" destOrd="0" presId="urn:microsoft.com/office/officeart/2005/8/layout/hChevron3"/>
    <dgm:cxn modelId="{7A6A35F7-BDEB-41AE-8A23-A654C3666742}" type="presParOf" srcId="{2A2E0E74-FE23-44B2-96E0-CC381D4895EF}" destId="{9E5FC4B8-761F-4B13-94C1-C27FC427F26A}" srcOrd="1" destOrd="0" presId="urn:microsoft.com/office/officeart/2005/8/layout/hChevron3"/>
    <dgm:cxn modelId="{FC71F08D-FB44-4C63-9461-A8B0D7E4AE06}" type="presParOf" srcId="{2A2E0E74-FE23-44B2-96E0-CC381D4895EF}" destId="{A9FF69D0-BB49-49FD-94F9-DDF73AEB8229}" srcOrd="2" destOrd="0" presId="urn:microsoft.com/office/officeart/2005/8/layout/hChevron3"/>
    <dgm:cxn modelId="{84C5F01B-6A44-4069-89DD-56B2FA00BC39}" type="presParOf" srcId="{2A2E0E74-FE23-44B2-96E0-CC381D4895EF}" destId="{915C1207-4880-419D-A768-D78391F5BFBC}" srcOrd="3" destOrd="0" presId="urn:microsoft.com/office/officeart/2005/8/layout/hChevron3"/>
    <dgm:cxn modelId="{15F2E319-AE0D-439C-80B6-0657BD6D5354}" type="presParOf" srcId="{2A2E0E74-FE23-44B2-96E0-CC381D4895EF}" destId="{3BCC2A65-D43F-4FA2-AC97-FD3F5D712C5E}" srcOrd="4" destOrd="0" presId="urn:microsoft.com/office/officeart/2005/8/layout/hChevron3"/>
    <dgm:cxn modelId="{48FD0F3C-3F5F-4EFB-AE1C-1AACC8EA9C45}" type="presParOf" srcId="{2A2E0E74-FE23-44B2-96E0-CC381D4895EF}" destId="{D2A05641-0167-45C3-82D5-4211D71BD007}" srcOrd="5" destOrd="0" presId="urn:microsoft.com/office/officeart/2005/8/layout/hChevron3"/>
    <dgm:cxn modelId="{B60FFF65-4827-4F85-B7DF-1B909FF5097C}" type="presParOf" srcId="{2A2E0E74-FE23-44B2-96E0-CC381D4895EF}" destId="{3E537F48-7744-4C7A-B485-AC0D0339810F}"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8345B0-1C7A-4853-B238-B517557FD73E}" type="doc">
      <dgm:prSet loTypeId="urn:microsoft.com/office/officeart/2005/8/layout/process2" loCatId="process" qsTypeId="urn:microsoft.com/office/officeart/2005/8/quickstyle/simple4#1" qsCatId="simple" csTypeId="urn:microsoft.com/office/officeart/2005/8/colors/colorful1#3" csCatId="colorful" phldr="1"/>
      <dgm:spPr/>
      <dgm:t>
        <a:bodyPr/>
        <a:lstStyle/>
        <a:p>
          <a:endParaRPr lang="en-IN"/>
        </a:p>
      </dgm:t>
    </dgm:pt>
    <dgm:pt modelId="{DC51C2A8-5503-4314-92DC-AB0261944ED2}">
      <dgm:prSet/>
      <dgm:spPr/>
      <dgm:t>
        <a:bodyPr/>
        <a:lstStyle/>
        <a:p>
          <a:pPr>
            <a:buNone/>
          </a:pPr>
          <a:r>
            <a:rPr lang="en-IN" sz="1200" b="1"/>
            <a:t>Phase 2 – Standardization &amp; Data Harmonization (Jan – Feb)</a:t>
          </a:r>
        </a:p>
      </dgm:t>
    </dgm:pt>
    <dgm:pt modelId="{87562CA0-66E6-4A17-B88B-363518870C26}" type="parTrans" cxnId="{90C6F8DE-1946-48A9-968C-C66FD591DD11}">
      <dgm:prSet/>
      <dgm:spPr/>
      <dgm:t>
        <a:bodyPr/>
        <a:lstStyle/>
        <a:p>
          <a:endParaRPr lang="en-IN"/>
        </a:p>
      </dgm:t>
    </dgm:pt>
    <dgm:pt modelId="{4BD694F2-9202-428F-9E9D-041AE88F3229}" type="sibTrans" cxnId="{90C6F8DE-1946-48A9-968C-C66FD591DD11}">
      <dgm:prSet/>
      <dgm:spPr/>
      <dgm:t>
        <a:bodyPr/>
        <a:lstStyle/>
        <a:p>
          <a:endParaRPr lang="en-IN"/>
        </a:p>
      </dgm:t>
    </dgm:pt>
    <dgm:pt modelId="{68F82977-EF7C-4AA9-9354-662F8476808B}">
      <dgm:prSet custT="1"/>
      <dgm:spPr/>
      <dgm:t>
        <a:bodyPr/>
        <a:lstStyle/>
        <a:p>
          <a:pPr>
            <a:buFont typeface="Arial" panose="020B0604020202020204" pitchFamily="34" charset="0"/>
            <a:buChar char="•"/>
          </a:pPr>
          <a:r>
            <a:rPr lang="en-IN" sz="900"/>
            <a:t>Implemented medallion architecture (Bronze, Silver, Gold)</a:t>
          </a:r>
        </a:p>
      </dgm:t>
    </dgm:pt>
    <dgm:pt modelId="{CE70A3E2-C390-46E6-80E2-AD378A973A46}" type="parTrans" cxnId="{A965F221-070C-4BE6-9EBF-0E2EE7AFF8A6}">
      <dgm:prSet/>
      <dgm:spPr/>
      <dgm:t>
        <a:bodyPr/>
        <a:lstStyle/>
        <a:p>
          <a:endParaRPr lang="en-IN"/>
        </a:p>
      </dgm:t>
    </dgm:pt>
    <dgm:pt modelId="{736EAA5A-C3F1-4B5C-8B0E-867724FD91C9}" type="sibTrans" cxnId="{A965F221-070C-4BE6-9EBF-0E2EE7AFF8A6}">
      <dgm:prSet/>
      <dgm:spPr/>
      <dgm:t>
        <a:bodyPr/>
        <a:lstStyle/>
        <a:p>
          <a:endParaRPr lang="en-IN"/>
        </a:p>
      </dgm:t>
    </dgm:pt>
    <dgm:pt modelId="{226CB63F-53F5-429B-8996-C7CA809DBA82}">
      <dgm:prSet custT="1"/>
      <dgm:spPr/>
      <dgm:t>
        <a:bodyPr/>
        <a:lstStyle/>
        <a:p>
          <a:pPr>
            <a:buFont typeface="Arial" panose="020B0604020202020204" pitchFamily="34" charset="0"/>
            <a:buChar char="•"/>
          </a:pPr>
          <a:r>
            <a:rPr lang="en-IN" sz="900"/>
            <a:t>Standardized financial and operational dimensions across systems</a:t>
          </a:r>
        </a:p>
      </dgm:t>
    </dgm:pt>
    <dgm:pt modelId="{E338105A-4ED1-4111-B041-55DE40427A5D}" type="parTrans" cxnId="{28FAF792-6B37-4432-B5E6-DD6C5663BAAD}">
      <dgm:prSet/>
      <dgm:spPr/>
      <dgm:t>
        <a:bodyPr/>
        <a:lstStyle/>
        <a:p>
          <a:endParaRPr lang="en-IN"/>
        </a:p>
      </dgm:t>
    </dgm:pt>
    <dgm:pt modelId="{4FC69996-84E7-477E-9DAB-7F8BFBD3A7C5}" type="sibTrans" cxnId="{28FAF792-6B37-4432-B5E6-DD6C5663BAAD}">
      <dgm:prSet/>
      <dgm:spPr/>
      <dgm:t>
        <a:bodyPr/>
        <a:lstStyle/>
        <a:p>
          <a:endParaRPr lang="en-IN"/>
        </a:p>
      </dgm:t>
    </dgm:pt>
    <dgm:pt modelId="{A5B64E96-5370-4CB3-A53A-CFAF78D8D3FF}">
      <dgm:prSet custT="1"/>
      <dgm:spPr/>
      <dgm:t>
        <a:bodyPr/>
        <a:lstStyle/>
        <a:p>
          <a:pPr>
            <a:buFont typeface="Arial" panose="020B0604020202020204" pitchFamily="34" charset="0"/>
            <a:buChar char="•"/>
          </a:pPr>
          <a:r>
            <a:rPr lang="en-IN" sz="900"/>
            <a:t>Established scalable semantic models for reporting consistency</a:t>
          </a:r>
        </a:p>
      </dgm:t>
    </dgm:pt>
    <dgm:pt modelId="{43287353-559B-462C-9D9C-E93C986AFE90}" type="parTrans" cxnId="{929823F2-EEF8-4027-B6E7-B9F47882EDB6}">
      <dgm:prSet/>
      <dgm:spPr/>
      <dgm:t>
        <a:bodyPr/>
        <a:lstStyle/>
        <a:p>
          <a:endParaRPr lang="en-IN"/>
        </a:p>
      </dgm:t>
    </dgm:pt>
    <dgm:pt modelId="{EDB3E0F0-BEFA-4619-A8F7-8F1A935A3947}" type="sibTrans" cxnId="{929823F2-EEF8-4027-B6E7-B9F47882EDB6}">
      <dgm:prSet/>
      <dgm:spPr/>
      <dgm:t>
        <a:bodyPr/>
        <a:lstStyle/>
        <a:p>
          <a:endParaRPr lang="en-IN"/>
        </a:p>
      </dgm:t>
    </dgm:pt>
    <dgm:pt modelId="{DC474A3B-CB80-41C4-B73A-5231946BD169}">
      <dgm:prSet/>
      <dgm:spPr/>
      <dgm:t>
        <a:bodyPr/>
        <a:lstStyle/>
        <a:p>
          <a:pPr>
            <a:buNone/>
          </a:pPr>
          <a:r>
            <a:rPr lang="en-IN" b="1"/>
            <a:t>Phase 3 – Business Use Case Enablement (Mar – Apr)</a:t>
          </a:r>
        </a:p>
      </dgm:t>
    </dgm:pt>
    <dgm:pt modelId="{7D668149-B43D-4D7B-8DF0-88DE96330F76}" type="parTrans" cxnId="{58A770C4-9C07-46C2-9C2A-14ED8570775E}">
      <dgm:prSet/>
      <dgm:spPr/>
      <dgm:t>
        <a:bodyPr/>
        <a:lstStyle/>
        <a:p>
          <a:endParaRPr lang="en-IN"/>
        </a:p>
      </dgm:t>
    </dgm:pt>
    <dgm:pt modelId="{3FBC7EB9-F337-4795-8C53-D332638899B6}" type="sibTrans" cxnId="{58A770C4-9C07-46C2-9C2A-14ED8570775E}">
      <dgm:prSet/>
      <dgm:spPr/>
      <dgm:t>
        <a:bodyPr/>
        <a:lstStyle/>
        <a:p>
          <a:endParaRPr lang="en-IN"/>
        </a:p>
      </dgm:t>
    </dgm:pt>
    <dgm:pt modelId="{37A6C1B2-253C-4046-90D0-8056BEEF0DE8}">
      <dgm:prSet/>
      <dgm:spPr/>
      <dgm:t>
        <a:bodyPr/>
        <a:lstStyle/>
        <a:p>
          <a:pPr>
            <a:buFont typeface="Arial" panose="020B0604020202020204" pitchFamily="34" charset="0"/>
            <a:buChar char="•"/>
          </a:pPr>
          <a:r>
            <a:rPr lang="en-IN"/>
            <a:t>Developed Consolidated Booking Report for unified revenue visibility</a:t>
          </a:r>
        </a:p>
      </dgm:t>
    </dgm:pt>
    <dgm:pt modelId="{E49ED570-4B20-4C96-8C79-E91318B5A1D2}" type="parTrans" cxnId="{D4EA3A95-05DE-4363-A43E-7B202F84A6C4}">
      <dgm:prSet/>
      <dgm:spPr/>
      <dgm:t>
        <a:bodyPr/>
        <a:lstStyle/>
        <a:p>
          <a:endParaRPr lang="en-IN"/>
        </a:p>
      </dgm:t>
    </dgm:pt>
    <dgm:pt modelId="{5EF55242-4C5F-4482-8B9C-6D1BCE773DCC}" type="sibTrans" cxnId="{D4EA3A95-05DE-4363-A43E-7B202F84A6C4}">
      <dgm:prSet/>
      <dgm:spPr/>
      <dgm:t>
        <a:bodyPr/>
        <a:lstStyle/>
        <a:p>
          <a:endParaRPr lang="en-IN"/>
        </a:p>
      </dgm:t>
    </dgm:pt>
    <dgm:pt modelId="{3755E213-B320-465C-9E70-5C7B97B3FF16}">
      <dgm:prSet/>
      <dgm:spPr/>
      <dgm:t>
        <a:bodyPr/>
        <a:lstStyle/>
        <a:p>
          <a:pPr>
            <a:buFont typeface="Arial" panose="020B0604020202020204" pitchFamily="34" charset="0"/>
            <a:buChar char="•"/>
          </a:pPr>
          <a:r>
            <a:rPr lang="en-IN"/>
            <a:t>Built Shipment &amp; Analyzer Base reports for operational and asset insights</a:t>
          </a:r>
        </a:p>
      </dgm:t>
    </dgm:pt>
    <dgm:pt modelId="{29926655-7433-4DD1-A86B-67076E7D8FFD}" type="parTrans" cxnId="{EBF5C6FD-78F3-4CC9-84C6-AF5E57C9CED4}">
      <dgm:prSet/>
      <dgm:spPr/>
      <dgm:t>
        <a:bodyPr/>
        <a:lstStyle/>
        <a:p>
          <a:endParaRPr lang="en-IN"/>
        </a:p>
      </dgm:t>
    </dgm:pt>
    <dgm:pt modelId="{2B671B5B-ECC5-4B61-9CC9-8F4E441025DB}" type="sibTrans" cxnId="{EBF5C6FD-78F3-4CC9-84C6-AF5E57C9CED4}">
      <dgm:prSet/>
      <dgm:spPr/>
      <dgm:t>
        <a:bodyPr/>
        <a:lstStyle/>
        <a:p>
          <a:endParaRPr lang="en-IN"/>
        </a:p>
      </dgm:t>
    </dgm:pt>
    <dgm:pt modelId="{C259F381-FC38-4EDB-A902-498A843E8BB2}">
      <dgm:prSet/>
      <dgm:spPr/>
      <dgm:t>
        <a:bodyPr/>
        <a:lstStyle/>
        <a:p>
          <a:pPr>
            <a:buFont typeface="Arial" panose="020B0604020202020204" pitchFamily="34" charset="0"/>
            <a:buChar char="•"/>
          </a:pPr>
          <a:r>
            <a:rPr lang="en-IN"/>
            <a:t>Enabled Sustainability reporting framework (ESG metrics)</a:t>
          </a:r>
        </a:p>
      </dgm:t>
    </dgm:pt>
    <dgm:pt modelId="{71091B13-7CCA-44EB-9EAC-7697684817F9}" type="parTrans" cxnId="{E093EA37-933E-4FBC-B164-91F268CEEF73}">
      <dgm:prSet/>
      <dgm:spPr/>
      <dgm:t>
        <a:bodyPr/>
        <a:lstStyle/>
        <a:p>
          <a:endParaRPr lang="en-IN"/>
        </a:p>
      </dgm:t>
    </dgm:pt>
    <dgm:pt modelId="{43D28F5F-CC4C-4EF9-B4FB-B4084B88AF6B}" type="sibTrans" cxnId="{E093EA37-933E-4FBC-B164-91F268CEEF73}">
      <dgm:prSet/>
      <dgm:spPr/>
      <dgm:t>
        <a:bodyPr/>
        <a:lstStyle/>
        <a:p>
          <a:endParaRPr lang="en-IN"/>
        </a:p>
      </dgm:t>
    </dgm:pt>
    <dgm:pt modelId="{586E6084-A420-4BC2-8B29-E22EA6B941B7}">
      <dgm:prSet/>
      <dgm:spPr/>
      <dgm:t>
        <a:bodyPr/>
        <a:lstStyle/>
        <a:p>
          <a:pPr>
            <a:buFont typeface="Arial" panose="020B0604020202020204" pitchFamily="34" charset="0"/>
            <a:buChar char="•"/>
          </a:pPr>
          <a:r>
            <a:rPr lang="en-IN"/>
            <a:t>Migrating legacy Power BI reports to real-time Fabric-based reporting</a:t>
          </a:r>
        </a:p>
      </dgm:t>
    </dgm:pt>
    <dgm:pt modelId="{C6B2C4EE-3D58-4329-AAE0-A69A6F5D61E7}" type="parTrans" cxnId="{2DCD685C-D806-454A-9A2A-D52F7050623B}">
      <dgm:prSet/>
      <dgm:spPr/>
      <dgm:t>
        <a:bodyPr/>
        <a:lstStyle/>
        <a:p>
          <a:endParaRPr lang="en-IN"/>
        </a:p>
      </dgm:t>
    </dgm:pt>
    <dgm:pt modelId="{4544D8E8-048C-419B-91B9-51BB71431CEC}" type="sibTrans" cxnId="{2DCD685C-D806-454A-9A2A-D52F7050623B}">
      <dgm:prSet/>
      <dgm:spPr/>
      <dgm:t>
        <a:bodyPr/>
        <a:lstStyle/>
        <a:p>
          <a:endParaRPr lang="en-IN"/>
        </a:p>
      </dgm:t>
    </dgm:pt>
    <dgm:pt modelId="{96D3569B-E106-4586-BA35-D2567E05D416}">
      <dgm:prSet/>
      <dgm:spPr/>
      <dgm:t>
        <a:bodyPr/>
        <a:lstStyle/>
        <a:p>
          <a:r>
            <a:rPr lang="en-IN" b="1"/>
            <a:t>Phase 1 – Foundation Setup (Dec – Jan)</a:t>
          </a:r>
        </a:p>
      </dgm:t>
    </dgm:pt>
    <dgm:pt modelId="{1FA1DAA0-68F9-4588-AEE2-9DCB23CE6FD8}" type="parTrans" cxnId="{1FDD2EFF-AF6A-46AF-A11A-34554E4F2319}">
      <dgm:prSet/>
      <dgm:spPr/>
      <dgm:t>
        <a:bodyPr/>
        <a:lstStyle/>
        <a:p>
          <a:endParaRPr lang="en-IN"/>
        </a:p>
      </dgm:t>
    </dgm:pt>
    <dgm:pt modelId="{BCD01DB7-F07A-4DAE-8AA9-81CE1DE3D182}" type="sibTrans" cxnId="{1FDD2EFF-AF6A-46AF-A11A-34554E4F2319}">
      <dgm:prSet/>
      <dgm:spPr/>
      <dgm:t>
        <a:bodyPr/>
        <a:lstStyle/>
        <a:p>
          <a:endParaRPr lang="en-IN"/>
        </a:p>
      </dgm:t>
    </dgm:pt>
    <dgm:pt modelId="{7F8DB8B6-4A9B-4A5A-831C-B1E3D3535F64}">
      <dgm:prSet/>
      <dgm:spPr/>
      <dgm:t>
        <a:bodyPr/>
        <a:lstStyle/>
        <a:p>
          <a:r>
            <a:rPr lang="en-IN"/>
            <a:t>Built centralized Fabric-based Lakehouse (One Lake)</a:t>
          </a:r>
        </a:p>
      </dgm:t>
    </dgm:pt>
    <dgm:pt modelId="{8B84DC59-6506-4B11-A838-D9F733571C84}" type="parTrans" cxnId="{4E8D9146-26BF-40C6-ACCB-CB8BDD1A72E3}">
      <dgm:prSet/>
      <dgm:spPr/>
      <dgm:t>
        <a:bodyPr/>
        <a:lstStyle/>
        <a:p>
          <a:endParaRPr lang="en-IN"/>
        </a:p>
      </dgm:t>
    </dgm:pt>
    <dgm:pt modelId="{81D3C5D9-B44F-427B-BCDF-DE75CCA98ECF}" type="sibTrans" cxnId="{4E8D9146-26BF-40C6-ACCB-CB8BDD1A72E3}">
      <dgm:prSet/>
      <dgm:spPr/>
      <dgm:t>
        <a:bodyPr/>
        <a:lstStyle/>
        <a:p>
          <a:endParaRPr lang="en-IN"/>
        </a:p>
      </dgm:t>
    </dgm:pt>
    <dgm:pt modelId="{F8625B2A-2FFD-4477-B991-B6212C9679ED}">
      <dgm:prSet/>
      <dgm:spPr/>
      <dgm:t>
        <a:bodyPr/>
        <a:lstStyle/>
        <a:p>
          <a:r>
            <a:rPr lang="en-IN"/>
            <a:t>Integrated enterprise data from Epicor, Salesforce, NetSuite, SAP, and other systems</a:t>
          </a:r>
        </a:p>
      </dgm:t>
    </dgm:pt>
    <dgm:pt modelId="{EC5EE762-8EB4-4BDC-8B82-CEC32A3D3D9F}" type="parTrans" cxnId="{0CB36FFB-CFF5-41D2-9FA7-58750D708767}">
      <dgm:prSet/>
      <dgm:spPr/>
      <dgm:t>
        <a:bodyPr/>
        <a:lstStyle/>
        <a:p>
          <a:endParaRPr lang="en-IN"/>
        </a:p>
      </dgm:t>
    </dgm:pt>
    <dgm:pt modelId="{44B3D171-8EB0-4E47-91ED-5029B991D552}" type="sibTrans" cxnId="{0CB36FFB-CFF5-41D2-9FA7-58750D708767}">
      <dgm:prSet/>
      <dgm:spPr/>
      <dgm:t>
        <a:bodyPr/>
        <a:lstStyle/>
        <a:p>
          <a:endParaRPr lang="en-IN"/>
        </a:p>
      </dgm:t>
    </dgm:pt>
    <dgm:pt modelId="{A54819DD-F428-40C5-91D8-CC3CF96D5557}">
      <dgm:prSet/>
      <dgm:spPr/>
      <dgm:t>
        <a:bodyPr/>
        <a:lstStyle/>
        <a:p>
          <a:r>
            <a:rPr lang="en-IN" b="1"/>
            <a:t>Phase 0 – Initial Phase (May – Dec)</a:t>
          </a:r>
        </a:p>
      </dgm:t>
    </dgm:pt>
    <dgm:pt modelId="{90F41753-144A-4949-A565-0EF19D7B8C1F}" type="parTrans" cxnId="{4F88ACE4-6978-4188-97F9-45852212682E}">
      <dgm:prSet/>
      <dgm:spPr/>
      <dgm:t>
        <a:bodyPr/>
        <a:lstStyle/>
        <a:p>
          <a:endParaRPr lang="en-IN"/>
        </a:p>
      </dgm:t>
    </dgm:pt>
    <dgm:pt modelId="{A9169EC3-14F9-42E6-96F5-2B8EF444B868}" type="sibTrans" cxnId="{4F88ACE4-6978-4188-97F9-45852212682E}">
      <dgm:prSet/>
      <dgm:spPr/>
      <dgm:t>
        <a:bodyPr/>
        <a:lstStyle/>
        <a:p>
          <a:endParaRPr lang="en-IN"/>
        </a:p>
      </dgm:t>
    </dgm:pt>
    <dgm:pt modelId="{832B777B-D959-4912-8957-466E5AE67176}">
      <dgm:prSet/>
      <dgm:spPr/>
      <dgm:t>
        <a:bodyPr/>
        <a:lstStyle/>
        <a:p>
          <a:r>
            <a:rPr lang="en-IN"/>
            <a:t>Support Activities to build AI Data Lake</a:t>
          </a:r>
        </a:p>
      </dgm:t>
    </dgm:pt>
    <dgm:pt modelId="{B96AC5F7-BF59-40F6-8EC5-7568E5E134A7}" type="parTrans" cxnId="{68D18C75-8095-438E-B610-9B65310EEFA2}">
      <dgm:prSet/>
      <dgm:spPr/>
      <dgm:t>
        <a:bodyPr/>
        <a:lstStyle/>
        <a:p>
          <a:endParaRPr lang="en-IN"/>
        </a:p>
      </dgm:t>
    </dgm:pt>
    <dgm:pt modelId="{E14E6EA6-3079-48DE-B542-36A649F43009}" type="sibTrans" cxnId="{68D18C75-8095-438E-B610-9B65310EEFA2}">
      <dgm:prSet/>
      <dgm:spPr/>
      <dgm:t>
        <a:bodyPr/>
        <a:lstStyle/>
        <a:p>
          <a:endParaRPr lang="en-IN"/>
        </a:p>
      </dgm:t>
    </dgm:pt>
    <dgm:pt modelId="{4B9D23AB-A539-48A5-BF15-9BDB606773C4}">
      <dgm:prSet/>
      <dgm:spPr/>
      <dgm:t>
        <a:bodyPr/>
        <a:lstStyle/>
        <a:p>
          <a:r>
            <a:rPr lang="en-IN"/>
            <a:t>Tenant to Tenant Migration from AI to Nova data Lake</a:t>
          </a:r>
        </a:p>
      </dgm:t>
    </dgm:pt>
    <dgm:pt modelId="{A4C73B4F-46BA-4D2A-8FBA-AC376BB837D9}" type="parTrans" cxnId="{A0891F61-03C2-4C15-9203-2364CBE5082D}">
      <dgm:prSet/>
      <dgm:spPr/>
      <dgm:t>
        <a:bodyPr/>
        <a:lstStyle/>
        <a:p>
          <a:endParaRPr lang="en-IN"/>
        </a:p>
      </dgm:t>
    </dgm:pt>
    <dgm:pt modelId="{FEF57132-1FC2-4A2E-9212-B4F54F9D13F9}" type="sibTrans" cxnId="{A0891F61-03C2-4C15-9203-2364CBE5082D}">
      <dgm:prSet/>
      <dgm:spPr/>
      <dgm:t>
        <a:bodyPr/>
        <a:lstStyle/>
        <a:p>
          <a:endParaRPr lang="en-IN"/>
        </a:p>
      </dgm:t>
    </dgm:pt>
    <dgm:pt modelId="{2B98F0EA-34CC-4D1D-A8F4-BCA96117172E}">
      <dgm:prSet/>
      <dgm:spPr/>
      <dgm:t>
        <a:bodyPr/>
        <a:lstStyle/>
        <a:p>
          <a:r>
            <a:rPr lang="en-IN"/>
            <a:t>Eliminated direct source reporting dependencies </a:t>
          </a:r>
        </a:p>
      </dgm:t>
    </dgm:pt>
    <dgm:pt modelId="{47CC436F-0E27-4829-A8CE-DC1C0B3AED7D}" type="parTrans" cxnId="{AC5F637B-ACC7-4E90-9F53-AD77C02A33FE}">
      <dgm:prSet/>
      <dgm:spPr/>
      <dgm:t>
        <a:bodyPr/>
        <a:lstStyle/>
        <a:p>
          <a:endParaRPr lang="en-IN"/>
        </a:p>
      </dgm:t>
    </dgm:pt>
    <dgm:pt modelId="{208397BF-B6FF-4F7F-9B71-B345796BE1FC}" type="sibTrans" cxnId="{AC5F637B-ACC7-4E90-9F53-AD77C02A33FE}">
      <dgm:prSet/>
      <dgm:spPr/>
      <dgm:t>
        <a:bodyPr/>
        <a:lstStyle/>
        <a:p>
          <a:endParaRPr lang="en-IN"/>
        </a:p>
      </dgm:t>
    </dgm:pt>
    <dgm:pt modelId="{9CD13A3D-CA88-4244-B257-3C1C5AD890EA}">
      <dgm:prSet/>
      <dgm:spPr/>
      <dgm:t>
        <a:bodyPr/>
        <a:lstStyle/>
        <a:p>
          <a:r>
            <a:rPr lang="en-IN"/>
            <a:t>Eliminated direct source reporting dependencies</a:t>
          </a:r>
        </a:p>
      </dgm:t>
    </dgm:pt>
    <dgm:pt modelId="{87235F25-65DE-46D5-94BB-5597D61DA227}" type="parTrans" cxnId="{F9FFF73C-4E9E-4C10-B959-C63A126917BD}">
      <dgm:prSet/>
      <dgm:spPr/>
      <dgm:t>
        <a:bodyPr/>
        <a:lstStyle/>
        <a:p>
          <a:endParaRPr lang="en-IN"/>
        </a:p>
      </dgm:t>
    </dgm:pt>
    <dgm:pt modelId="{1440C62A-E440-41F8-94AD-F4EE977F3A32}" type="sibTrans" cxnId="{F9FFF73C-4E9E-4C10-B959-C63A126917BD}">
      <dgm:prSet/>
      <dgm:spPr/>
      <dgm:t>
        <a:bodyPr/>
        <a:lstStyle/>
        <a:p>
          <a:endParaRPr lang="en-IN"/>
        </a:p>
      </dgm:t>
    </dgm:pt>
    <dgm:pt modelId="{74870C00-06B7-43BE-B165-DC8E5B36F2F6}" type="pres">
      <dgm:prSet presAssocID="{5F8345B0-1C7A-4853-B238-B517557FD73E}" presName="linearFlow" presStyleCnt="0">
        <dgm:presLayoutVars>
          <dgm:resizeHandles val="exact"/>
        </dgm:presLayoutVars>
      </dgm:prSet>
      <dgm:spPr/>
    </dgm:pt>
    <dgm:pt modelId="{1DE23E01-53B1-4D0D-BBE9-334518F9AD7D}" type="pres">
      <dgm:prSet presAssocID="{A54819DD-F428-40C5-91D8-CC3CF96D5557}" presName="node" presStyleLbl="node1" presStyleIdx="0" presStyleCnt="4">
        <dgm:presLayoutVars>
          <dgm:bulletEnabled val="1"/>
        </dgm:presLayoutVars>
      </dgm:prSet>
      <dgm:spPr/>
    </dgm:pt>
    <dgm:pt modelId="{51D6233D-3287-4838-9F91-3BD290B16EE5}" type="pres">
      <dgm:prSet presAssocID="{A9169EC3-14F9-42E6-96F5-2B8EF444B868}" presName="sibTrans" presStyleLbl="sibTrans2D1" presStyleIdx="0" presStyleCnt="3"/>
      <dgm:spPr/>
    </dgm:pt>
    <dgm:pt modelId="{4C748A9D-D94C-4424-B443-689286F6A2F9}" type="pres">
      <dgm:prSet presAssocID="{A9169EC3-14F9-42E6-96F5-2B8EF444B868}" presName="connectorText" presStyleLbl="sibTrans2D1" presStyleIdx="0" presStyleCnt="3"/>
      <dgm:spPr/>
    </dgm:pt>
    <dgm:pt modelId="{BE37C61C-7C5B-49FB-AAA0-E833D5DAF882}" type="pres">
      <dgm:prSet presAssocID="{96D3569B-E106-4586-BA35-D2567E05D416}" presName="node" presStyleLbl="node1" presStyleIdx="1" presStyleCnt="4">
        <dgm:presLayoutVars>
          <dgm:bulletEnabled val="1"/>
        </dgm:presLayoutVars>
      </dgm:prSet>
      <dgm:spPr/>
    </dgm:pt>
    <dgm:pt modelId="{65DB3CE6-3285-4527-B2C7-9D588A6E95AB}" type="pres">
      <dgm:prSet presAssocID="{BCD01DB7-F07A-4DAE-8AA9-81CE1DE3D182}" presName="sibTrans" presStyleLbl="sibTrans2D1" presStyleIdx="1" presStyleCnt="3"/>
      <dgm:spPr/>
    </dgm:pt>
    <dgm:pt modelId="{CA6E3A24-1BB1-4962-9DE1-309C34AC0825}" type="pres">
      <dgm:prSet presAssocID="{BCD01DB7-F07A-4DAE-8AA9-81CE1DE3D182}" presName="connectorText" presStyleLbl="sibTrans2D1" presStyleIdx="1" presStyleCnt="3"/>
      <dgm:spPr/>
    </dgm:pt>
    <dgm:pt modelId="{AE4D34CF-72E9-4AE2-BC30-B4C56E0992E3}" type="pres">
      <dgm:prSet presAssocID="{DC51C2A8-5503-4314-92DC-AB0261944ED2}" presName="node" presStyleLbl="node1" presStyleIdx="2" presStyleCnt="4">
        <dgm:presLayoutVars>
          <dgm:bulletEnabled val="1"/>
        </dgm:presLayoutVars>
      </dgm:prSet>
      <dgm:spPr/>
    </dgm:pt>
    <dgm:pt modelId="{7BBE4845-0832-44E9-9ED9-7FC8A1123EC5}" type="pres">
      <dgm:prSet presAssocID="{4BD694F2-9202-428F-9E9D-041AE88F3229}" presName="sibTrans" presStyleLbl="sibTrans2D1" presStyleIdx="2" presStyleCnt="3"/>
      <dgm:spPr/>
    </dgm:pt>
    <dgm:pt modelId="{47938740-210A-4290-8B5B-AF7DDAB346F8}" type="pres">
      <dgm:prSet presAssocID="{4BD694F2-9202-428F-9E9D-041AE88F3229}" presName="connectorText" presStyleLbl="sibTrans2D1" presStyleIdx="2" presStyleCnt="3"/>
      <dgm:spPr/>
    </dgm:pt>
    <dgm:pt modelId="{D56B193C-EC05-40B4-9845-8464ABA8276E}" type="pres">
      <dgm:prSet presAssocID="{DC474A3B-CB80-41C4-B73A-5231946BD169}" presName="node" presStyleLbl="node1" presStyleIdx="3" presStyleCnt="4">
        <dgm:presLayoutVars>
          <dgm:bulletEnabled val="1"/>
        </dgm:presLayoutVars>
      </dgm:prSet>
      <dgm:spPr/>
    </dgm:pt>
  </dgm:ptLst>
  <dgm:cxnLst>
    <dgm:cxn modelId="{7B44C404-A620-4694-84BE-538E1436F7B7}" type="presOf" srcId="{5F8345B0-1C7A-4853-B238-B517557FD73E}" destId="{74870C00-06B7-43BE-B165-DC8E5B36F2F6}" srcOrd="0" destOrd="0" presId="urn:microsoft.com/office/officeart/2005/8/layout/process2"/>
    <dgm:cxn modelId="{6089EC05-75DF-48DF-9B07-ACC82752F448}" type="presOf" srcId="{4BD694F2-9202-428F-9E9D-041AE88F3229}" destId="{7BBE4845-0832-44E9-9ED9-7FC8A1123EC5}" srcOrd="0" destOrd="0" presId="urn:microsoft.com/office/officeart/2005/8/layout/process2"/>
    <dgm:cxn modelId="{A965F221-070C-4BE6-9EBF-0E2EE7AFF8A6}" srcId="{DC51C2A8-5503-4314-92DC-AB0261944ED2}" destId="{68F82977-EF7C-4AA9-9354-662F8476808B}" srcOrd="0" destOrd="0" parTransId="{CE70A3E2-C390-46E6-80E2-AD378A973A46}" sibTransId="{736EAA5A-C3F1-4B5C-8B0E-867724FD91C9}"/>
    <dgm:cxn modelId="{74F2B629-457D-40B2-834D-99FA2F871156}" type="presOf" srcId="{DC51C2A8-5503-4314-92DC-AB0261944ED2}" destId="{AE4D34CF-72E9-4AE2-BC30-B4C56E0992E3}" srcOrd="0" destOrd="0" presId="urn:microsoft.com/office/officeart/2005/8/layout/process2"/>
    <dgm:cxn modelId="{5892A42A-92EF-416B-8788-A428AF8ADAB9}" type="presOf" srcId="{832B777B-D959-4912-8957-466E5AE67176}" destId="{1DE23E01-53B1-4D0D-BBE9-334518F9AD7D}" srcOrd="0" destOrd="1" presId="urn:microsoft.com/office/officeart/2005/8/layout/process2"/>
    <dgm:cxn modelId="{5C926732-4F6E-4D6C-B8E0-EC7E8BB172ED}" type="presOf" srcId="{A9169EC3-14F9-42E6-96F5-2B8EF444B868}" destId="{4C748A9D-D94C-4424-B443-689286F6A2F9}" srcOrd="1" destOrd="0" presId="urn:microsoft.com/office/officeart/2005/8/layout/process2"/>
    <dgm:cxn modelId="{E093EA37-933E-4FBC-B164-91F268CEEF73}" srcId="{DC474A3B-CB80-41C4-B73A-5231946BD169}" destId="{C259F381-FC38-4EDB-A902-498A843E8BB2}" srcOrd="2" destOrd="0" parTransId="{71091B13-7CCA-44EB-9EAC-7697684817F9}" sibTransId="{43D28F5F-CC4C-4EF9-B4FB-B4084B88AF6B}"/>
    <dgm:cxn modelId="{F9FFF73C-4E9E-4C10-B959-C63A126917BD}" srcId="{96D3569B-E106-4586-BA35-D2567E05D416}" destId="{9CD13A3D-CA88-4244-B257-3C1C5AD890EA}" srcOrd="2" destOrd="0" parTransId="{87235F25-65DE-46D5-94BB-5597D61DA227}" sibTransId="{1440C62A-E440-41F8-94AD-F4EE977F3A32}"/>
    <dgm:cxn modelId="{2DCD685C-D806-454A-9A2A-D52F7050623B}" srcId="{DC474A3B-CB80-41C4-B73A-5231946BD169}" destId="{586E6084-A420-4BC2-8B29-E22EA6B941B7}" srcOrd="3" destOrd="0" parTransId="{C6B2C4EE-3D58-4329-AAE0-A69A6F5D61E7}" sibTransId="{4544D8E8-048C-419B-91B9-51BB71431CEC}"/>
    <dgm:cxn modelId="{B654735F-4506-449D-8ACA-6423A8E1F5F2}" type="presOf" srcId="{586E6084-A420-4BC2-8B29-E22EA6B941B7}" destId="{D56B193C-EC05-40B4-9845-8464ABA8276E}" srcOrd="0" destOrd="4" presId="urn:microsoft.com/office/officeart/2005/8/layout/process2"/>
    <dgm:cxn modelId="{A0891F61-03C2-4C15-9203-2364CBE5082D}" srcId="{A54819DD-F428-40C5-91D8-CC3CF96D5557}" destId="{4B9D23AB-A539-48A5-BF15-9BDB606773C4}" srcOrd="1" destOrd="0" parTransId="{A4C73B4F-46BA-4D2A-8FBA-AC376BB837D9}" sibTransId="{FEF57132-1FC2-4A2E-9212-B4F54F9D13F9}"/>
    <dgm:cxn modelId="{C13E4562-E182-4727-8350-568B83849BB6}" type="presOf" srcId="{37A6C1B2-253C-4046-90D0-8056BEEF0DE8}" destId="{D56B193C-EC05-40B4-9845-8464ABA8276E}" srcOrd="0" destOrd="1" presId="urn:microsoft.com/office/officeart/2005/8/layout/process2"/>
    <dgm:cxn modelId="{4E8D9146-26BF-40C6-ACCB-CB8BDD1A72E3}" srcId="{96D3569B-E106-4586-BA35-D2567E05D416}" destId="{7F8DB8B6-4A9B-4A5A-831C-B1E3D3535F64}" srcOrd="0" destOrd="0" parTransId="{8B84DC59-6506-4B11-A838-D9F733571C84}" sibTransId="{81D3C5D9-B44F-427B-BCDF-DE75CCA98ECF}"/>
    <dgm:cxn modelId="{CF52AC6C-0778-4AF9-A8AC-6F7B1E9151A9}" type="presOf" srcId="{A9169EC3-14F9-42E6-96F5-2B8EF444B868}" destId="{51D6233D-3287-4838-9F91-3BD290B16EE5}" srcOrd="0" destOrd="0" presId="urn:microsoft.com/office/officeart/2005/8/layout/process2"/>
    <dgm:cxn modelId="{E2ABE151-2EB8-4D5F-BBE0-3C5C34983768}" type="presOf" srcId="{7F8DB8B6-4A9B-4A5A-831C-B1E3D3535F64}" destId="{BE37C61C-7C5B-49FB-AAA0-E833D5DAF882}" srcOrd="0" destOrd="1" presId="urn:microsoft.com/office/officeart/2005/8/layout/process2"/>
    <dgm:cxn modelId="{68D18C75-8095-438E-B610-9B65310EEFA2}" srcId="{A54819DD-F428-40C5-91D8-CC3CF96D5557}" destId="{832B777B-D959-4912-8957-466E5AE67176}" srcOrd="0" destOrd="0" parTransId="{B96AC5F7-BF59-40F6-8EC5-7568E5E134A7}" sibTransId="{E14E6EA6-3079-48DE-B542-36A649F43009}"/>
    <dgm:cxn modelId="{229F5E57-0428-4E4E-938F-3E4F3480F762}" type="presOf" srcId="{C259F381-FC38-4EDB-A902-498A843E8BB2}" destId="{D56B193C-EC05-40B4-9845-8464ABA8276E}" srcOrd="0" destOrd="3" presId="urn:microsoft.com/office/officeart/2005/8/layout/process2"/>
    <dgm:cxn modelId="{B8E9E079-62DA-41C5-B1A2-EFFB00A91EF1}" type="presOf" srcId="{A5B64E96-5370-4CB3-A53A-CFAF78D8D3FF}" destId="{AE4D34CF-72E9-4AE2-BC30-B4C56E0992E3}" srcOrd="0" destOrd="3" presId="urn:microsoft.com/office/officeart/2005/8/layout/process2"/>
    <dgm:cxn modelId="{BC4BE759-70D1-4B96-A278-6F336DCE4BD7}" type="presOf" srcId="{4BD694F2-9202-428F-9E9D-041AE88F3229}" destId="{47938740-210A-4290-8B5B-AF7DDAB346F8}" srcOrd="1" destOrd="0" presId="urn:microsoft.com/office/officeart/2005/8/layout/process2"/>
    <dgm:cxn modelId="{761F425A-5D35-4029-876D-87CF02F798BE}" type="presOf" srcId="{BCD01DB7-F07A-4DAE-8AA9-81CE1DE3D182}" destId="{65DB3CE6-3285-4527-B2C7-9D588A6E95AB}" srcOrd="0" destOrd="0" presId="urn:microsoft.com/office/officeart/2005/8/layout/process2"/>
    <dgm:cxn modelId="{AC5F637B-ACC7-4E90-9F53-AD77C02A33FE}" srcId="{A54819DD-F428-40C5-91D8-CC3CF96D5557}" destId="{2B98F0EA-34CC-4D1D-A8F4-BCA96117172E}" srcOrd="2" destOrd="0" parTransId="{47CC436F-0E27-4829-A8CE-DC1C0B3AED7D}" sibTransId="{208397BF-B6FF-4F7F-9B71-B345796BE1FC}"/>
    <dgm:cxn modelId="{746C2781-7ACE-488B-8449-504260DAFF97}" type="presOf" srcId="{F8625B2A-2FFD-4477-B991-B6212C9679ED}" destId="{BE37C61C-7C5B-49FB-AAA0-E833D5DAF882}" srcOrd="0" destOrd="2" presId="urn:microsoft.com/office/officeart/2005/8/layout/process2"/>
    <dgm:cxn modelId="{28FAF792-6B37-4432-B5E6-DD6C5663BAAD}" srcId="{DC51C2A8-5503-4314-92DC-AB0261944ED2}" destId="{226CB63F-53F5-429B-8996-C7CA809DBA82}" srcOrd="1" destOrd="0" parTransId="{E338105A-4ED1-4111-B041-55DE40427A5D}" sibTransId="{4FC69996-84E7-477E-9DAB-7F8BFBD3A7C5}"/>
    <dgm:cxn modelId="{D4EA3A95-05DE-4363-A43E-7B202F84A6C4}" srcId="{DC474A3B-CB80-41C4-B73A-5231946BD169}" destId="{37A6C1B2-253C-4046-90D0-8056BEEF0DE8}" srcOrd="0" destOrd="0" parTransId="{E49ED570-4B20-4C96-8C79-E91318B5A1D2}" sibTransId="{5EF55242-4C5F-4482-8B9C-6D1BCE773DCC}"/>
    <dgm:cxn modelId="{3096C798-6D2A-48FA-A40B-7EA7EC17FFEA}" type="presOf" srcId="{3755E213-B320-465C-9E70-5C7B97B3FF16}" destId="{D56B193C-EC05-40B4-9845-8464ABA8276E}" srcOrd="0" destOrd="2" presId="urn:microsoft.com/office/officeart/2005/8/layout/process2"/>
    <dgm:cxn modelId="{3516DBA2-655C-421D-8C9F-BA9D42333064}" type="presOf" srcId="{4B9D23AB-A539-48A5-BF15-9BDB606773C4}" destId="{1DE23E01-53B1-4D0D-BBE9-334518F9AD7D}" srcOrd="0" destOrd="2" presId="urn:microsoft.com/office/officeart/2005/8/layout/process2"/>
    <dgm:cxn modelId="{799E5BAF-B05D-450E-B732-2463DDDFB697}" type="presOf" srcId="{BCD01DB7-F07A-4DAE-8AA9-81CE1DE3D182}" destId="{CA6E3A24-1BB1-4962-9DE1-309C34AC0825}" srcOrd="1" destOrd="0" presId="urn:microsoft.com/office/officeart/2005/8/layout/process2"/>
    <dgm:cxn modelId="{C71D1DB9-1842-4C07-8140-1203D1C2AAAC}" type="presOf" srcId="{2B98F0EA-34CC-4D1D-A8F4-BCA96117172E}" destId="{1DE23E01-53B1-4D0D-BBE9-334518F9AD7D}" srcOrd="0" destOrd="3" presId="urn:microsoft.com/office/officeart/2005/8/layout/process2"/>
    <dgm:cxn modelId="{FD78A3C3-A672-42F7-A940-AA1816940393}" type="presOf" srcId="{68F82977-EF7C-4AA9-9354-662F8476808B}" destId="{AE4D34CF-72E9-4AE2-BC30-B4C56E0992E3}" srcOrd="0" destOrd="1" presId="urn:microsoft.com/office/officeart/2005/8/layout/process2"/>
    <dgm:cxn modelId="{58A770C4-9C07-46C2-9C2A-14ED8570775E}" srcId="{5F8345B0-1C7A-4853-B238-B517557FD73E}" destId="{DC474A3B-CB80-41C4-B73A-5231946BD169}" srcOrd="3" destOrd="0" parTransId="{7D668149-B43D-4D7B-8DF0-88DE96330F76}" sibTransId="{3FBC7EB9-F337-4795-8C53-D332638899B6}"/>
    <dgm:cxn modelId="{FC3C67C8-1426-4522-92B1-90A7BDA4D2E6}" type="presOf" srcId="{DC474A3B-CB80-41C4-B73A-5231946BD169}" destId="{D56B193C-EC05-40B4-9845-8464ABA8276E}" srcOrd="0" destOrd="0" presId="urn:microsoft.com/office/officeart/2005/8/layout/process2"/>
    <dgm:cxn modelId="{B140BACB-6F65-4223-8039-FB4187D6C98C}" type="presOf" srcId="{A54819DD-F428-40C5-91D8-CC3CF96D5557}" destId="{1DE23E01-53B1-4D0D-BBE9-334518F9AD7D}" srcOrd="0" destOrd="0" presId="urn:microsoft.com/office/officeart/2005/8/layout/process2"/>
    <dgm:cxn modelId="{0D175DD1-C649-438E-81FF-B3667E677432}" type="presOf" srcId="{96D3569B-E106-4586-BA35-D2567E05D416}" destId="{BE37C61C-7C5B-49FB-AAA0-E833D5DAF882}" srcOrd="0" destOrd="0" presId="urn:microsoft.com/office/officeart/2005/8/layout/process2"/>
    <dgm:cxn modelId="{90C6F8DE-1946-48A9-968C-C66FD591DD11}" srcId="{5F8345B0-1C7A-4853-B238-B517557FD73E}" destId="{DC51C2A8-5503-4314-92DC-AB0261944ED2}" srcOrd="2" destOrd="0" parTransId="{87562CA0-66E6-4A17-B88B-363518870C26}" sibTransId="{4BD694F2-9202-428F-9E9D-041AE88F3229}"/>
    <dgm:cxn modelId="{4F88ACE4-6978-4188-97F9-45852212682E}" srcId="{5F8345B0-1C7A-4853-B238-B517557FD73E}" destId="{A54819DD-F428-40C5-91D8-CC3CF96D5557}" srcOrd="0" destOrd="0" parTransId="{90F41753-144A-4949-A565-0EF19D7B8C1F}" sibTransId="{A9169EC3-14F9-42E6-96F5-2B8EF444B868}"/>
    <dgm:cxn modelId="{929823F2-EEF8-4027-B6E7-B9F47882EDB6}" srcId="{DC51C2A8-5503-4314-92DC-AB0261944ED2}" destId="{A5B64E96-5370-4CB3-A53A-CFAF78D8D3FF}" srcOrd="2" destOrd="0" parTransId="{43287353-559B-462C-9D9C-E93C986AFE90}" sibTransId="{EDB3E0F0-BEFA-4619-A8F7-8F1A935A3947}"/>
    <dgm:cxn modelId="{D18A8FF3-B2F2-4191-B4BD-2DE4207BD3DB}" type="presOf" srcId="{226CB63F-53F5-429B-8996-C7CA809DBA82}" destId="{AE4D34CF-72E9-4AE2-BC30-B4C56E0992E3}" srcOrd="0" destOrd="2" presId="urn:microsoft.com/office/officeart/2005/8/layout/process2"/>
    <dgm:cxn modelId="{0CB36FFB-CFF5-41D2-9FA7-58750D708767}" srcId="{96D3569B-E106-4586-BA35-D2567E05D416}" destId="{F8625B2A-2FFD-4477-B991-B6212C9679ED}" srcOrd="1" destOrd="0" parTransId="{EC5EE762-8EB4-4BDC-8B82-CEC32A3D3D9F}" sibTransId="{44B3D171-8EB0-4E47-91ED-5029B991D552}"/>
    <dgm:cxn modelId="{EBF5C6FD-78F3-4CC9-84C6-AF5E57C9CED4}" srcId="{DC474A3B-CB80-41C4-B73A-5231946BD169}" destId="{3755E213-B320-465C-9E70-5C7B97B3FF16}" srcOrd="1" destOrd="0" parTransId="{29926655-7433-4DD1-A86B-67076E7D8FFD}" sibTransId="{2B671B5B-ECC5-4B61-9CC9-8F4E441025DB}"/>
    <dgm:cxn modelId="{1FDD2EFF-AF6A-46AF-A11A-34554E4F2319}" srcId="{5F8345B0-1C7A-4853-B238-B517557FD73E}" destId="{96D3569B-E106-4586-BA35-D2567E05D416}" srcOrd="1" destOrd="0" parTransId="{1FA1DAA0-68F9-4588-AEE2-9DCB23CE6FD8}" sibTransId="{BCD01DB7-F07A-4DAE-8AA9-81CE1DE3D182}"/>
    <dgm:cxn modelId="{1A96E0FF-70E3-4C53-950B-E2BE172DCF09}" type="presOf" srcId="{9CD13A3D-CA88-4244-B257-3C1C5AD890EA}" destId="{BE37C61C-7C5B-49FB-AAA0-E833D5DAF882}" srcOrd="0" destOrd="3" presId="urn:microsoft.com/office/officeart/2005/8/layout/process2"/>
    <dgm:cxn modelId="{F4B86F89-6658-4345-A18D-B8CB60DB661B}" type="presParOf" srcId="{74870C00-06B7-43BE-B165-DC8E5B36F2F6}" destId="{1DE23E01-53B1-4D0D-BBE9-334518F9AD7D}" srcOrd="0" destOrd="0" presId="urn:microsoft.com/office/officeart/2005/8/layout/process2"/>
    <dgm:cxn modelId="{48256958-24FA-4898-906F-35953418ABB7}" type="presParOf" srcId="{74870C00-06B7-43BE-B165-DC8E5B36F2F6}" destId="{51D6233D-3287-4838-9F91-3BD290B16EE5}" srcOrd="1" destOrd="0" presId="urn:microsoft.com/office/officeart/2005/8/layout/process2"/>
    <dgm:cxn modelId="{B315C854-9533-4B62-B766-B1499E8C09C8}" type="presParOf" srcId="{51D6233D-3287-4838-9F91-3BD290B16EE5}" destId="{4C748A9D-D94C-4424-B443-689286F6A2F9}" srcOrd="0" destOrd="0" presId="urn:microsoft.com/office/officeart/2005/8/layout/process2"/>
    <dgm:cxn modelId="{2452D8B9-1C6E-4C70-97B6-2FA7D0F54FE8}" type="presParOf" srcId="{74870C00-06B7-43BE-B165-DC8E5B36F2F6}" destId="{BE37C61C-7C5B-49FB-AAA0-E833D5DAF882}" srcOrd="2" destOrd="0" presId="urn:microsoft.com/office/officeart/2005/8/layout/process2"/>
    <dgm:cxn modelId="{18B45895-358A-4A07-A721-35A09B57A6ED}" type="presParOf" srcId="{74870C00-06B7-43BE-B165-DC8E5B36F2F6}" destId="{65DB3CE6-3285-4527-B2C7-9D588A6E95AB}" srcOrd="3" destOrd="0" presId="urn:microsoft.com/office/officeart/2005/8/layout/process2"/>
    <dgm:cxn modelId="{CDE8BFB6-2FDD-43CB-84E3-F2E0E87CF721}" type="presParOf" srcId="{65DB3CE6-3285-4527-B2C7-9D588A6E95AB}" destId="{CA6E3A24-1BB1-4962-9DE1-309C34AC0825}" srcOrd="0" destOrd="0" presId="urn:microsoft.com/office/officeart/2005/8/layout/process2"/>
    <dgm:cxn modelId="{BB5A25F9-7088-4E19-A522-38115B00549D}" type="presParOf" srcId="{74870C00-06B7-43BE-B165-DC8E5B36F2F6}" destId="{AE4D34CF-72E9-4AE2-BC30-B4C56E0992E3}" srcOrd="4" destOrd="0" presId="urn:microsoft.com/office/officeart/2005/8/layout/process2"/>
    <dgm:cxn modelId="{15341F39-217B-4E6C-BB63-25450B50A3D9}" type="presParOf" srcId="{74870C00-06B7-43BE-B165-DC8E5B36F2F6}" destId="{7BBE4845-0832-44E9-9ED9-7FC8A1123EC5}" srcOrd="5" destOrd="0" presId="urn:microsoft.com/office/officeart/2005/8/layout/process2"/>
    <dgm:cxn modelId="{74806500-2A1C-4393-BDA2-A2F3CF6E24B1}" type="presParOf" srcId="{7BBE4845-0832-44E9-9ED9-7FC8A1123EC5}" destId="{47938740-210A-4290-8B5B-AF7DDAB346F8}" srcOrd="0" destOrd="0" presId="urn:microsoft.com/office/officeart/2005/8/layout/process2"/>
    <dgm:cxn modelId="{95E4B63B-B05E-406B-BBBC-6BC69B44E643}" type="presParOf" srcId="{74870C00-06B7-43BE-B165-DC8E5B36F2F6}" destId="{D56B193C-EC05-40B4-9845-8464ABA8276E}"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DA9A74-2CC2-42E5-9A34-787AC5C50837}">
      <dsp:nvSpPr>
        <dsp:cNvPr id="0" name=""/>
        <dsp:cNvSpPr/>
      </dsp:nvSpPr>
      <dsp:spPr>
        <a:xfrm>
          <a:off x="206433" y="0"/>
          <a:ext cx="1645919" cy="91439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a:latin typeface="Calibri" panose="020F0502020204030204"/>
            </a:rPr>
            <a:t>Technical Team</a:t>
          </a:r>
          <a:endParaRPr lang="en-US" sz="1800" b="1" kern="1200"/>
        </a:p>
      </dsp:txBody>
      <dsp:txXfrm>
        <a:off x="233215" y="26782"/>
        <a:ext cx="1592355" cy="860835"/>
      </dsp:txXfrm>
    </dsp:sp>
    <dsp:sp modelId="{2F3F86FD-0A2A-4E9A-A864-56C4FF3A4080}">
      <dsp:nvSpPr>
        <dsp:cNvPr id="0" name=""/>
        <dsp:cNvSpPr/>
      </dsp:nvSpPr>
      <dsp:spPr>
        <a:xfrm rot="5400000">
          <a:off x="857943" y="937260"/>
          <a:ext cx="342899" cy="411479"/>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5400000">
        <a:off x="905949" y="971550"/>
        <a:ext cx="246887" cy="240029"/>
      </dsp:txXfrm>
    </dsp:sp>
    <dsp:sp modelId="{2166222E-D09A-4620-AF42-6BCBAF39FCB7}">
      <dsp:nvSpPr>
        <dsp:cNvPr id="0" name=""/>
        <dsp:cNvSpPr/>
      </dsp:nvSpPr>
      <dsp:spPr>
        <a:xfrm>
          <a:off x="206433" y="1371600"/>
          <a:ext cx="1645919" cy="91439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kern="1200">
              <a:latin typeface="Calibri" panose="020F0502020204030204"/>
            </a:rPr>
            <a:t>Delivery Manager</a:t>
          </a:r>
          <a:endParaRPr lang="en-US" sz="1600" b="1" kern="1200"/>
        </a:p>
      </dsp:txBody>
      <dsp:txXfrm>
        <a:off x="233215" y="1398382"/>
        <a:ext cx="1592355" cy="860835"/>
      </dsp:txXfrm>
    </dsp:sp>
    <dsp:sp modelId="{35454EEE-9E0D-4292-BDC7-5F927045E79C}">
      <dsp:nvSpPr>
        <dsp:cNvPr id="0" name=""/>
        <dsp:cNvSpPr/>
      </dsp:nvSpPr>
      <dsp:spPr>
        <a:xfrm rot="5400000">
          <a:off x="857943" y="2308859"/>
          <a:ext cx="342899" cy="411479"/>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5400000">
        <a:off x="905949" y="2343149"/>
        <a:ext cx="246887" cy="240029"/>
      </dsp:txXfrm>
    </dsp:sp>
    <dsp:sp modelId="{0384D156-41B6-46B2-8B47-EFCC5CD1F664}">
      <dsp:nvSpPr>
        <dsp:cNvPr id="0" name=""/>
        <dsp:cNvSpPr/>
      </dsp:nvSpPr>
      <dsp:spPr>
        <a:xfrm>
          <a:off x="206433" y="2743199"/>
          <a:ext cx="1645919" cy="91439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a:latin typeface="Calibri" panose="020F0502020204030204"/>
            </a:rPr>
            <a:t>Program</a:t>
          </a:r>
          <a:br>
            <a:rPr lang="en-US" sz="1800" b="1" kern="1200">
              <a:latin typeface="Calibri" panose="020F0502020204030204"/>
            </a:rPr>
          </a:br>
          <a:r>
            <a:rPr lang="en-US" sz="1800" b="1" kern="1200">
              <a:latin typeface="Calibri" panose="020F0502020204030204"/>
            </a:rPr>
            <a:t>Manager</a:t>
          </a:r>
          <a:endParaRPr lang="en-US" sz="1800" b="1" kern="1200"/>
        </a:p>
      </dsp:txBody>
      <dsp:txXfrm>
        <a:off x="233215" y="2769981"/>
        <a:ext cx="1592355" cy="8608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C29DE-54D1-43D5-9767-B5EAED7F2904}">
      <dsp:nvSpPr>
        <dsp:cNvPr id="0" name=""/>
        <dsp:cNvSpPr/>
      </dsp:nvSpPr>
      <dsp:spPr>
        <a:xfrm>
          <a:off x="2351" y="134434"/>
          <a:ext cx="2359322" cy="943729"/>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678" tIns="45339" rIns="22670" bIns="45339" numCol="1" spcCol="1270" anchor="ctr" anchorCtr="0">
          <a:noAutofit/>
        </a:bodyPr>
        <a:lstStyle/>
        <a:p>
          <a:pPr marL="0" lvl="0" indent="0" algn="ctr" defTabSz="755650">
            <a:lnSpc>
              <a:spcPct val="90000"/>
            </a:lnSpc>
            <a:spcBef>
              <a:spcPct val="0"/>
            </a:spcBef>
            <a:spcAft>
              <a:spcPct val="35000"/>
            </a:spcAft>
            <a:buNone/>
          </a:pPr>
          <a:r>
            <a:rPr lang="en-IN" sz="1700" kern="1200"/>
            <a:t>Sales (Booking)</a:t>
          </a:r>
        </a:p>
      </dsp:txBody>
      <dsp:txXfrm>
        <a:off x="2351" y="134434"/>
        <a:ext cx="2123390" cy="943729"/>
      </dsp:txXfrm>
    </dsp:sp>
    <dsp:sp modelId="{A9FF69D0-BB49-49FD-94F9-DDF73AEB8229}">
      <dsp:nvSpPr>
        <dsp:cNvPr id="0" name=""/>
        <dsp:cNvSpPr/>
      </dsp:nvSpPr>
      <dsp:spPr>
        <a:xfrm>
          <a:off x="1889809" y="134434"/>
          <a:ext cx="2359322" cy="943729"/>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45339" rIns="22670" bIns="45339" numCol="1" spcCol="1270" anchor="ctr" anchorCtr="0">
          <a:noAutofit/>
        </a:bodyPr>
        <a:lstStyle/>
        <a:p>
          <a:pPr marL="0" lvl="0" indent="0" algn="ctr" defTabSz="755650">
            <a:lnSpc>
              <a:spcPct val="90000"/>
            </a:lnSpc>
            <a:spcBef>
              <a:spcPct val="0"/>
            </a:spcBef>
            <a:spcAft>
              <a:spcPct val="35000"/>
            </a:spcAft>
            <a:buNone/>
          </a:pPr>
          <a:r>
            <a:rPr lang="en-IN" sz="1700" kern="1200"/>
            <a:t>Operations</a:t>
          </a:r>
          <a:br>
            <a:rPr lang="en-IN" sz="1700" kern="1200"/>
          </a:br>
          <a:r>
            <a:rPr lang="en-IN" sz="1700" kern="1200"/>
            <a:t>(Shipments)</a:t>
          </a:r>
        </a:p>
      </dsp:txBody>
      <dsp:txXfrm>
        <a:off x="2361674" y="134434"/>
        <a:ext cx="1415593" cy="943729"/>
      </dsp:txXfrm>
    </dsp:sp>
    <dsp:sp modelId="{3BCC2A65-D43F-4FA2-AC97-FD3F5D712C5E}">
      <dsp:nvSpPr>
        <dsp:cNvPr id="0" name=""/>
        <dsp:cNvSpPr/>
      </dsp:nvSpPr>
      <dsp:spPr>
        <a:xfrm>
          <a:off x="3777268" y="134434"/>
          <a:ext cx="2359322" cy="943729"/>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45339" rIns="22670" bIns="45339" numCol="1" spcCol="1270" anchor="ctr" anchorCtr="0">
          <a:noAutofit/>
        </a:bodyPr>
        <a:lstStyle/>
        <a:p>
          <a:pPr marL="0" lvl="0" indent="0" algn="ctr" defTabSz="755650">
            <a:lnSpc>
              <a:spcPct val="90000"/>
            </a:lnSpc>
            <a:spcBef>
              <a:spcPct val="0"/>
            </a:spcBef>
            <a:spcAft>
              <a:spcPct val="35000"/>
            </a:spcAft>
            <a:buNone/>
          </a:pPr>
          <a:r>
            <a:rPr lang="en-IN" sz="1700" kern="1200"/>
            <a:t>Finance</a:t>
          </a:r>
        </a:p>
        <a:p>
          <a:pPr marL="0" lvl="0" indent="0" algn="ctr" defTabSz="755650">
            <a:lnSpc>
              <a:spcPct val="90000"/>
            </a:lnSpc>
            <a:spcBef>
              <a:spcPct val="0"/>
            </a:spcBef>
            <a:spcAft>
              <a:spcPct val="35000"/>
            </a:spcAft>
            <a:buNone/>
          </a:pPr>
          <a:r>
            <a:rPr lang="en-IN" sz="1700" kern="1200"/>
            <a:t>(Revenue &amp; Margin)</a:t>
          </a:r>
        </a:p>
      </dsp:txBody>
      <dsp:txXfrm>
        <a:off x="4249133" y="134434"/>
        <a:ext cx="1415593" cy="943729"/>
      </dsp:txXfrm>
    </dsp:sp>
    <dsp:sp modelId="{3E537F48-7744-4C7A-B485-AC0D0339810F}">
      <dsp:nvSpPr>
        <dsp:cNvPr id="0" name=""/>
        <dsp:cNvSpPr/>
      </dsp:nvSpPr>
      <dsp:spPr>
        <a:xfrm>
          <a:off x="5667078" y="114843"/>
          <a:ext cx="2359322" cy="943729"/>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009" tIns="45339" rIns="22670" bIns="45339" numCol="1" spcCol="1270" anchor="ctr" anchorCtr="0">
          <a:noAutofit/>
        </a:bodyPr>
        <a:lstStyle/>
        <a:p>
          <a:pPr marL="0" lvl="0" indent="0" algn="ctr" defTabSz="755650">
            <a:lnSpc>
              <a:spcPct val="90000"/>
            </a:lnSpc>
            <a:spcBef>
              <a:spcPct val="0"/>
            </a:spcBef>
            <a:spcAft>
              <a:spcPct val="35000"/>
            </a:spcAft>
            <a:buNone/>
          </a:pPr>
          <a:r>
            <a:rPr lang="en-IN" sz="1700" kern="1200"/>
            <a:t>Financial Engine</a:t>
          </a:r>
        </a:p>
      </dsp:txBody>
      <dsp:txXfrm>
        <a:off x="6138943" y="114843"/>
        <a:ext cx="1415593" cy="9437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E23E01-53B1-4D0D-BBE9-334518F9AD7D}">
      <dsp:nvSpPr>
        <dsp:cNvPr id="0" name=""/>
        <dsp:cNvSpPr/>
      </dsp:nvSpPr>
      <dsp:spPr>
        <a:xfrm>
          <a:off x="388288" y="4559"/>
          <a:ext cx="3390319" cy="847579"/>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IN" sz="1000" b="1" kern="1200"/>
            <a:t>Phase 0 – Initial Phase (May – Dec)</a:t>
          </a:r>
        </a:p>
        <a:p>
          <a:pPr marL="57150" lvl="1" indent="-57150" algn="l" defTabSz="355600">
            <a:lnSpc>
              <a:spcPct val="90000"/>
            </a:lnSpc>
            <a:spcBef>
              <a:spcPct val="0"/>
            </a:spcBef>
            <a:spcAft>
              <a:spcPct val="15000"/>
            </a:spcAft>
            <a:buChar char="•"/>
          </a:pPr>
          <a:r>
            <a:rPr lang="en-IN" sz="800" kern="1200"/>
            <a:t>Support Activities to build AI Data Lake</a:t>
          </a:r>
        </a:p>
        <a:p>
          <a:pPr marL="57150" lvl="1" indent="-57150" algn="l" defTabSz="355600">
            <a:lnSpc>
              <a:spcPct val="90000"/>
            </a:lnSpc>
            <a:spcBef>
              <a:spcPct val="0"/>
            </a:spcBef>
            <a:spcAft>
              <a:spcPct val="15000"/>
            </a:spcAft>
            <a:buChar char="•"/>
          </a:pPr>
          <a:r>
            <a:rPr lang="en-IN" sz="800" kern="1200"/>
            <a:t>Tenant to Tenant Migration from AI to Nova data Lake</a:t>
          </a:r>
        </a:p>
        <a:p>
          <a:pPr marL="57150" lvl="1" indent="-57150" algn="l" defTabSz="355600">
            <a:lnSpc>
              <a:spcPct val="90000"/>
            </a:lnSpc>
            <a:spcBef>
              <a:spcPct val="0"/>
            </a:spcBef>
            <a:spcAft>
              <a:spcPct val="15000"/>
            </a:spcAft>
            <a:buChar char="•"/>
          </a:pPr>
          <a:r>
            <a:rPr lang="en-IN" sz="800" kern="1200"/>
            <a:t>Eliminated direct source reporting dependencies </a:t>
          </a:r>
        </a:p>
      </dsp:txBody>
      <dsp:txXfrm>
        <a:off x="413113" y="29384"/>
        <a:ext cx="3340669" cy="797929"/>
      </dsp:txXfrm>
    </dsp:sp>
    <dsp:sp modelId="{51D6233D-3287-4838-9F91-3BD290B16EE5}">
      <dsp:nvSpPr>
        <dsp:cNvPr id="0" name=""/>
        <dsp:cNvSpPr/>
      </dsp:nvSpPr>
      <dsp:spPr>
        <a:xfrm rot="5400000">
          <a:off x="1924526" y="873328"/>
          <a:ext cx="317842" cy="381410"/>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rot="-5400000">
        <a:off x="1969025" y="905112"/>
        <a:ext cx="228846" cy="222489"/>
      </dsp:txXfrm>
    </dsp:sp>
    <dsp:sp modelId="{BE37C61C-7C5B-49FB-AAA0-E833D5DAF882}">
      <dsp:nvSpPr>
        <dsp:cNvPr id="0" name=""/>
        <dsp:cNvSpPr/>
      </dsp:nvSpPr>
      <dsp:spPr>
        <a:xfrm>
          <a:off x="388288" y="1275928"/>
          <a:ext cx="3390319" cy="847579"/>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IN" sz="1000" b="1" kern="1200"/>
            <a:t>Phase 1 – Foundation Setup (Dec – Jan)</a:t>
          </a:r>
        </a:p>
        <a:p>
          <a:pPr marL="57150" lvl="1" indent="-57150" algn="l" defTabSz="355600">
            <a:lnSpc>
              <a:spcPct val="90000"/>
            </a:lnSpc>
            <a:spcBef>
              <a:spcPct val="0"/>
            </a:spcBef>
            <a:spcAft>
              <a:spcPct val="15000"/>
            </a:spcAft>
            <a:buChar char="•"/>
          </a:pPr>
          <a:r>
            <a:rPr lang="en-IN" sz="800" kern="1200"/>
            <a:t>Built centralized Fabric-based Lakehouse (One Lake)</a:t>
          </a:r>
        </a:p>
        <a:p>
          <a:pPr marL="57150" lvl="1" indent="-57150" algn="l" defTabSz="355600">
            <a:lnSpc>
              <a:spcPct val="90000"/>
            </a:lnSpc>
            <a:spcBef>
              <a:spcPct val="0"/>
            </a:spcBef>
            <a:spcAft>
              <a:spcPct val="15000"/>
            </a:spcAft>
            <a:buChar char="•"/>
          </a:pPr>
          <a:r>
            <a:rPr lang="en-IN" sz="800" kern="1200"/>
            <a:t>Integrated enterprise data from Epicor, Salesforce, NetSuite, SAP, and other systems</a:t>
          </a:r>
        </a:p>
        <a:p>
          <a:pPr marL="57150" lvl="1" indent="-57150" algn="l" defTabSz="355600">
            <a:lnSpc>
              <a:spcPct val="90000"/>
            </a:lnSpc>
            <a:spcBef>
              <a:spcPct val="0"/>
            </a:spcBef>
            <a:spcAft>
              <a:spcPct val="15000"/>
            </a:spcAft>
            <a:buChar char="•"/>
          </a:pPr>
          <a:r>
            <a:rPr lang="en-IN" sz="800" kern="1200"/>
            <a:t>Eliminated direct source reporting dependencies</a:t>
          </a:r>
        </a:p>
      </dsp:txBody>
      <dsp:txXfrm>
        <a:off x="413113" y="1300753"/>
        <a:ext cx="3340669" cy="797929"/>
      </dsp:txXfrm>
    </dsp:sp>
    <dsp:sp modelId="{65DB3CE6-3285-4527-B2C7-9D588A6E95AB}">
      <dsp:nvSpPr>
        <dsp:cNvPr id="0" name=""/>
        <dsp:cNvSpPr/>
      </dsp:nvSpPr>
      <dsp:spPr>
        <a:xfrm rot="5400000">
          <a:off x="1924526" y="2144698"/>
          <a:ext cx="317842" cy="381410"/>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rot="-5400000">
        <a:off x="1969025" y="2176482"/>
        <a:ext cx="228846" cy="222489"/>
      </dsp:txXfrm>
    </dsp:sp>
    <dsp:sp modelId="{AE4D34CF-72E9-4AE2-BC30-B4C56E0992E3}">
      <dsp:nvSpPr>
        <dsp:cNvPr id="0" name=""/>
        <dsp:cNvSpPr/>
      </dsp:nvSpPr>
      <dsp:spPr>
        <a:xfrm>
          <a:off x="388288" y="2547298"/>
          <a:ext cx="3390319" cy="847579"/>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533400">
            <a:lnSpc>
              <a:spcPct val="90000"/>
            </a:lnSpc>
            <a:spcBef>
              <a:spcPct val="0"/>
            </a:spcBef>
            <a:spcAft>
              <a:spcPct val="35000"/>
            </a:spcAft>
            <a:buNone/>
          </a:pPr>
          <a:r>
            <a:rPr lang="en-IN" sz="1200" b="1" kern="1200"/>
            <a:t>Phase 2 – Standardization &amp; Data Harmonization (Jan – Feb)</a:t>
          </a:r>
        </a:p>
        <a:p>
          <a:pPr marL="57150" lvl="1" indent="-57150" algn="l" defTabSz="400050">
            <a:lnSpc>
              <a:spcPct val="90000"/>
            </a:lnSpc>
            <a:spcBef>
              <a:spcPct val="0"/>
            </a:spcBef>
            <a:spcAft>
              <a:spcPct val="15000"/>
            </a:spcAft>
            <a:buFont typeface="Arial" panose="020B0604020202020204" pitchFamily="34" charset="0"/>
            <a:buChar char="•"/>
          </a:pPr>
          <a:r>
            <a:rPr lang="en-IN" sz="900" kern="1200"/>
            <a:t>Implemented medallion architecture (Bronze, Silver, Gold)</a:t>
          </a:r>
        </a:p>
        <a:p>
          <a:pPr marL="57150" lvl="1" indent="-57150" algn="l" defTabSz="400050">
            <a:lnSpc>
              <a:spcPct val="90000"/>
            </a:lnSpc>
            <a:spcBef>
              <a:spcPct val="0"/>
            </a:spcBef>
            <a:spcAft>
              <a:spcPct val="15000"/>
            </a:spcAft>
            <a:buFont typeface="Arial" panose="020B0604020202020204" pitchFamily="34" charset="0"/>
            <a:buChar char="•"/>
          </a:pPr>
          <a:r>
            <a:rPr lang="en-IN" sz="900" kern="1200"/>
            <a:t>Standardized financial and operational dimensions across systems</a:t>
          </a:r>
        </a:p>
        <a:p>
          <a:pPr marL="57150" lvl="1" indent="-57150" algn="l" defTabSz="400050">
            <a:lnSpc>
              <a:spcPct val="90000"/>
            </a:lnSpc>
            <a:spcBef>
              <a:spcPct val="0"/>
            </a:spcBef>
            <a:spcAft>
              <a:spcPct val="15000"/>
            </a:spcAft>
            <a:buFont typeface="Arial" panose="020B0604020202020204" pitchFamily="34" charset="0"/>
            <a:buChar char="•"/>
          </a:pPr>
          <a:r>
            <a:rPr lang="en-IN" sz="900" kern="1200"/>
            <a:t>Established scalable semantic models for reporting consistency</a:t>
          </a:r>
        </a:p>
      </dsp:txBody>
      <dsp:txXfrm>
        <a:off x="413113" y="2572123"/>
        <a:ext cx="3340669" cy="797929"/>
      </dsp:txXfrm>
    </dsp:sp>
    <dsp:sp modelId="{7BBE4845-0832-44E9-9ED9-7FC8A1123EC5}">
      <dsp:nvSpPr>
        <dsp:cNvPr id="0" name=""/>
        <dsp:cNvSpPr/>
      </dsp:nvSpPr>
      <dsp:spPr>
        <a:xfrm rot="5400000">
          <a:off x="1924526" y="3416067"/>
          <a:ext cx="317842" cy="381410"/>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rot="-5400000">
        <a:off x="1969025" y="3447851"/>
        <a:ext cx="228846" cy="222489"/>
      </dsp:txXfrm>
    </dsp:sp>
    <dsp:sp modelId="{D56B193C-EC05-40B4-9845-8464ABA8276E}">
      <dsp:nvSpPr>
        <dsp:cNvPr id="0" name=""/>
        <dsp:cNvSpPr/>
      </dsp:nvSpPr>
      <dsp:spPr>
        <a:xfrm>
          <a:off x="388288" y="3818668"/>
          <a:ext cx="3390319" cy="847579"/>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IN" sz="1000" b="1" kern="1200"/>
            <a:t>Phase 3 – Business Use Case Enablement (Mar – Apr)</a:t>
          </a:r>
        </a:p>
        <a:p>
          <a:pPr marL="57150" lvl="1" indent="-57150" algn="l" defTabSz="355600">
            <a:lnSpc>
              <a:spcPct val="90000"/>
            </a:lnSpc>
            <a:spcBef>
              <a:spcPct val="0"/>
            </a:spcBef>
            <a:spcAft>
              <a:spcPct val="15000"/>
            </a:spcAft>
            <a:buFont typeface="Arial" panose="020B0604020202020204" pitchFamily="34" charset="0"/>
            <a:buChar char="•"/>
          </a:pPr>
          <a:r>
            <a:rPr lang="en-IN" sz="800" kern="1200"/>
            <a:t>Developed Consolidated Booking Report for unified revenue visibility</a:t>
          </a:r>
        </a:p>
        <a:p>
          <a:pPr marL="57150" lvl="1" indent="-57150" algn="l" defTabSz="355600">
            <a:lnSpc>
              <a:spcPct val="90000"/>
            </a:lnSpc>
            <a:spcBef>
              <a:spcPct val="0"/>
            </a:spcBef>
            <a:spcAft>
              <a:spcPct val="15000"/>
            </a:spcAft>
            <a:buFont typeface="Arial" panose="020B0604020202020204" pitchFamily="34" charset="0"/>
            <a:buChar char="•"/>
          </a:pPr>
          <a:r>
            <a:rPr lang="en-IN" sz="800" kern="1200"/>
            <a:t>Built Shipment &amp; Analyzer Base reports for operational and asset insights</a:t>
          </a:r>
        </a:p>
        <a:p>
          <a:pPr marL="57150" lvl="1" indent="-57150" algn="l" defTabSz="355600">
            <a:lnSpc>
              <a:spcPct val="90000"/>
            </a:lnSpc>
            <a:spcBef>
              <a:spcPct val="0"/>
            </a:spcBef>
            <a:spcAft>
              <a:spcPct val="15000"/>
            </a:spcAft>
            <a:buFont typeface="Arial" panose="020B0604020202020204" pitchFamily="34" charset="0"/>
            <a:buChar char="•"/>
          </a:pPr>
          <a:r>
            <a:rPr lang="en-IN" sz="800" kern="1200"/>
            <a:t>Enabled Sustainability reporting framework (ESG metrics)</a:t>
          </a:r>
        </a:p>
        <a:p>
          <a:pPr marL="57150" lvl="1" indent="-57150" algn="l" defTabSz="355600">
            <a:lnSpc>
              <a:spcPct val="90000"/>
            </a:lnSpc>
            <a:spcBef>
              <a:spcPct val="0"/>
            </a:spcBef>
            <a:spcAft>
              <a:spcPct val="15000"/>
            </a:spcAft>
            <a:buFont typeface="Arial" panose="020B0604020202020204" pitchFamily="34" charset="0"/>
            <a:buChar char="•"/>
          </a:pPr>
          <a:r>
            <a:rPr lang="en-IN" sz="800" kern="1200"/>
            <a:t>Migrating legacy Power BI reports to real-time Fabric-based reporting</a:t>
          </a:r>
        </a:p>
      </dsp:txBody>
      <dsp:txXfrm>
        <a:off x="413113" y="3843493"/>
        <a:ext cx="3340669" cy="797929"/>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E0F67-5A34-4A6C-8F52-5BBC43100952}" type="datetimeFigureOut">
              <a:rPr lang="en-IN" smtClean="0"/>
              <a:t>23-09-2026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818C8-CFED-431A-BEDC-6D39737FF327}" type="slidenum">
              <a:rPr lang="en-IN" smtClean="0"/>
              <a:t>‹#›</a:t>
            </a:fld>
            <a:endParaRPr lang="en-IN"/>
          </a:p>
        </p:txBody>
      </p:sp>
    </p:spTree>
    <p:extLst>
      <p:ext uri="{BB962C8B-B14F-4D97-AF65-F5344CB8AC3E}">
        <p14:creationId xmlns:p14="http://schemas.microsoft.com/office/powerpoint/2010/main" val="1108876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265B3-8C42-44B6-98C6-0C281FBC15B3}"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2350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7818C8-CFED-431A-BEDC-6D39737FF327}" type="slidenum">
              <a:rPr lang="en-IN" smtClean="0"/>
              <a:t>6</a:t>
            </a:fld>
            <a:endParaRPr lang="en-IN"/>
          </a:p>
        </p:txBody>
      </p:sp>
    </p:spTree>
    <p:extLst>
      <p:ext uri="{BB962C8B-B14F-4D97-AF65-F5344CB8AC3E}">
        <p14:creationId xmlns:p14="http://schemas.microsoft.com/office/powerpoint/2010/main" val="3031233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7818C8-CFED-431A-BEDC-6D39737FF327}" type="slidenum">
              <a:rPr lang="en-IN" smtClean="0"/>
              <a:t>9</a:t>
            </a:fld>
            <a:endParaRPr lang="en-IN"/>
          </a:p>
        </p:txBody>
      </p:sp>
    </p:spTree>
    <p:extLst>
      <p:ext uri="{BB962C8B-B14F-4D97-AF65-F5344CB8AC3E}">
        <p14:creationId xmlns:p14="http://schemas.microsoft.com/office/powerpoint/2010/main" val="811673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265B3-8C42-44B6-98C6-0C281FBC15B3}" type="slidenum">
              <a:rPr kumimoji="0" lang="en-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436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ea typeface="Calibri"/>
              <a:cs typeface="Calibri"/>
            </a:endParaRPr>
          </a:p>
        </p:txBody>
      </p:sp>
      <p:sp>
        <p:nvSpPr>
          <p:cNvPr id="4" name="Slide Number Placeholder 3"/>
          <p:cNvSpPr>
            <a:spLocks noGrp="1"/>
          </p:cNvSpPr>
          <p:nvPr>
            <p:ph type="sldNum" sz="quarter" idx="5"/>
          </p:nvPr>
        </p:nvSpPr>
        <p:spPr/>
        <p:txBody>
          <a:bodyPr/>
          <a:lstStyle/>
          <a:p>
            <a:fld id="{8F7818C8-CFED-431A-BEDC-6D39737FF327}" type="slidenum">
              <a:rPr lang="en-IN" smtClean="0"/>
              <a:t>18</a:t>
            </a:fld>
            <a:endParaRPr lang="en-IN"/>
          </a:p>
        </p:txBody>
      </p:sp>
    </p:spTree>
    <p:extLst>
      <p:ext uri="{BB962C8B-B14F-4D97-AF65-F5344CB8AC3E}">
        <p14:creationId xmlns:p14="http://schemas.microsoft.com/office/powerpoint/2010/main" val="320062965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Rectangle 5"/>
          <p:cNvSpPr/>
          <p:nvPr userDrawn="1"/>
        </p:nvSpPr>
        <p:spPr bwMode="gray">
          <a:xfrm>
            <a:off x="81281" y="650240"/>
            <a:ext cx="5963920" cy="680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sp>
        <p:nvSpPr>
          <p:cNvPr id="12" name="Freeform 11"/>
          <p:cNvSpPr/>
          <p:nvPr userDrawn="1"/>
        </p:nvSpPr>
        <p:spPr bwMode="gray">
          <a:xfrm flipH="1">
            <a:off x="0" y="982483"/>
            <a:ext cx="6144594" cy="4847604"/>
          </a:xfrm>
          <a:custGeom>
            <a:avLst/>
            <a:gdLst>
              <a:gd name="connsiteX0" fmla="*/ 1209872 w 6187440"/>
              <a:gd name="connsiteY0" fmla="*/ 0 h 4839487"/>
              <a:gd name="connsiteX1" fmla="*/ 6187440 w 6187440"/>
              <a:gd name="connsiteY1" fmla="*/ 0 h 4839487"/>
              <a:gd name="connsiteX2" fmla="*/ 6187440 w 6187440"/>
              <a:gd name="connsiteY2" fmla="*/ 4839487 h 4839487"/>
              <a:gd name="connsiteX3" fmla="*/ 0 w 6187440"/>
              <a:gd name="connsiteY3" fmla="*/ 4839487 h 4839487"/>
            </a:gdLst>
            <a:ahLst/>
            <a:cxnLst>
              <a:cxn ang="0">
                <a:pos x="connsiteX0" y="connsiteY0"/>
              </a:cxn>
              <a:cxn ang="0">
                <a:pos x="connsiteX1" y="connsiteY1"/>
              </a:cxn>
              <a:cxn ang="0">
                <a:pos x="connsiteX2" y="connsiteY2"/>
              </a:cxn>
              <a:cxn ang="0">
                <a:pos x="connsiteX3" y="connsiteY3"/>
              </a:cxn>
            </a:cxnLst>
            <a:rect l="l" t="t" r="r" b="b"/>
            <a:pathLst>
              <a:path w="6187440" h="4839487">
                <a:moveTo>
                  <a:pt x="1209872" y="0"/>
                </a:moveTo>
                <a:lnTo>
                  <a:pt x="6187440" y="0"/>
                </a:lnTo>
                <a:lnTo>
                  <a:pt x="6187440" y="4839487"/>
                </a:lnTo>
                <a:lnTo>
                  <a:pt x="0" y="483948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pic>
        <p:nvPicPr>
          <p:cNvPr id="14" name="Picture 13"/>
          <p:cNvPicPr>
            <a:picLocks noChangeAspect="1"/>
          </p:cNvPicPr>
          <p:nvPr userDrawn="1"/>
        </p:nvPicPr>
        <p:blipFill>
          <a:blip r:embed="rId2"/>
          <a:srcRect/>
          <a:stretch>
            <a:fillRect/>
          </a:stretch>
        </p:blipFill>
        <p:spPr>
          <a:xfrm>
            <a:off x="6040420" y="1"/>
            <a:ext cx="6151580" cy="6007261"/>
          </a:xfrm>
          <a:custGeom>
            <a:avLst/>
            <a:gdLst>
              <a:gd name="connsiteX0" fmla="*/ 0 w 6151580"/>
              <a:gd name="connsiteY0" fmla="*/ 0 h 6007261"/>
              <a:gd name="connsiteX1" fmla="*/ 6151580 w 6151580"/>
              <a:gd name="connsiteY1" fmla="*/ 0 h 6007261"/>
              <a:gd name="connsiteX2" fmla="*/ 6151580 w 6151580"/>
              <a:gd name="connsiteY2" fmla="*/ 6007261 h 6007261"/>
              <a:gd name="connsiteX3" fmla="*/ 1532351 w 6151580"/>
              <a:gd name="connsiteY3" fmla="*/ 6007261 h 6007261"/>
              <a:gd name="connsiteX4" fmla="*/ 672896 w 6151580"/>
              <a:gd name="connsiteY4" fmla="*/ 5127585 h 6007261"/>
              <a:gd name="connsiteX5" fmla="*/ 0 w 6151580"/>
              <a:gd name="connsiteY5" fmla="*/ 3006093 h 600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51580" h="6007261">
                <a:moveTo>
                  <a:pt x="0" y="0"/>
                </a:moveTo>
                <a:lnTo>
                  <a:pt x="6151580" y="0"/>
                </a:lnTo>
                <a:lnTo>
                  <a:pt x="6151580" y="6007261"/>
                </a:lnTo>
                <a:lnTo>
                  <a:pt x="1532351" y="6007261"/>
                </a:lnTo>
                <a:lnTo>
                  <a:pt x="672896" y="5127585"/>
                </a:lnTo>
                <a:lnTo>
                  <a:pt x="0" y="3006093"/>
                </a:lnTo>
                <a:close/>
              </a:path>
            </a:pathLst>
          </a:custGeom>
        </p:spPr>
      </p:pic>
      <p:pic>
        <p:nvPicPr>
          <p:cNvPr id="9" name="Graphic 8">
            <a:extLst>
              <a:ext uri="{FF2B5EF4-FFF2-40B4-BE49-F238E27FC236}">
                <a16:creationId xmlns:a16="http://schemas.microsoft.com/office/drawing/2014/main" id="{A5B43289-77A9-544C-A6F7-09F3B0DDBF03}"/>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19546" t="40603" r="18637" b="43215"/>
          <a:stretch/>
        </p:blipFill>
        <p:spPr bwMode="gray">
          <a:xfrm>
            <a:off x="203200" y="128408"/>
            <a:ext cx="3119120" cy="612374"/>
          </a:xfrm>
          <a:prstGeom prst="rect">
            <a:avLst/>
          </a:prstGeom>
        </p:spPr>
      </p:pic>
      <p:sp>
        <p:nvSpPr>
          <p:cNvPr id="19" name="Rectangle 18"/>
          <p:cNvSpPr/>
          <p:nvPr userDrawn="1"/>
        </p:nvSpPr>
        <p:spPr>
          <a:xfrm>
            <a:off x="203200" y="6007262"/>
            <a:ext cx="11195728" cy="3935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sp>
        <p:nvSpPr>
          <p:cNvPr id="13" name="Freeform 12"/>
          <p:cNvSpPr/>
          <p:nvPr userDrawn="1"/>
        </p:nvSpPr>
        <p:spPr bwMode="gray">
          <a:xfrm flipH="1">
            <a:off x="0" y="1180619"/>
            <a:ext cx="5944496" cy="4649469"/>
          </a:xfrm>
          <a:custGeom>
            <a:avLst/>
            <a:gdLst>
              <a:gd name="connsiteX0" fmla="*/ 1209872 w 6187440"/>
              <a:gd name="connsiteY0" fmla="*/ 0 h 4839487"/>
              <a:gd name="connsiteX1" fmla="*/ 6187440 w 6187440"/>
              <a:gd name="connsiteY1" fmla="*/ 0 h 4839487"/>
              <a:gd name="connsiteX2" fmla="*/ 6187440 w 6187440"/>
              <a:gd name="connsiteY2" fmla="*/ 4839487 h 4839487"/>
              <a:gd name="connsiteX3" fmla="*/ 0 w 6187440"/>
              <a:gd name="connsiteY3" fmla="*/ 4839487 h 4839487"/>
            </a:gdLst>
            <a:ahLst/>
            <a:cxnLst>
              <a:cxn ang="0">
                <a:pos x="connsiteX0" y="connsiteY0"/>
              </a:cxn>
              <a:cxn ang="0">
                <a:pos x="connsiteX1" y="connsiteY1"/>
              </a:cxn>
              <a:cxn ang="0">
                <a:pos x="connsiteX2" y="connsiteY2"/>
              </a:cxn>
              <a:cxn ang="0">
                <a:pos x="connsiteX3" y="connsiteY3"/>
              </a:cxn>
            </a:cxnLst>
            <a:rect l="l" t="t" r="r" b="b"/>
            <a:pathLst>
              <a:path w="6187440" h="4839487">
                <a:moveTo>
                  <a:pt x="1209872" y="0"/>
                </a:moveTo>
                <a:lnTo>
                  <a:pt x="6187440" y="0"/>
                </a:lnTo>
                <a:lnTo>
                  <a:pt x="6187440" y="4839487"/>
                </a:lnTo>
                <a:lnTo>
                  <a:pt x="0" y="483948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sp>
        <p:nvSpPr>
          <p:cNvPr id="16" name="Parallelogram 15"/>
          <p:cNvSpPr/>
          <p:nvPr userDrawn="1"/>
        </p:nvSpPr>
        <p:spPr>
          <a:xfrm flipH="1">
            <a:off x="4982141" y="1945558"/>
            <a:ext cx="973931" cy="2929573"/>
          </a:xfrm>
          <a:prstGeom prst="parallelogram">
            <a:avLst>
              <a:gd name="adj" fmla="val 7408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sp>
        <p:nvSpPr>
          <p:cNvPr id="2" name="Title 1">
            <a:extLst>
              <a:ext uri="{FF2B5EF4-FFF2-40B4-BE49-F238E27FC236}">
                <a16:creationId xmlns:a16="http://schemas.microsoft.com/office/drawing/2014/main" id="{20B4CCCD-27A9-874E-AA29-C68B1F8FC7FF}"/>
              </a:ext>
            </a:extLst>
          </p:cNvPr>
          <p:cNvSpPr>
            <a:spLocks noGrp="1"/>
          </p:cNvSpPr>
          <p:nvPr userDrawn="1">
            <p:ph type="ctrTitle"/>
          </p:nvPr>
        </p:nvSpPr>
        <p:spPr bwMode="gray">
          <a:xfrm>
            <a:off x="359411" y="2164173"/>
            <a:ext cx="4724400" cy="1893252"/>
          </a:xfrm>
        </p:spPr>
        <p:txBody>
          <a:bodyPr anchor="b">
            <a:normAutofit/>
          </a:bodyPr>
          <a:lstStyle>
            <a:lvl1pPr algn="l">
              <a:defRPr sz="4000">
                <a:solidFill>
                  <a:srgbClr val="002060"/>
                </a:solidFill>
                <a:latin typeface="+mn-lt"/>
              </a:defRPr>
            </a:lvl1pPr>
          </a:lstStyle>
          <a:p>
            <a:r>
              <a:rPr lang="en-US"/>
              <a:t>Click to edit Master title style</a:t>
            </a:r>
          </a:p>
        </p:txBody>
      </p:sp>
      <p:sp>
        <p:nvSpPr>
          <p:cNvPr id="3" name="Subtitle 2">
            <a:extLst>
              <a:ext uri="{FF2B5EF4-FFF2-40B4-BE49-F238E27FC236}">
                <a16:creationId xmlns:a16="http://schemas.microsoft.com/office/drawing/2014/main" id="{B3549CA0-BCBE-534A-A649-EB08B1C6BFEC}"/>
              </a:ext>
            </a:extLst>
          </p:cNvPr>
          <p:cNvSpPr>
            <a:spLocks noGrp="1"/>
          </p:cNvSpPr>
          <p:nvPr userDrawn="1">
            <p:ph type="subTitle" idx="1"/>
          </p:nvPr>
        </p:nvSpPr>
        <p:spPr bwMode="gray">
          <a:xfrm>
            <a:off x="359411" y="4405183"/>
            <a:ext cx="4724400" cy="332399"/>
          </a:xfrm>
        </p:spPr>
        <p:txBody>
          <a:bodyPr/>
          <a:lstStyle>
            <a:lvl1pPr marL="0" indent="0" algn="l">
              <a:buNone/>
              <a:defRPr sz="24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a:t>Click to edit Master subtitle style</a:t>
            </a:r>
          </a:p>
        </p:txBody>
      </p:sp>
      <p:sp>
        <p:nvSpPr>
          <p:cNvPr id="18" name="Parallelogram 17"/>
          <p:cNvSpPr/>
          <p:nvPr userDrawn="1"/>
        </p:nvSpPr>
        <p:spPr>
          <a:xfrm flipH="1">
            <a:off x="5127508" y="2072640"/>
            <a:ext cx="889434" cy="2675406"/>
          </a:xfrm>
          <a:prstGeom prst="parallelogram">
            <a:avLst>
              <a:gd name="adj" fmla="val 7408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spTree>
    <p:extLst>
      <p:ext uri="{BB962C8B-B14F-4D97-AF65-F5344CB8AC3E}">
        <p14:creationId xmlns:p14="http://schemas.microsoft.com/office/powerpoint/2010/main" val="298103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6" name="Rectangle 5"/>
          <p:cNvSpPr/>
          <p:nvPr userDrawn="1"/>
        </p:nvSpPr>
        <p:spPr bwMode="gray">
          <a:xfrm>
            <a:off x="81281" y="650240"/>
            <a:ext cx="5963920" cy="680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sp>
        <p:nvSpPr>
          <p:cNvPr id="12" name="Freeform 11"/>
          <p:cNvSpPr/>
          <p:nvPr userDrawn="1"/>
        </p:nvSpPr>
        <p:spPr bwMode="gray">
          <a:xfrm flipH="1">
            <a:off x="0" y="982483"/>
            <a:ext cx="6144594" cy="4847604"/>
          </a:xfrm>
          <a:custGeom>
            <a:avLst/>
            <a:gdLst>
              <a:gd name="connsiteX0" fmla="*/ 1209872 w 6187440"/>
              <a:gd name="connsiteY0" fmla="*/ 0 h 4839487"/>
              <a:gd name="connsiteX1" fmla="*/ 6187440 w 6187440"/>
              <a:gd name="connsiteY1" fmla="*/ 0 h 4839487"/>
              <a:gd name="connsiteX2" fmla="*/ 6187440 w 6187440"/>
              <a:gd name="connsiteY2" fmla="*/ 4839487 h 4839487"/>
              <a:gd name="connsiteX3" fmla="*/ 0 w 6187440"/>
              <a:gd name="connsiteY3" fmla="*/ 4839487 h 4839487"/>
            </a:gdLst>
            <a:ahLst/>
            <a:cxnLst>
              <a:cxn ang="0">
                <a:pos x="connsiteX0" y="connsiteY0"/>
              </a:cxn>
              <a:cxn ang="0">
                <a:pos x="connsiteX1" y="connsiteY1"/>
              </a:cxn>
              <a:cxn ang="0">
                <a:pos x="connsiteX2" y="connsiteY2"/>
              </a:cxn>
              <a:cxn ang="0">
                <a:pos x="connsiteX3" y="connsiteY3"/>
              </a:cxn>
            </a:cxnLst>
            <a:rect l="l" t="t" r="r" b="b"/>
            <a:pathLst>
              <a:path w="6187440" h="4839487">
                <a:moveTo>
                  <a:pt x="1209872" y="0"/>
                </a:moveTo>
                <a:lnTo>
                  <a:pt x="6187440" y="0"/>
                </a:lnTo>
                <a:lnTo>
                  <a:pt x="6187440" y="4839487"/>
                </a:lnTo>
                <a:lnTo>
                  <a:pt x="0" y="483948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pic>
        <p:nvPicPr>
          <p:cNvPr id="14" name="Picture 13"/>
          <p:cNvPicPr>
            <a:picLocks noChangeAspect="1"/>
          </p:cNvPicPr>
          <p:nvPr userDrawn="1"/>
        </p:nvPicPr>
        <p:blipFill>
          <a:blip r:embed="rId2"/>
          <a:srcRect/>
          <a:stretch>
            <a:fillRect/>
          </a:stretch>
        </p:blipFill>
        <p:spPr>
          <a:xfrm>
            <a:off x="6040420" y="1"/>
            <a:ext cx="6151580" cy="6007261"/>
          </a:xfrm>
          <a:custGeom>
            <a:avLst/>
            <a:gdLst>
              <a:gd name="connsiteX0" fmla="*/ 0 w 6151580"/>
              <a:gd name="connsiteY0" fmla="*/ 0 h 6007261"/>
              <a:gd name="connsiteX1" fmla="*/ 6151580 w 6151580"/>
              <a:gd name="connsiteY1" fmla="*/ 0 h 6007261"/>
              <a:gd name="connsiteX2" fmla="*/ 6151580 w 6151580"/>
              <a:gd name="connsiteY2" fmla="*/ 6007261 h 6007261"/>
              <a:gd name="connsiteX3" fmla="*/ 1532351 w 6151580"/>
              <a:gd name="connsiteY3" fmla="*/ 6007261 h 6007261"/>
              <a:gd name="connsiteX4" fmla="*/ 672896 w 6151580"/>
              <a:gd name="connsiteY4" fmla="*/ 5127585 h 6007261"/>
              <a:gd name="connsiteX5" fmla="*/ 0 w 6151580"/>
              <a:gd name="connsiteY5" fmla="*/ 3006093 h 600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51580" h="6007261">
                <a:moveTo>
                  <a:pt x="0" y="0"/>
                </a:moveTo>
                <a:lnTo>
                  <a:pt x="6151580" y="0"/>
                </a:lnTo>
                <a:lnTo>
                  <a:pt x="6151580" y="6007261"/>
                </a:lnTo>
                <a:lnTo>
                  <a:pt x="1532351" y="6007261"/>
                </a:lnTo>
                <a:lnTo>
                  <a:pt x="672896" y="5127585"/>
                </a:lnTo>
                <a:lnTo>
                  <a:pt x="0" y="3006093"/>
                </a:lnTo>
                <a:close/>
              </a:path>
            </a:pathLst>
          </a:custGeom>
        </p:spPr>
      </p:pic>
      <p:pic>
        <p:nvPicPr>
          <p:cNvPr id="9" name="Graphic 8">
            <a:extLst>
              <a:ext uri="{FF2B5EF4-FFF2-40B4-BE49-F238E27FC236}">
                <a16:creationId xmlns:a16="http://schemas.microsoft.com/office/drawing/2014/main" id="{A5B43289-77A9-544C-A6F7-09F3B0DDBF03}"/>
              </a:ext>
            </a:extLst>
          </p:cNvPr>
          <p:cNvPicPr>
            <a:picLocks noChangeAspect="1"/>
          </p:cNvPicPr>
          <p:nvPr userDrawn="1"/>
        </p:nvPicPr>
        <p:blipFill rotWithShape="1">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19546" t="40603" r="18637" b="43215"/>
          <a:stretch/>
        </p:blipFill>
        <p:spPr bwMode="gray">
          <a:xfrm>
            <a:off x="203200" y="128408"/>
            <a:ext cx="3119120" cy="612374"/>
          </a:xfrm>
          <a:prstGeom prst="rect">
            <a:avLst/>
          </a:prstGeom>
        </p:spPr>
      </p:pic>
      <p:sp>
        <p:nvSpPr>
          <p:cNvPr id="19" name="Rectangle 18"/>
          <p:cNvSpPr/>
          <p:nvPr userDrawn="1"/>
        </p:nvSpPr>
        <p:spPr>
          <a:xfrm>
            <a:off x="203200" y="6007262"/>
            <a:ext cx="11195728" cy="3935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sp>
        <p:nvSpPr>
          <p:cNvPr id="13" name="Freeform 12"/>
          <p:cNvSpPr/>
          <p:nvPr userDrawn="1"/>
        </p:nvSpPr>
        <p:spPr bwMode="gray">
          <a:xfrm flipH="1">
            <a:off x="0" y="1180619"/>
            <a:ext cx="5944496" cy="4649469"/>
          </a:xfrm>
          <a:custGeom>
            <a:avLst/>
            <a:gdLst>
              <a:gd name="connsiteX0" fmla="*/ 1209872 w 6187440"/>
              <a:gd name="connsiteY0" fmla="*/ 0 h 4839487"/>
              <a:gd name="connsiteX1" fmla="*/ 6187440 w 6187440"/>
              <a:gd name="connsiteY1" fmla="*/ 0 h 4839487"/>
              <a:gd name="connsiteX2" fmla="*/ 6187440 w 6187440"/>
              <a:gd name="connsiteY2" fmla="*/ 4839487 h 4839487"/>
              <a:gd name="connsiteX3" fmla="*/ 0 w 6187440"/>
              <a:gd name="connsiteY3" fmla="*/ 4839487 h 4839487"/>
            </a:gdLst>
            <a:ahLst/>
            <a:cxnLst>
              <a:cxn ang="0">
                <a:pos x="connsiteX0" y="connsiteY0"/>
              </a:cxn>
              <a:cxn ang="0">
                <a:pos x="connsiteX1" y="connsiteY1"/>
              </a:cxn>
              <a:cxn ang="0">
                <a:pos x="connsiteX2" y="connsiteY2"/>
              </a:cxn>
              <a:cxn ang="0">
                <a:pos x="connsiteX3" y="connsiteY3"/>
              </a:cxn>
            </a:cxnLst>
            <a:rect l="l" t="t" r="r" b="b"/>
            <a:pathLst>
              <a:path w="6187440" h="4839487">
                <a:moveTo>
                  <a:pt x="1209872" y="0"/>
                </a:moveTo>
                <a:lnTo>
                  <a:pt x="6187440" y="0"/>
                </a:lnTo>
                <a:lnTo>
                  <a:pt x="6187440" y="4839487"/>
                </a:lnTo>
                <a:lnTo>
                  <a:pt x="0" y="4839487"/>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sp>
        <p:nvSpPr>
          <p:cNvPr id="16" name="Parallelogram 15"/>
          <p:cNvSpPr/>
          <p:nvPr userDrawn="1"/>
        </p:nvSpPr>
        <p:spPr>
          <a:xfrm flipH="1">
            <a:off x="4982141" y="1945558"/>
            <a:ext cx="973931" cy="2929573"/>
          </a:xfrm>
          <a:prstGeom prst="parallelogram">
            <a:avLst>
              <a:gd name="adj" fmla="val 7408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sp>
        <p:nvSpPr>
          <p:cNvPr id="2" name="Title 1">
            <a:extLst>
              <a:ext uri="{FF2B5EF4-FFF2-40B4-BE49-F238E27FC236}">
                <a16:creationId xmlns:a16="http://schemas.microsoft.com/office/drawing/2014/main" id="{20B4CCCD-27A9-874E-AA29-C68B1F8FC7FF}"/>
              </a:ext>
            </a:extLst>
          </p:cNvPr>
          <p:cNvSpPr>
            <a:spLocks noGrp="1"/>
          </p:cNvSpPr>
          <p:nvPr userDrawn="1">
            <p:ph type="ctrTitle"/>
          </p:nvPr>
        </p:nvSpPr>
        <p:spPr bwMode="gray">
          <a:xfrm>
            <a:off x="359411" y="2164173"/>
            <a:ext cx="4724400" cy="1893252"/>
          </a:xfrm>
        </p:spPr>
        <p:txBody>
          <a:bodyPr anchor="b">
            <a:normAutofit/>
          </a:bodyPr>
          <a:lstStyle>
            <a:lvl1pPr algn="l">
              <a:defRPr sz="4000">
                <a:solidFill>
                  <a:srgbClr val="002060"/>
                </a:solidFill>
                <a:latin typeface="+mn-lt"/>
              </a:defRPr>
            </a:lvl1pPr>
          </a:lstStyle>
          <a:p>
            <a:r>
              <a:rPr lang="en-US"/>
              <a:t>Click to edit Master title style</a:t>
            </a:r>
          </a:p>
        </p:txBody>
      </p:sp>
      <p:sp>
        <p:nvSpPr>
          <p:cNvPr id="3" name="Subtitle 2">
            <a:extLst>
              <a:ext uri="{FF2B5EF4-FFF2-40B4-BE49-F238E27FC236}">
                <a16:creationId xmlns:a16="http://schemas.microsoft.com/office/drawing/2014/main" id="{B3549CA0-BCBE-534A-A649-EB08B1C6BFEC}"/>
              </a:ext>
            </a:extLst>
          </p:cNvPr>
          <p:cNvSpPr>
            <a:spLocks noGrp="1"/>
          </p:cNvSpPr>
          <p:nvPr userDrawn="1">
            <p:ph type="subTitle" idx="1"/>
          </p:nvPr>
        </p:nvSpPr>
        <p:spPr bwMode="gray">
          <a:xfrm>
            <a:off x="359411" y="4405183"/>
            <a:ext cx="4724400" cy="332399"/>
          </a:xfrm>
        </p:spPr>
        <p:txBody>
          <a:bodyPr/>
          <a:lstStyle>
            <a:lvl1pPr marL="0" indent="0" algn="l">
              <a:buNone/>
              <a:defRPr sz="24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a:t>Click to edit Master subtitle style</a:t>
            </a:r>
          </a:p>
        </p:txBody>
      </p:sp>
      <p:sp>
        <p:nvSpPr>
          <p:cNvPr id="18" name="Parallelogram 17"/>
          <p:cNvSpPr/>
          <p:nvPr userDrawn="1"/>
        </p:nvSpPr>
        <p:spPr>
          <a:xfrm flipH="1">
            <a:off x="5127508" y="2072640"/>
            <a:ext cx="889434" cy="2675406"/>
          </a:xfrm>
          <a:prstGeom prst="parallelogram">
            <a:avLst>
              <a:gd name="adj" fmla="val 74084"/>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800"/>
          </a:p>
        </p:txBody>
      </p:sp>
    </p:spTree>
    <p:extLst>
      <p:ext uri="{BB962C8B-B14F-4D97-AF65-F5344CB8AC3E}">
        <p14:creationId xmlns:p14="http://schemas.microsoft.com/office/powerpoint/2010/main" val="3192013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AC233-40C0-3242-AF16-F0072A21BF17}"/>
              </a:ext>
            </a:extLst>
          </p:cNvPr>
          <p:cNvSpPr>
            <a:spLocks noGrp="1"/>
          </p:cNvSpPr>
          <p:nvPr>
            <p:ph type="title"/>
          </p:nvPr>
        </p:nvSpPr>
        <p:spPr>
          <a:xfrm>
            <a:off x="465667" y="106790"/>
            <a:ext cx="11300236" cy="714306"/>
          </a:xfrm>
        </p:spPr>
        <p:txBody>
          <a:bodyPr/>
          <a:lstStyle>
            <a:lvl1pPr>
              <a:defRPr>
                <a:solidFill>
                  <a:srgbClr val="0020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913200-A1A8-084B-93A1-73B8FAB78379}"/>
              </a:ext>
            </a:extLst>
          </p:cNvPr>
          <p:cNvSpPr>
            <a:spLocks noGrp="1"/>
          </p:cNvSpPr>
          <p:nvPr>
            <p:ph idx="1"/>
          </p:nvPr>
        </p:nvSpPr>
        <p:spPr>
          <a:xfrm>
            <a:off x="465667" y="1079292"/>
            <a:ext cx="11300236" cy="1381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8FCEE418-9FFE-C245-86D4-89ED8F8E7927}"/>
              </a:ext>
            </a:extLst>
          </p:cNvPr>
          <p:cNvSpPr>
            <a:spLocks noGrp="1"/>
          </p:cNvSpPr>
          <p:nvPr>
            <p:ph type="ftr" sz="quarter" idx="3"/>
          </p:nvPr>
        </p:nvSpPr>
        <p:spPr>
          <a:xfrm>
            <a:off x="465667" y="6357328"/>
            <a:ext cx="4114800" cy="184666"/>
          </a:xfrm>
          <a:prstGeom prst="rect">
            <a:avLst/>
          </a:prstGeom>
        </p:spPr>
        <p:txBody>
          <a:bodyPr vert="horz" lIns="0" tIns="0" rIns="0" bIns="0" rtlCol="0" anchor="t" anchorCtr="0">
            <a:spAutoFit/>
          </a:bodyPr>
          <a:lstStyle>
            <a:lvl1pPr algn="l">
              <a:defRPr sz="1200" b="0">
                <a:solidFill>
                  <a:schemeClr val="accent2"/>
                </a:solidFill>
                <a:latin typeface="+mn-lt"/>
              </a:defRPr>
            </a:lvl1pPr>
          </a:lstStyle>
          <a:p>
            <a:endParaRPr lang="en-US"/>
          </a:p>
        </p:txBody>
      </p:sp>
      <p:sp>
        <p:nvSpPr>
          <p:cNvPr id="5" name="Slide Number Placeholder 5">
            <a:extLst>
              <a:ext uri="{FF2B5EF4-FFF2-40B4-BE49-F238E27FC236}">
                <a16:creationId xmlns:a16="http://schemas.microsoft.com/office/drawing/2014/main" id="{BB58FFA3-C8F7-BB49-9D2C-D08852CF15DD}"/>
              </a:ext>
            </a:extLst>
          </p:cNvPr>
          <p:cNvSpPr>
            <a:spLocks noGrp="1"/>
          </p:cNvSpPr>
          <p:nvPr>
            <p:ph type="sldNum" sz="quarter" idx="4"/>
          </p:nvPr>
        </p:nvSpPr>
        <p:spPr>
          <a:xfrm>
            <a:off x="10562253" y="6357328"/>
            <a:ext cx="251927" cy="184666"/>
          </a:xfrm>
          <a:prstGeom prst="rect">
            <a:avLst/>
          </a:prstGeom>
        </p:spPr>
        <p:txBody>
          <a:bodyPr vert="horz" wrap="square" lIns="0" tIns="0" rIns="0" bIns="0" rtlCol="0" anchor="t" anchorCtr="0">
            <a:spAutoFit/>
          </a:bodyPr>
          <a:lstStyle>
            <a:lvl1pPr algn="r">
              <a:defRPr lang="en-US" sz="1200" b="0" smtClean="0">
                <a:solidFill>
                  <a:schemeClr val="accent2"/>
                </a:solidFill>
              </a:defRPr>
            </a:lvl1pPr>
          </a:lstStyle>
          <a:p>
            <a:fld id="{274CC3B9-6596-1243-9665-72A444B9047F}" type="slidenum">
              <a:rPr lang="en-CA" smtClean="0"/>
              <a:pPr/>
              <a:t>‹#›</a:t>
            </a:fld>
            <a:endParaRPr lang="en-CA"/>
          </a:p>
        </p:txBody>
      </p:sp>
    </p:spTree>
    <p:extLst>
      <p:ext uri="{BB962C8B-B14F-4D97-AF65-F5344CB8AC3E}">
        <p14:creationId xmlns:p14="http://schemas.microsoft.com/office/powerpoint/2010/main" val="3630180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6D3AFC27-AD7F-1A46-A6F9-2C9507026F9D}" type="datetime1">
              <a:rPr lang="en-US" smtClean="0"/>
              <a:t>9/23/2026</a:t>
            </a:fld>
            <a:endParaRPr lang="en-US"/>
          </a:p>
        </p:txBody>
      </p:sp>
      <p:pic>
        <p:nvPicPr>
          <p:cNvPr id="32" name="Picture 31">
            <a:extLst>
              <a:ext uri="{FF2B5EF4-FFF2-40B4-BE49-F238E27FC236}">
                <a16:creationId xmlns:a16="http://schemas.microsoft.com/office/drawing/2014/main" id="{AB64086E-D480-C64D-8011-1ACDE93C9D6D}"/>
              </a:ext>
            </a:extLst>
          </p:cNvPr>
          <p:cNvPicPr>
            <a:picLocks noChangeAspect="1"/>
          </p:cNvPicPr>
          <p:nvPr userDrawn="1"/>
        </p:nvPicPr>
        <p:blipFill>
          <a:blip r:embed="rId2">
            <a:alphaModFix amt="89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a:xfrm>
            <a:off x="10352541" y="295730"/>
            <a:ext cx="838199" cy="184666"/>
          </a:xfrm>
          <a:prstGeom prst="rect">
            <a:avLst/>
          </a:prstGeom>
        </p:spPr>
        <p:txBody>
          <a:bodyPr/>
          <a:lstStyle/>
          <a:p>
            <a:fld id="{D57F1E4F-1CFF-5643-939E-217C01CDF565}" type="slidenum">
              <a:rPr lang="en-US"/>
              <a:pPr/>
              <a:t>‹#›</a:t>
            </a:fld>
            <a:endParaRPr lang="en-US"/>
          </a:p>
        </p:txBody>
      </p:sp>
      <p:sp>
        <p:nvSpPr>
          <p:cNvPr id="29" name="Flowchart: Process 28"/>
          <p:cNvSpPr/>
          <p:nvPr userDrawn="1"/>
        </p:nvSpPr>
        <p:spPr>
          <a:xfrm>
            <a:off x="476250" y="462025"/>
            <a:ext cx="6381912" cy="593395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16 h 10016"/>
              <a:gd name="connsiteX1" fmla="*/ 9415 w 10000"/>
              <a:gd name="connsiteY1" fmla="*/ 0 h 10016"/>
              <a:gd name="connsiteX2" fmla="*/ 10000 w 10000"/>
              <a:gd name="connsiteY2" fmla="*/ 10016 h 10016"/>
              <a:gd name="connsiteX3" fmla="*/ 0 w 10000"/>
              <a:gd name="connsiteY3" fmla="*/ 10016 h 10016"/>
              <a:gd name="connsiteX4" fmla="*/ 0 w 10000"/>
              <a:gd name="connsiteY4" fmla="*/ 16 h 10016"/>
              <a:gd name="connsiteX0" fmla="*/ 0 w 10000"/>
              <a:gd name="connsiteY0" fmla="*/ 16 h 10016"/>
              <a:gd name="connsiteX1" fmla="*/ 9415 w 10000"/>
              <a:gd name="connsiteY1" fmla="*/ 0 h 10016"/>
              <a:gd name="connsiteX2" fmla="*/ 9740 w 10000"/>
              <a:gd name="connsiteY2" fmla="*/ 5596 h 10016"/>
              <a:gd name="connsiteX3" fmla="*/ 10000 w 10000"/>
              <a:gd name="connsiteY3" fmla="*/ 10016 h 10016"/>
              <a:gd name="connsiteX4" fmla="*/ 0 w 10000"/>
              <a:gd name="connsiteY4" fmla="*/ 10016 h 10016"/>
              <a:gd name="connsiteX5" fmla="*/ 0 w 10000"/>
              <a:gd name="connsiteY5" fmla="*/ 16 h 10016"/>
              <a:gd name="connsiteX0" fmla="*/ 0 w 9750"/>
              <a:gd name="connsiteY0" fmla="*/ 16 h 10032"/>
              <a:gd name="connsiteX1" fmla="*/ 9415 w 9750"/>
              <a:gd name="connsiteY1" fmla="*/ 0 h 10032"/>
              <a:gd name="connsiteX2" fmla="*/ 9740 w 9750"/>
              <a:gd name="connsiteY2" fmla="*/ 5596 h 10032"/>
              <a:gd name="connsiteX3" fmla="*/ 9423 w 9750"/>
              <a:gd name="connsiteY3" fmla="*/ 10032 h 10032"/>
              <a:gd name="connsiteX4" fmla="*/ 0 w 9750"/>
              <a:gd name="connsiteY4" fmla="*/ 10016 h 10032"/>
              <a:gd name="connsiteX5" fmla="*/ 0 w 9750"/>
              <a:gd name="connsiteY5" fmla="*/ 16 h 10032"/>
              <a:gd name="connsiteX0" fmla="*/ 0 w 10010"/>
              <a:gd name="connsiteY0" fmla="*/ 16 h 10000"/>
              <a:gd name="connsiteX1" fmla="*/ 9656 w 10010"/>
              <a:gd name="connsiteY1" fmla="*/ 0 h 10000"/>
              <a:gd name="connsiteX2" fmla="*/ 9990 w 10010"/>
              <a:gd name="connsiteY2" fmla="*/ 5578 h 10000"/>
              <a:gd name="connsiteX3" fmla="*/ 9665 w 10010"/>
              <a:gd name="connsiteY3" fmla="*/ 10000 h 10000"/>
              <a:gd name="connsiteX4" fmla="*/ 0 w 10010"/>
              <a:gd name="connsiteY4" fmla="*/ 9984 h 10000"/>
              <a:gd name="connsiteX5" fmla="*/ 0 w 10010"/>
              <a:gd name="connsiteY5" fmla="*/ 16 h 10000"/>
              <a:gd name="connsiteX0" fmla="*/ 0 w 10004"/>
              <a:gd name="connsiteY0" fmla="*/ 16 h 10000"/>
              <a:gd name="connsiteX1" fmla="*/ 9656 w 10004"/>
              <a:gd name="connsiteY1" fmla="*/ 0 h 10000"/>
              <a:gd name="connsiteX2" fmla="*/ 9990 w 10004"/>
              <a:gd name="connsiteY2" fmla="*/ 5578 h 10000"/>
              <a:gd name="connsiteX3" fmla="*/ 9665 w 10004"/>
              <a:gd name="connsiteY3" fmla="*/ 10000 h 10000"/>
              <a:gd name="connsiteX4" fmla="*/ 0 w 10004"/>
              <a:gd name="connsiteY4" fmla="*/ 9984 h 10000"/>
              <a:gd name="connsiteX5" fmla="*/ 0 w 10004"/>
              <a:gd name="connsiteY5" fmla="*/ 16 h 10000"/>
              <a:gd name="connsiteX0" fmla="*/ 0 w 9838"/>
              <a:gd name="connsiteY0" fmla="*/ 16 h 10000"/>
              <a:gd name="connsiteX1" fmla="*/ 9656 w 9838"/>
              <a:gd name="connsiteY1" fmla="*/ 0 h 10000"/>
              <a:gd name="connsiteX2" fmla="*/ 9815 w 9838"/>
              <a:gd name="connsiteY2" fmla="*/ 5498 h 10000"/>
              <a:gd name="connsiteX3" fmla="*/ 9665 w 9838"/>
              <a:gd name="connsiteY3" fmla="*/ 10000 h 10000"/>
              <a:gd name="connsiteX4" fmla="*/ 0 w 9838"/>
              <a:gd name="connsiteY4" fmla="*/ 9984 h 10000"/>
              <a:gd name="connsiteX5" fmla="*/ 0 w 9838"/>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9992"/>
              <a:gd name="connsiteY0" fmla="*/ 16 h 10000"/>
              <a:gd name="connsiteX1" fmla="*/ 9636 w 9992"/>
              <a:gd name="connsiteY1" fmla="*/ 0 h 10000"/>
              <a:gd name="connsiteX2" fmla="*/ 9977 w 9992"/>
              <a:gd name="connsiteY2" fmla="*/ 5498 h 10000"/>
              <a:gd name="connsiteX3" fmla="*/ 9824 w 9992"/>
              <a:gd name="connsiteY3" fmla="*/ 10000 h 10000"/>
              <a:gd name="connsiteX4" fmla="*/ 0 w 9992"/>
              <a:gd name="connsiteY4" fmla="*/ 9984 h 10000"/>
              <a:gd name="connsiteX5" fmla="*/ 0 w 9992"/>
              <a:gd name="connsiteY5" fmla="*/ 1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 h="10000">
                <a:moveTo>
                  <a:pt x="0" y="16"/>
                </a:moveTo>
                <a:lnTo>
                  <a:pt x="9636" y="0"/>
                </a:lnTo>
                <a:cubicBezTo>
                  <a:pt x="9749" y="1859"/>
                  <a:pt x="10067" y="3527"/>
                  <a:pt x="9977" y="5498"/>
                </a:cubicBezTo>
                <a:cubicBezTo>
                  <a:pt x="9982" y="6950"/>
                  <a:pt x="9877" y="8532"/>
                  <a:pt x="9824" y="10000"/>
                </a:cubicBezTo>
                <a:lnTo>
                  <a:pt x="0" y="9984"/>
                </a:lnTo>
                <a:lnTo>
                  <a:pt x="0" y="16"/>
                </a:lnTo>
                <a:close/>
              </a:path>
            </a:pathLst>
          </a:custGeom>
          <a:solidFill>
            <a:srgbClr val="F4792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0" name="Freeform 5"/>
          <p:cNvSpPr/>
          <p:nvPr userDrawn="1"/>
        </p:nvSpPr>
        <p:spPr bwMode="gray">
          <a:xfrm rot="16200000">
            <a:off x="3747182" y="3268821"/>
            <a:ext cx="6053670" cy="320359"/>
          </a:xfrm>
          <a:custGeom>
            <a:avLst/>
            <a:gdLst>
              <a:gd name="connsiteX0" fmla="*/ 0 w 10000"/>
              <a:gd name="connsiteY0" fmla="*/ 0 h 9963"/>
              <a:gd name="connsiteX1" fmla="*/ 0 w 10000"/>
              <a:gd name="connsiteY1" fmla="*/ 9963 h 9963"/>
              <a:gd name="connsiteX2" fmla="*/ 10000 w 10000"/>
              <a:gd name="connsiteY2" fmla="*/ 5824 h 9963"/>
              <a:gd name="connsiteX3" fmla="*/ 10000 w 10000"/>
              <a:gd name="connsiteY3" fmla="*/ 9 h 9963"/>
              <a:gd name="connsiteX4" fmla="*/ 10000 w 10000"/>
              <a:gd name="connsiteY4" fmla="*/ 9 h 9963"/>
              <a:gd name="connsiteX5" fmla="*/ 9773 w 10000"/>
              <a:gd name="connsiteY5" fmla="*/ 195 h 9963"/>
              <a:gd name="connsiteX6" fmla="*/ 9547 w 10000"/>
              <a:gd name="connsiteY6" fmla="*/ 373 h 9963"/>
              <a:gd name="connsiteX7" fmla="*/ 9320 w 10000"/>
              <a:gd name="connsiteY7" fmla="*/ 546 h 9963"/>
              <a:gd name="connsiteX8" fmla="*/ 9092 w 10000"/>
              <a:gd name="connsiteY8" fmla="*/ 695 h 9963"/>
              <a:gd name="connsiteX9" fmla="*/ 8865 w 10000"/>
              <a:gd name="connsiteY9" fmla="*/ 845 h 9963"/>
              <a:gd name="connsiteX10" fmla="*/ 8637 w 10000"/>
              <a:gd name="connsiteY10" fmla="*/ 985 h 9963"/>
              <a:gd name="connsiteX11" fmla="*/ 8412 w 10000"/>
              <a:gd name="connsiteY11" fmla="*/ 1105 h 9963"/>
              <a:gd name="connsiteX12" fmla="*/ 8184 w 10000"/>
              <a:gd name="connsiteY12" fmla="*/ 1219 h 9963"/>
              <a:gd name="connsiteX13" fmla="*/ 7957 w 10000"/>
              <a:gd name="connsiteY13" fmla="*/ 1323 h 9963"/>
              <a:gd name="connsiteX14" fmla="*/ 7734 w 10000"/>
              <a:gd name="connsiteY14" fmla="*/ 1413 h 9963"/>
              <a:gd name="connsiteX15" fmla="*/ 7508 w 10000"/>
              <a:gd name="connsiteY15" fmla="*/ 1503 h 9963"/>
              <a:gd name="connsiteX16" fmla="*/ 7285 w 10000"/>
              <a:gd name="connsiteY16" fmla="*/ 1578 h 9963"/>
              <a:gd name="connsiteX17" fmla="*/ 7062 w 10000"/>
              <a:gd name="connsiteY17" fmla="*/ 1636 h 9963"/>
              <a:gd name="connsiteX18" fmla="*/ 6840 w 10000"/>
              <a:gd name="connsiteY18" fmla="*/ 1698 h 9963"/>
              <a:gd name="connsiteX19" fmla="*/ 6620 w 10000"/>
              <a:gd name="connsiteY19" fmla="*/ 1749 h 9963"/>
              <a:gd name="connsiteX20" fmla="*/ 6402 w 10000"/>
              <a:gd name="connsiteY20" fmla="*/ 1785 h 9963"/>
              <a:gd name="connsiteX21" fmla="*/ 6184 w 10000"/>
              <a:gd name="connsiteY21" fmla="*/ 1816 h 9963"/>
              <a:gd name="connsiteX22" fmla="*/ 5968 w 10000"/>
              <a:gd name="connsiteY22" fmla="*/ 1846 h 9963"/>
              <a:gd name="connsiteX23" fmla="*/ 5755 w 10000"/>
              <a:gd name="connsiteY23" fmla="*/ 1860 h 9963"/>
              <a:gd name="connsiteX24" fmla="*/ 5542 w 10000"/>
              <a:gd name="connsiteY24" fmla="*/ 1875 h 9963"/>
              <a:gd name="connsiteX25" fmla="*/ 5332 w 10000"/>
              <a:gd name="connsiteY25" fmla="*/ 1883 h 9963"/>
              <a:gd name="connsiteX26" fmla="*/ 5124 w 10000"/>
              <a:gd name="connsiteY26" fmla="*/ 1875 h 9963"/>
              <a:gd name="connsiteX27" fmla="*/ 4918 w 10000"/>
              <a:gd name="connsiteY27" fmla="*/ 1875 h 9963"/>
              <a:gd name="connsiteX28" fmla="*/ 4714 w 10000"/>
              <a:gd name="connsiteY28" fmla="*/ 1860 h 9963"/>
              <a:gd name="connsiteX29" fmla="*/ 4514 w 10000"/>
              <a:gd name="connsiteY29" fmla="*/ 1838 h 9963"/>
              <a:gd name="connsiteX30" fmla="*/ 4316 w 10000"/>
              <a:gd name="connsiteY30" fmla="*/ 1816 h 9963"/>
              <a:gd name="connsiteX31" fmla="*/ 4122 w 10000"/>
              <a:gd name="connsiteY31" fmla="*/ 1793 h 9963"/>
              <a:gd name="connsiteX32" fmla="*/ 3929 w 10000"/>
              <a:gd name="connsiteY32" fmla="*/ 1756 h 9963"/>
              <a:gd name="connsiteX33" fmla="*/ 3739 w 10000"/>
              <a:gd name="connsiteY33" fmla="*/ 1718 h 9963"/>
              <a:gd name="connsiteX34" fmla="*/ 3553 w 10000"/>
              <a:gd name="connsiteY34" fmla="*/ 1683 h 9963"/>
              <a:gd name="connsiteX35" fmla="*/ 3190 w 10000"/>
              <a:gd name="connsiteY35" fmla="*/ 1584 h 9963"/>
              <a:gd name="connsiteX36" fmla="*/ 2842 w 10000"/>
              <a:gd name="connsiteY36" fmla="*/ 1479 h 9963"/>
              <a:gd name="connsiteX37" fmla="*/ 2508 w 10000"/>
              <a:gd name="connsiteY37" fmla="*/ 1369 h 9963"/>
              <a:gd name="connsiteX38" fmla="*/ 2192 w 10000"/>
              <a:gd name="connsiteY38" fmla="*/ 1248 h 9963"/>
              <a:gd name="connsiteX39" fmla="*/ 1890 w 10000"/>
              <a:gd name="connsiteY39" fmla="*/ 1121 h 9963"/>
              <a:gd name="connsiteX40" fmla="*/ 1610 w 10000"/>
              <a:gd name="connsiteY40" fmla="*/ 985 h 9963"/>
              <a:gd name="connsiteX41" fmla="*/ 1347 w 10000"/>
              <a:gd name="connsiteY41" fmla="*/ 851 h 9963"/>
              <a:gd name="connsiteX42" fmla="*/ 1105 w 10000"/>
              <a:gd name="connsiteY42" fmla="*/ 718 h 9963"/>
              <a:gd name="connsiteX43" fmla="*/ 883 w 10000"/>
              <a:gd name="connsiteY43" fmla="*/ 591 h 9963"/>
              <a:gd name="connsiteX44" fmla="*/ 686 w 10000"/>
              <a:gd name="connsiteY44" fmla="*/ 471 h 9963"/>
              <a:gd name="connsiteX45" fmla="*/ 508 w 10000"/>
              <a:gd name="connsiteY45" fmla="*/ 358 h 9963"/>
              <a:gd name="connsiteX46" fmla="*/ 358 w 10000"/>
              <a:gd name="connsiteY46" fmla="*/ 263 h 9963"/>
              <a:gd name="connsiteX47" fmla="*/ 232 w 10000"/>
              <a:gd name="connsiteY47" fmla="*/ 173 h 9963"/>
              <a:gd name="connsiteX48" fmla="*/ 59 w 10000"/>
              <a:gd name="connsiteY48" fmla="*/ 44 h 9963"/>
              <a:gd name="connsiteX49" fmla="*/ 0 w 10000"/>
              <a:gd name="connsiteY49" fmla="*/ 0 h 9963"/>
              <a:gd name="connsiteX50" fmla="*/ 0 w 10000"/>
              <a:gd name="connsiteY50" fmla="*/ 0 h 9963"/>
              <a:gd name="connsiteX0" fmla="*/ 0 w 10000"/>
              <a:gd name="connsiteY0" fmla="*/ 0 h 5961"/>
              <a:gd name="connsiteX1" fmla="*/ 16 w 10000"/>
              <a:gd name="connsiteY1" fmla="*/ 5961 h 5961"/>
              <a:gd name="connsiteX2" fmla="*/ 10000 w 10000"/>
              <a:gd name="connsiteY2" fmla="*/ 5846 h 5961"/>
              <a:gd name="connsiteX3" fmla="*/ 10000 w 10000"/>
              <a:gd name="connsiteY3" fmla="*/ 9 h 5961"/>
              <a:gd name="connsiteX4" fmla="*/ 10000 w 10000"/>
              <a:gd name="connsiteY4" fmla="*/ 9 h 5961"/>
              <a:gd name="connsiteX5" fmla="*/ 9773 w 10000"/>
              <a:gd name="connsiteY5" fmla="*/ 196 h 5961"/>
              <a:gd name="connsiteX6" fmla="*/ 9547 w 10000"/>
              <a:gd name="connsiteY6" fmla="*/ 374 h 5961"/>
              <a:gd name="connsiteX7" fmla="*/ 9320 w 10000"/>
              <a:gd name="connsiteY7" fmla="*/ 548 h 5961"/>
              <a:gd name="connsiteX8" fmla="*/ 9092 w 10000"/>
              <a:gd name="connsiteY8" fmla="*/ 698 h 5961"/>
              <a:gd name="connsiteX9" fmla="*/ 8865 w 10000"/>
              <a:gd name="connsiteY9" fmla="*/ 848 h 5961"/>
              <a:gd name="connsiteX10" fmla="*/ 8637 w 10000"/>
              <a:gd name="connsiteY10" fmla="*/ 989 h 5961"/>
              <a:gd name="connsiteX11" fmla="*/ 8412 w 10000"/>
              <a:gd name="connsiteY11" fmla="*/ 1109 h 5961"/>
              <a:gd name="connsiteX12" fmla="*/ 8184 w 10000"/>
              <a:gd name="connsiteY12" fmla="*/ 1224 h 5961"/>
              <a:gd name="connsiteX13" fmla="*/ 7957 w 10000"/>
              <a:gd name="connsiteY13" fmla="*/ 1328 h 5961"/>
              <a:gd name="connsiteX14" fmla="*/ 7734 w 10000"/>
              <a:gd name="connsiteY14" fmla="*/ 1418 h 5961"/>
              <a:gd name="connsiteX15" fmla="*/ 7508 w 10000"/>
              <a:gd name="connsiteY15" fmla="*/ 1509 h 5961"/>
              <a:gd name="connsiteX16" fmla="*/ 7285 w 10000"/>
              <a:gd name="connsiteY16" fmla="*/ 1584 h 5961"/>
              <a:gd name="connsiteX17" fmla="*/ 7062 w 10000"/>
              <a:gd name="connsiteY17" fmla="*/ 1642 h 5961"/>
              <a:gd name="connsiteX18" fmla="*/ 6840 w 10000"/>
              <a:gd name="connsiteY18" fmla="*/ 1704 h 5961"/>
              <a:gd name="connsiteX19" fmla="*/ 6620 w 10000"/>
              <a:gd name="connsiteY19" fmla="*/ 1755 h 5961"/>
              <a:gd name="connsiteX20" fmla="*/ 6402 w 10000"/>
              <a:gd name="connsiteY20" fmla="*/ 1792 h 5961"/>
              <a:gd name="connsiteX21" fmla="*/ 6184 w 10000"/>
              <a:gd name="connsiteY21" fmla="*/ 1823 h 5961"/>
              <a:gd name="connsiteX22" fmla="*/ 5968 w 10000"/>
              <a:gd name="connsiteY22" fmla="*/ 1853 h 5961"/>
              <a:gd name="connsiteX23" fmla="*/ 5755 w 10000"/>
              <a:gd name="connsiteY23" fmla="*/ 1867 h 5961"/>
              <a:gd name="connsiteX24" fmla="*/ 5542 w 10000"/>
              <a:gd name="connsiteY24" fmla="*/ 1882 h 5961"/>
              <a:gd name="connsiteX25" fmla="*/ 5332 w 10000"/>
              <a:gd name="connsiteY25" fmla="*/ 1890 h 5961"/>
              <a:gd name="connsiteX26" fmla="*/ 5124 w 10000"/>
              <a:gd name="connsiteY26" fmla="*/ 1882 h 5961"/>
              <a:gd name="connsiteX27" fmla="*/ 4918 w 10000"/>
              <a:gd name="connsiteY27" fmla="*/ 1882 h 5961"/>
              <a:gd name="connsiteX28" fmla="*/ 4714 w 10000"/>
              <a:gd name="connsiteY28" fmla="*/ 1867 h 5961"/>
              <a:gd name="connsiteX29" fmla="*/ 4514 w 10000"/>
              <a:gd name="connsiteY29" fmla="*/ 1845 h 5961"/>
              <a:gd name="connsiteX30" fmla="*/ 4316 w 10000"/>
              <a:gd name="connsiteY30" fmla="*/ 1823 h 5961"/>
              <a:gd name="connsiteX31" fmla="*/ 4122 w 10000"/>
              <a:gd name="connsiteY31" fmla="*/ 1800 h 5961"/>
              <a:gd name="connsiteX32" fmla="*/ 3929 w 10000"/>
              <a:gd name="connsiteY32" fmla="*/ 1763 h 5961"/>
              <a:gd name="connsiteX33" fmla="*/ 3739 w 10000"/>
              <a:gd name="connsiteY33" fmla="*/ 1724 h 5961"/>
              <a:gd name="connsiteX34" fmla="*/ 3553 w 10000"/>
              <a:gd name="connsiteY34" fmla="*/ 1689 h 5961"/>
              <a:gd name="connsiteX35" fmla="*/ 3190 w 10000"/>
              <a:gd name="connsiteY35" fmla="*/ 1590 h 5961"/>
              <a:gd name="connsiteX36" fmla="*/ 2842 w 10000"/>
              <a:gd name="connsiteY36" fmla="*/ 1484 h 5961"/>
              <a:gd name="connsiteX37" fmla="*/ 2508 w 10000"/>
              <a:gd name="connsiteY37" fmla="*/ 1374 h 5961"/>
              <a:gd name="connsiteX38" fmla="*/ 2192 w 10000"/>
              <a:gd name="connsiteY38" fmla="*/ 1253 h 5961"/>
              <a:gd name="connsiteX39" fmla="*/ 1890 w 10000"/>
              <a:gd name="connsiteY39" fmla="*/ 1125 h 5961"/>
              <a:gd name="connsiteX40" fmla="*/ 1610 w 10000"/>
              <a:gd name="connsiteY40" fmla="*/ 989 h 5961"/>
              <a:gd name="connsiteX41" fmla="*/ 1347 w 10000"/>
              <a:gd name="connsiteY41" fmla="*/ 854 h 5961"/>
              <a:gd name="connsiteX42" fmla="*/ 1105 w 10000"/>
              <a:gd name="connsiteY42" fmla="*/ 721 h 5961"/>
              <a:gd name="connsiteX43" fmla="*/ 883 w 10000"/>
              <a:gd name="connsiteY43" fmla="*/ 593 h 5961"/>
              <a:gd name="connsiteX44" fmla="*/ 686 w 10000"/>
              <a:gd name="connsiteY44" fmla="*/ 473 h 5961"/>
              <a:gd name="connsiteX45" fmla="*/ 508 w 10000"/>
              <a:gd name="connsiteY45" fmla="*/ 359 h 5961"/>
              <a:gd name="connsiteX46" fmla="*/ 358 w 10000"/>
              <a:gd name="connsiteY46" fmla="*/ 264 h 5961"/>
              <a:gd name="connsiteX47" fmla="*/ 232 w 10000"/>
              <a:gd name="connsiteY47" fmla="*/ 174 h 5961"/>
              <a:gd name="connsiteX48" fmla="*/ 59 w 10000"/>
              <a:gd name="connsiteY48" fmla="*/ 44 h 5961"/>
              <a:gd name="connsiteX49" fmla="*/ 0 w 10000"/>
              <a:gd name="connsiteY49" fmla="*/ 0 h 5961"/>
              <a:gd name="connsiteX50" fmla="*/ 0 w 10000"/>
              <a:gd name="connsiteY50" fmla="*/ 0 h 5961"/>
              <a:gd name="connsiteX0" fmla="*/ 0 w 10000"/>
              <a:gd name="connsiteY0" fmla="*/ 0 h 10000"/>
              <a:gd name="connsiteX1" fmla="*/ 16 w 10000"/>
              <a:gd name="connsiteY1" fmla="*/ 10000 h 10000"/>
              <a:gd name="connsiteX2" fmla="*/ 9953 w 10000"/>
              <a:gd name="connsiteY2" fmla="*/ 1370 h 10000"/>
              <a:gd name="connsiteX3" fmla="*/ 10000 w 10000"/>
              <a:gd name="connsiteY3" fmla="*/ 15 h 10000"/>
              <a:gd name="connsiteX4" fmla="*/ 10000 w 10000"/>
              <a:gd name="connsiteY4" fmla="*/ 15 h 10000"/>
              <a:gd name="connsiteX5" fmla="*/ 9773 w 10000"/>
              <a:gd name="connsiteY5" fmla="*/ 329 h 10000"/>
              <a:gd name="connsiteX6" fmla="*/ 9547 w 10000"/>
              <a:gd name="connsiteY6" fmla="*/ 627 h 10000"/>
              <a:gd name="connsiteX7" fmla="*/ 9320 w 10000"/>
              <a:gd name="connsiteY7" fmla="*/ 919 h 10000"/>
              <a:gd name="connsiteX8" fmla="*/ 9092 w 10000"/>
              <a:gd name="connsiteY8" fmla="*/ 1171 h 10000"/>
              <a:gd name="connsiteX9" fmla="*/ 8865 w 10000"/>
              <a:gd name="connsiteY9" fmla="*/ 1423 h 10000"/>
              <a:gd name="connsiteX10" fmla="*/ 8637 w 10000"/>
              <a:gd name="connsiteY10" fmla="*/ 1659 h 10000"/>
              <a:gd name="connsiteX11" fmla="*/ 8412 w 10000"/>
              <a:gd name="connsiteY11" fmla="*/ 1860 h 10000"/>
              <a:gd name="connsiteX12" fmla="*/ 8184 w 10000"/>
              <a:gd name="connsiteY12" fmla="*/ 2053 h 10000"/>
              <a:gd name="connsiteX13" fmla="*/ 7957 w 10000"/>
              <a:gd name="connsiteY13" fmla="*/ 2228 h 10000"/>
              <a:gd name="connsiteX14" fmla="*/ 7734 w 10000"/>
              <a:gd name="connsiteY14" fmla="*/ 2379 h 10000"/>
              <a:gd name="connsiteX15" fmla="*/ 7508 w 10000"/>
              <a:gd name="connsiteY15" fmla="*/ 2531 h 10000"/>
              <a:gd name="connsiteX16" fmla="*/ 7285 w 10000"/>
              <a:gd name="connsiteY16" fmla="*/ 2657 h 10000"/>
              <a:gd name="connsiteX17" fmla="*/ 7062 w 10000"/>
              <a:gd name="connsiteY17" fmla="*/ 2755 h 10000"/>
              <a:gd name="connsiteX18" fmla="*/ 6840 w 10000"/>
              <a:gd name="connsiteY18" fmla="*/ 2859 h 10000"/>
              <a:gd name="connsiteX19" fmla="*/ 6620 w 10000"/>
              <a:gd name="connsiteY19" fmla="*/ 2944 h 10000"/>
              <a:gd name="connsiteX20" fmla="*/ 6402 w 10000"/>
              <a:gd name="connsiteY20" fmla="*/ 3006 h 10000"/>
              <a:gd name="connsiteX21" fmla="*/ 6184 w 10000"/>
              <a:gd name="connsiteY21" fmla="*/ 3058 h 10000"/>
              <a:gd name="connsiteX22" fmla="*/ 5968 w 10000"/>
              <a:gd name="connsiteY22" fmla="*/ 3109 h 10000"/>
              <a:gd name="connsiteX23" fmla="*/ 5755 w 10000"/>
              <a:gd name="connsiteY23" fmla="*/ 3132 h 10000"/>
              <a:gd name="connsiteX24" fmla="*/ 5542 w 10000"/>
              <a:gd name="connsiteY24" fmla="*/ 3157 h 10000"/>
              <a:gd name="connsiteX25" fmla="*/ 5332 w 10000"/>
              <a:gd name="connsiteY25" fmla="*/ 3171 h 10000"/>
              <a:gd name="connsiteX26" fmla="*/ 5124 w 10000"/>
              <a:gd name="connsiteY26" fmla="*/ 3157 h 10000"/>
              <a:gd name="connsiteX27" fmla="*/ 4918 w 10000"/>
              <a:gd name="connsiteY27" fmla="*/ 3157 h 10000"/>
              <a:gd name="connsiteX28" fmla="*/ 4714 w 10000"/>
              <a:gd name="connsiteY28" fmla="*/ 3132 h 10000"/>
              <a:gd name="connsiteX29" fmla="*/ 4514 w 10000"/>
              <a:gd name="connsiteY29" fmla="*/ 3095 h 10000"/>
              <a:gd name="connsiteX30" fmla="*/ 4316 w 10000"/>
              <a:gd name="connsiteY30" fmla="*/ 3058 h 10000"/>
              <a:gd name="connsiteX31" fmla="*/ 4122 w 10000"/>
              <a:gd name="connsiteY31" fmla="*/ 3020 h 10000"/>
              <a:gd name="connsiteX32" fmla="*/ 3929 w 10000"/>
              <a:gd name="connsiteY32" fmla="*/ 2958 h 10000"/>
              <a:gd name="connsiteX33" fmla="*/ 3739 w 10000"/>
              <a:gd name="connsiteY33" fmla="*/ 2892 h 10000"/>
              <a:gd name="connsiteX34" fmla="*/ 3553 w 10000"/>
              <a:gd name="connsiteY34" fmla="*/ 2833 h 10000"/>
              <a:gd name="connsiteX35" fmla="*/ 3190 w 10000"/>
              <a:gd name="connsiteY35" fmla="*/ 2667 h 10000"/>
              <a:gd name="connsiteX36" fmla="*/ 2842 w 10000"/>
              <a:gd name="connsiteY36" fmla="*/ 2490 h 10000"/>
              <a:gd name="connsiteX37" fmla="*/ 2508 w 10000"/>
              <a:gd name="connsiteY37" fmla="*/ 2305 h 10000"/>
              <a:gd name="connsiteX38" fmla="*/ 2192 w 10000"/>
              <a:gd name="connsiteY38" fmla="*/ 2102 h 10000"/>
              <a:gd name="connsiteX39" fmla="*/ 1890 w 10000"/>
              <a:gd name="connsiteY39" fmla="*/ 1887 h 10000"/>
              <a:gd name="connsiteX40" fmla="*/ 1610 w 10000"/>
              <a:gd name="connsiteY40" fmla="*/ 1659 h 10000"/>
              <a:gd name="connsiteX41" fmla="*/ 1347 w 10000"/>
              <a:gd name="connsiteY41" fmla="*/ 1433 h 10000"/>
              <a:gd name="connsiteX42" fmla="*/ 1105 w 10000"/>
              <a:gd name="connsiteY42" fmla="*/ 1210 h 10000"/>
              <a:gd name="connsiteX43" fmla="*/ 883 w 10000"/>
              <a:gd name="connsiteY43" fmla="*/ 995 h 10000"/>
              <a:gd name="connsiteX44" fmla="*/ 686 w 10000"/>
              <a:gd name="connsiteY44" fmla="*/ 793 h 10000"/>
              <a:gd name="connsiteX45" fmla="*/ 508 w 10000"/>
              <a:gd name="connsiteY45" fmla="*/ 602 h 10000"/>
              <a:gd name="connsiteX46" fmla="*/ 358 w 10000"/>
              <a:gd name="connsiteY46" fmla="*/ 443 h 10000"/>
              <a:gd name="connsiteX47" fmla="*/ 232 w 10000"/>
              <a:gd name="connsiteY47" fmla="*/ 292 h 10000"/>
              <a:gd name="connsiteX48" fmla="*/ 59 w 10000"/>
              <a:gd name="connsiteY48" fmla="*/ 74 h 10000"/>
              <a:gd name="connsiteX49" fmla="*/ 0 w 10000"/>
              <a:gd name="connsiteY49" fmla="*/ 0 h 10000"/>
              <a:gd name="connsiteX50" fmla="*/ 0 w 10000"/>
              <a:gd name="connsiteY50" fmla="*/ 0 h 10000"/>
              <a:gd name="connsiteX0" fmla="*/ 0 w 10000"/>
              <a:gd name="connsiteY0" fmla="*/ 0 h 7955"/>
              <a:gd name="connsiteX1" fmla="*/ 32 w 10000"/>
              <a:gd name="connsiteY1" fmla="*/ 7955 h 7955"/>
              <a:gd name="connsiteX2" fmla="*/ 9953 w 10000"/>
              <a:gd name="connsiteY2" fmla="*/ 1370 h 7955"/>
              <a:gd name="connsiteX3" fmla="*/ 10000 w 10000"/>
              <a:gd name="connsiteY3" fmla="*/ 15 h 7955"/>
              <a:gd name="connsiteX4" fmla="*/ 10000 w 10000"/>
              <a:gd name="connsiteY4" fmla="*/ 15 h 7955"/>
              <a:gd name="connsiteX5" fmla="*/ 9773 w 10000"/>
              <a:gd name="connsiteY5" fmla="*/ 329 h 7955"/>
              <a:gd name="connsiteX6" fmla="*/ 9547 w 10000"/>
              <a:gd name="connsiteY6" fmla="*/ 627 h 7955"/>
              <a:gd name="connsiteX7" fmla="*/ 9320 w 10000"/>
              <a:gd name="connsiteY7" fmla="*/ 919 h 7955"/>
              <a:gd name="connsiteX8" fmla="*/ 9092 w 10000"/>
              <a:gd name="connsiteY8" fmla="*/ 1171 h 7955"/>
              <a:gd name="connsiteX9" fmla="*/ 8865 w 10000"/>
              <a:gd name="connsiteY9" fmla="*/ 1423 h 7955"/>
              <a:gd name="connsiteX10" fmla="*/ 8637 w 10000"/>
              <a:gd name="connsiteY10" fmla="*/ 1659 h 7955"/>
              <a:gd name="connsiteX11" fmla="*/ 8412 w 10000"/>
              <a:gd name="connsiteY11" fmla="*/ 1860 h 7955"/>
              <a:gd name="connsiteX12" fmla="*/ 8184 w 10000"/>
              <a:gd name="connsiteY12" fmla="*/ 2053 h 7955"/>
              <a:gd name="connsiteX13" fmla="*/ 7957 w 10000"/>
              <a:gd name="connsiteY13" fmla="*/ 2228 h 7955"/>
              <a:gd name="connsiteX14" fmla="*/ 7734 w 10000"/>
              <a:gd name="connsiteY14" fmla="*/ 2379 h 7955"/>
              <a:gd name="connsiteX15" fmla="*/ 7508 w 10000"/>
              <a:gd name="connsiteY15" fmla="*/ 2531 h 7955"/>
              <a:gd name="connsiteX16" fmla="*/ 7285 w 10000"/>
              <a:gd name="connsiteY16" fmla="*/ 2657 h 7955"/>
              <a:gd name="connsiteX17" fmla="*/ 7062 w 10000"/>
              <a:gd name="connsiteY17" fmla="*/ 2755 h 7955"/>
              <a:gd name="connsiteX18" fmla="*/ 6840 w 10000"/>
              <a:gd name="connsiteY18" fmla="*/ 2859 h 7955"/>
              <a:gd name="connsiteX19" fmla="*/ 6620 w 10000"/>
              <a:gd name="connsiteY19" fmla="*/ 2944 h 7955"/>
              <a:gd name="connsiteX20" fmla="*/ 6402 w 10000"/>
              <a:gd name="connsiteY20" fmla="*/ 3006 h 7955"/>
              <a:gd name="connsiteX21" fmla="*/ 6184 w 10000"/>
              <a:gd name="connsiteY21" fmla="*/ 3058 h 7955"/>
              <a:gd name="connsiteX22" fmla="*/ 5968 w 10000"/>
              <a:gd name="connsiteY22" fmla="*/ 3109 h 7955"/>
              <a:gd name="connsiteX23" fmla="*/ 5755 w 10000"/>
              <a:gd name="connsiteY23" fmla="*/ 3132 h 7955"/>
              <a:gd name="connsiteX24" fmla="*/ 5542 w 10000"/>
              <a:gd name="connsiteY24" fmla="*/ 3157 h 7955"/>
              <a:gd name="connsiteX25" fmla="*/ 5332 w 10000"/>
              <a:gd name="connsiteY25" fmla="*/ 3171 h 7955"/>
              <a:gd name="connsiteX26" fmla="*/ 5124 w 10000"/>
              <a:gd name="connsiteY26" fmla="*/ 3157 h 7955"/>
              <a:gd name="connsiteX27" fmla="*/ 4918 w 10000"/>
              <a:gd name="connsiteY27" fmla="*/ 3157 h 7955"/>
              <a:gd name="connsiteX28" fmla="*/ 4714 w 10000"/>
              <a:gd name="connsiteY28" fmla="*/ 3132 h 7955"/>
              <a:gd name="connsiteX29" fmla="*/ 4514 w 10000"/>
              <a:gd name="connsiteY29" fmla="*/ 3095 h 7955"/>
              <a:gd name="connsiteX30" fmla="*/ 4316 w 10000"/>
              <a:gd name="connsiteY30" fmla="*/ 3058 h 7955"/>
              <a:gd name="connsiteX31" fmla="*/ 4122 w 10000"/>
              <a:gd name="connsiteY31" fmla="*/ 3020 h 7955"/>
              <a:gd name="connsiteX32" fmla="*/ 3929 w 10000"/>
              <a:gd name="connsiteY32" fmla="*/ 2958 h 7955"/>
              <a:gd name="connsiteX33" fmla="*/ 3739 w 10000"/>
              <a:gd name="connsiteY33" fmla="*/ 2892 h 7955"/>
              <a:gd name="connsiteX34" fmla="*/ 3553 w 10000"/>
              <a:gd name="connsiteY34" fmla="*/ 2833 h 7955"/>
              <a:gd name="connsiteX35" fmla="*/ 3190 w 10000"/>
              <a:gd name="connsiteY35" fmla="*/ 2667 h 7955"/>
              <a:gd name="connsiteX36" fmla="*/ 2842 w 10000"/>
              <a:gd name="connsiteY36" fmla="*/ 2490 h 7955"/>
              <a:gd name="connsiteX37" fmla="*/ 2508 w 10000"/>
              <a:gd name="connsiteY37" fmla="*/ 2305 h 7955"/>
              <a:gd name="connsiteX38" fmla="*/ 2192 w 10000"/>
              <a:gd name="connsiteY38" fmla="*/ 2102 h 7955"/>
              <a:gd name="connsiteX39" fmla="*/ 1890 w 10000"/>
              <a:gd name="connsiteY39" fmla="*/ 1887 h 7955"/>
              <a:gd name="connsiteX40" fmla="*/ 1610 w 10000"/>
              <a:gd name="connsiteY40" fmla="*/ 1659 h 7955"/>
              <a:gd name="connsiteX41" fmla="*/ 1347 w 10000"/>
              <a:gd name="connsiteY41" fmla="*/ 1433 h 7955"/>
              <a:gd name="connsiteX42" fmla="*/ 1105 w 10000"/>
              <a:gd name="connsiteY42" fmla="*/ 1210 h 7955"/>
              <a:gd name="connsiteX43" fmla="*/ 883 w 10000"/>
              <a:gd name="connsiteY43" fmla="*/ 995 h 7955"/>
              <a:gd name="connsiteX44" fmla="*/ 686 w 10000"/>
              <a:gd name="connsiteY44" fmla="*/ 793 h 7955"/>
              <a:gd name="connsiteX45" fmla="*/ 508 w 10000"/>
              <a:gd name="connsiteY45" fmla="*/ 602 h 7955"/>
              <a:gd name="connsiteX46" fmla="*/ 358 w 10000"/>
              <a:gd name="connsiteY46" fmla="*/ 443 h 7955"/>
              <a:gd name="connsiteX47" fmla="*/ 232 w 10000"/>
              <a:gd name="connsiteY47" fmla="*/ 292 h 7955"/>
              <a:gd name="connsiteX48" fmla="*/ 59 w 10000"/>
              <a:gd name="connsiteY48" fmla="*/ 74 h 7955"/>
              <a:gd name="connsiteX49" fmla="*/ 0 w 10000"/>
              <a:gd name="connsiteY49" fmla="*/ 0 h 7955"/>
              <a:gd name="connsiteX50" fmla="*/ 0 w 10000"/>
              <a:gd name="connsiteY50" fmla="*/ 0 h 7955"/>
              <a:gd name="connsiteX0" fmla="*/ 0 w 10000"/>
              <a:gd name="connsiteY0" fmla="*/ 0 h 10000"/>
              <a:gd name="connsiteX1" fmla="*/ 32 w 10000"/>
              <a:gd name="connsiteY1" fmla="*/ 10000 h 10000"/>
              <a:gd name="connsiteX2" fmla="*/ 5409 w 10000"/>
              <a:gd name="connsiteY2" fmla="*/ 5405 h 10000"/>
              <a:gd name="connsiteX3" fmla="*/ 9953 w 10000"/>
              <a:gd name="connsiteY3" fmla="*/ 1722 h 10000"/>
              <a:gd name="connsiteX4" fmla="*/ 10000 w 10000"/>
              <a:gd name="connsiteY4" fmla="*/ 19 h 10000"/>
              <a:gd name="connsiteX5" fmla="*/ 10000 w 10000"/>
              <a:gd name="connsiteY5" fmla="*/ 19 h 10000"/>
              <a:gd name="connsiteX6" fmla="*/ 9773 w 10000"/>
              <a:gd name="connsiteY6" fmla="*/ 414 h 10000"/>
              <a:gd name="connsiteX7" fmla="*/ 9547 w 10000"/>
              <a:gd name="connsiteY7" fmla="*/ 788 h 10000"/>
              <a:gd name="connsiteX8" fmla="*/ 9320 w 10000"/>
              <a:gd name="connsiteY8" fmla="*/ 1155 h 10000"/>
              <a:gd name="connsiteX9" fmla="*/ 9092 w 10000"/>
              <a:gd name="connsiteY9" fmla="*/ 1472 h 10000"/>
              <a:gd name="connsiteX10" fmla="*/ 8865 w 10000"/>
              <a:gd name="connsiteY10" fmla="*/ 1789 h 10000"/>
              <a:gd name="connsiteX11" fmla="*/ 8637 w 10000"/>
              <a:gd name="connsiteY11" fmla="*/ 2085 h 10000"/>
              <a:gd name="connsiteX12" fmla="*/ 8412 w 10000"/>
              <a:gd name="connsiteY12" fmla="*/ 2338 h 10000"/>
              <a:gd name="connsiteX13" fmla="*/ 8184 w 10000"/>
              <a:gd name="connsiteY13" fmla="*/ 2581 h 10000"/>
              <a:gd name="connsiteX14" fmla="*/ 7957 w 10000"/>
              <a:gd name="connsiteY14" fmla="*/ 2801 h 10000"/>
              <a:gd name="connsiteX15" fmla="*/ 7734 w 10000"/>
              <a:gd name="connsiteY15" fmla="*/ 2991 h 10000"/>
              <a:gd name="connsiteX16" fmla="*/ 7508 w 10000"/>
              <a:gd name="connsiteY16" fmla="*/ 3182 h 10000"/>
              <a:gd name="connsiteX17" fmla="*/ 7285 w 10000"/>
              <a:gd name="connsiteY17" fmla="*/ 3340 h 10000"/>
              <a:gd name="connsiteX18" fmla="*/ 7062 w 10000"/>
              <a:gd name="connsiteY18" fmla="*/ 3463 h 10000"/>
              <a:gd name="connsiteX19" fmla="*/ 6840 w 10000"/>
              <a:gd name="connsiteY19" fmla="*/ 3594 h 10000"/>
              <a:gd name="connsiteX20" fmla="*/ 6620 w 10000"/>
              <a:gd name="connsiteY20" fmla="*/ 3701 h 10000"/>
              <a:gd name="connsiteX21" fmla="*/ 6402 w 10000"/>
              <a:gd name="connsiteY21" fmla="*/ 3779 h 10000"/>
              <a:gd name="connsiteX22" fmla="*/ 6184 w 10000"/>
              <a:gd name="connsiteY22" fmla="*/ 3844 h 10000"/>
              <a:gd name="connsiteX23" fmla="*/ 5968 w 10000"/>
              <a:gd name="connsiteY23" fmla="*/ 3908 h 10000"/>
              <a:gd name="connsiteX24" fmla="*/ 5755 w 10000"/>
              <a:gd name="connsiteY24" fmla="*/ 3937 h 10000"/>
              <a:gd name="connsiteX25" fmla="*/ 5542 w 10000"/>
              <a:gd name="connsiteY25" fmla="*/ 3969 h 10000"/>
              <a:gd name="connsiteX26" fmla="*/ 5332 w 10000"/>
              <a:gd name="connsiteY26" fmla="*/ 3986 h 10000"/>
              <a:gd name="connsiteX27" fmla="*/ 5124 w 10000"/>
              <a:gd name="connsiteY27" fmla="*/ 3969 h 10000"/>
              <a:gd name="connsiteX28" fmla="*/ 4918 w 10000"/>
              <a:gd name="connsiteY28" fmla="*/ 3969 h 10000"/>
              <a:gd name="connsiteX29" fmla="*/ 4714 w 10000"/>
              <a:gd name="connsiteY29" fmla="*/ 3937 h 10000"/>
              <a:gd name="connsiteX30" fmla="*/ 4514 w 10000"/>
              <a:gd name="connsiteY30" fmla="*/ 3891 h 10000"/>
              <a:gd name="connsiteX31" fmla="*/ 4316 w 10000"/>
              <a:gd name="connsiteY31" fmla="*/ 3844 h 10000"/>
              <a:gd name="connsiteX32" fmla="*/ 4122 w 10000"/>
              <a:gd name="connsiteY32" fmla="*/ 3796 h 10000"/>
              <a:gd name="connsiteX33" fmla="*/ 3929 w 10000"/>
              <a:gd name="connsiteY33" fmla="*/ 3718 h 10000"/>
              <a:gd name="connsiteX34" fmla="*/ 3739 w 10000"/>
              <a:gd name="connsiteY34" fmla="*/ 3635 h 10000"/>
              <a:gd name="connsiteX35" fmla="*/ 3553 w 10000"/>
              <a:gd name="connsiteY35" fmla="*/ 3561 h 10000"/>
              <a:gd name="connsiteX36" fmla="*/ 3190 w 10000"/>
              <a:gd name="connsiteY36" fmla="*/ 3353 h 10000"/>
              <a:gd name="connsiteX37" fmla="*/ 2842 w 10000"/>
              <a:gd name="connsiteY37" fmla="*/ 3130 h 10000"/>
              <a:gd name="connsiteX38" fmla="*/ 2508 w 10000"/>
              <a:gd name="connsiteY38" fmla="*/ 2898 h 10000"/>
              <a:gd name="connsiteX39" fmla="*/ 2192 w 10000"/>
              <a:gd name="connsiteY39" fmla="*/ 2642 h 10000"/>
              <a:gd name="connsiteX40" fmla="*/ 1890 w 10000"/>
              <a:gd name="connsiteY40" fmla="*/ 2372 h 10000"/>
              <a:gd name="connsiteX41" fmla="*/ 1610 w 10000"/>
              <a:gd name="connsiteY41" fmla="*/ 2085 h 10000"/>
              <a:gd name="connsiteX42" fmla="*/ 1347 w 10000"/>
              <a:gd name="connsiteY42" fmla="*/ 1801 h 10000"/>
              <a:gd name="connsiteX43" fmla="*/ 1105 w 10000"/>
              <a:gd name="connsiteY43" fmla="*/ 1521 h 10000"/>
              <a:gd name="connsiteX44" fmla="*/ 883 w 10000"/>
              <a:gd name="connsiteY44" fmla="*/ 1251 h 10000"/>
              <a:gd name="connsiteX45" fmla="*/ 686 w 10000"/>
              <a:gd name="connsiteY45" fmla="*/ 997 h 10000"/>
              <a:gd name="connsiteX46" fmla="*/ 508 w 10000"/>
              <a:gd name="connsiteY46" fmla="*/ 757 h 10000"/>
              <a:gd name="connsiteX47" fmla="*/ 358 w 10000"/>
              <a:gd name="connsiteY47" fmla="*/ 557 h 10000"/>
              <a:gd name="connsiteX48" fmla="*/ 232 w 10000"/>
              <a:gd name="connsiteY48" fmla="*/ 367 h 10000"/>
              <a:gd name="connsiteX49" fmla="*/ 59 w 10000"/>
              <a:gd name="connsiteY49" fmla="*/ 93 h 10000"/>
              <a:gd name="connsiteX50" fmla="*/ 0 w 10000"/>
              <a:gd name="connsiteY50" fmla="*/ 0 h 10000"/>
              <a:gd name="connsiteX51" fmla="*/ 0 w 10000"/>
              <a:gd name="connsiteY51" fmla="*/ 0 h 10000"/>
              <a:gd name="connsiteX0" fmla="*/ 0 w 10000"/>
              <a:gd name="connsiteY0" fmla="*/ 0 h 5405"/>
              <a:gd name="connsiteX1" fmla="*/ 16 w 10000"/>
              <a:gd name="connsiteY1" fmla="*/ 2608 h 5405"/>
              <a:gd name="connsiteX2" fmla="*/ 5409 w 10000"/>
              <a:gd name="connsiteY2" fmla="*/ 5405 h 5405"/>
              <a:gd name="connsiteX3" fmla="*/ 9953 w 10000"/>
              <a:gd name="connsiteY3" fmla="*/ 1722 h 5405"/>
              <a:gd name="connsiteX4" fmla="*/ 10000 w 10000"/>
              <a:gd name="connsiteY4" fmla="*/ 19 h 5405"/>
              <a:gd name="connsiteX5" fmla="*/ 10000 w 10000"/>
              <a:gd name="connsiteY5" fmla="*/ 19 h 5405"/>
              <a:gd name="connsiteX6" fmla="*/ 9773 w 10000"/>
              <a:gd name="connsiteY6" fmla="*/ 414 h 5405"/>
              <a:gd name="connsiteX7" fmla="*/ 9547 w 10000"/>
              <a:gd name="connsiteY7" fmla="*/ 788 h 5405"/>
              <a:gd name="connsiteX8" fmla="*/ 9320 w 10000"/>
              <a:gd name="connsiteY8" fmla="*/ 1155 h 5405"/>
              <a:gd name="connsiteX9" fmla="*/ 9092 w 10000"/>
              <a:gd name="connsiteY9" fmla="*/ 1472 h 5405"/>
              <a:gd name="connsiteX10" fmla="*/ 8865 w 10000"/>
              <a:gd name="connsiteY10" fmla="*/ 1789 h 5405"/>
              <a:gd name="connsiteX11" fmla="*/ 8637 w 10000"/>
              <a:gd name="connsiteY11" fmla="*/ 2085 h 5405"/>
              <a:gd name="connsiteX12" fmla="*/ 8412 w 10000"/>
              <a:gd name="connsiteY12" fmla="*/ 2338 h 5405"/>
              <a:gd name="connsiteX13" fmla="*/ 8184 w 10000"/>
              <a:gd name="connsiteY13" fmla="*/ 2581 h 5405"/>
              <a:gd name="connsiteX14" fmla="*/ 7957 w 10000"/>
              <a:gd name="connsiteY14" fmla="*/ 2801 h 5405"/>
              <a:gd name="connsiteX15" fmla="*/ 7734 w 10000"/>
              <a:gd name="connsiteY15" fmla="*/ 2991 h 5405"/>
              <a:gd name="connsiteX16" fmla="*/ 7508 w 10000"/>
              <a:gd name="connsiteY16" fmla="*/ 3182 h 5405"/>
              <a:gd name="connsiteX17" fmla="*/ 7285 w 10000"/>
              <a:gd name="connsiteY17" fmla="*/ 3340 h 5405"/>
              <a:gd name="connsiteX18" fmla="*/ 7062 w 10000"/>
              <a:gd name="connsiteY18" fmla="*/ 3463 h 5405"/>
              <a:gd name="connsiteX19" fmla="*/ 6840 w 10000"/>
              <a:gd name="connsiteY19" fmla="*/ 3594 h 5405"/>
              <a:gd name="connsiteX20" fmla="*/ 6620 w 10000"/>
              <a:gd name="connsiteY20" fmla="*/ 3701 h 5405"/>
              <a:gd name="connsiteX21" fmla="*/ 6402 w 10000"/>
              <a:gd name="connsiteY21" fmla="*/ 3779 h 5405"/>
              <a:gd name="connsiteX22" fmla="*/ 6184 w 10000"/>
              <a:gd name="connsiteY22" fmla="*/ 3844 h 5405"/>
              <a:gd name="connsiteX23" fmla="*/ 5968 w 10000"/>
              <a:gd name="connsiteY23" fmla="*/ 3908 h 5405"/>
              <a:gd name="connsiteX24" fmla="*/ 5755 w 10000"/>
              <a:gd name="connsiteY24" fmla="*/ 3937 h 5405"/>
              <a:gd name="connsiteX25" fmla="*/ 5542 w 10000"/>
              <a:gd name="connsiteY25" fmla="*/ 3969 h 5405"/>
              <a:gd name="connsiteX26" fmla="*/ 5332 w 10000"/>
              <a:gd name="connsiteY26" fmla="*/ 3986 h 5405"/>
              <a:gd name="connsiteX27" fmla="*/ 5124 w 10000"/>
              <a:gd name="connsiteY27" fmla="*/ 3969 h 5405"/>
              <a:gd name="connsiteX28" fmla="*/ 4918 w 10000"/>
              <a:gd name="connsiteY28" fmla="*/ 3969 h 5405"/>
              <a:gd name="connsiteX29" fmla="*/ 4714 w 10000"/>
              <a:gd name="connsiteY29" fmla="*/ 3937 h 5405"/>
              <a:gd name="connsiteX30" fmla="*/ 4514 w 10000"/>
              <a:gd name="connsiteY30" fmla="*/ 3891 h 5405"/>
              <a:gd name="connsiteX31" fmla="*/ 4316 w 10000"/>
              <a:gd name="connsiteY31" fmla="*/ 3844 h 5405"/>
              <a:gd name="connsiteX32" fmla="*/ 4122 w 10000"/>
              <a:gd name="connsiteY32" fmla="*/ 3796 h 5405"/>
              <a:gd name="connsiteX33" fmla="*/ 3929 w 10000"/>
              <a:gd name="connsiteY33" fmla="*/ 3718 h 5405"/>
              <a:gd name="connsiteX34" fmla="*/ 3739 w 10000"/>
              <a:gd name="connsiteY34" fmla="*/ 3635 h 5405"/>
              <a:gd name="connsiteX35" fmla="*/ 3553 w 10000"/>
              <a:gd name="connsiteY35" fmla="*/ 3561 h 5405"/>
              <a:gd name="connsiteX36" fmla="*/ 3190 w 10000"/>
              <a:gd name="connsiteY36" fmla="*/ 3353 h 5405"/>
              <a:gd name="connsiteX37" fmla="*/ 2842 w 10000"/>
              <a:gd name="connsiteY37" fmla="*/ 3130 h 5405"/>
              <a:gd name="connsiteX38" fmla="*/ 2508 w 10000"/>
              <a:gd name="connsiteY38" fmla="*/ 2898 h 5405"/>
              <a:gd name="connsiteX39" fmla="*/ 2192 w 10000"/>
              <a:gd name="connsiteY39" fmla="*/ 2642 h 5405"/>
              <a:gd name="connsiteX40" fmla="*/ 1890 w 10000"/>
              <a:gd name="connsiteY40" fmla="*/ 2372 h 5405"/>
              <a:gd name="connsiteX41" fmla="*/ 1610 w 10000"/>
              <a:gd name="connsiteY41" fmla="*/ 2085 h 5405"/>
              <a:gd name="connsiteX42" fmla="*/ 1347 w 10000"/>
              <a:gd name="connsiteY42" fmla="*/ 1801 h 5405"/>
              <a:gd name="connsiteX43" fmla="*/ 1105 w 10000"/>
              <a:gd name="connsiteY43" fmla="*/ 1521 h 5405"/>
              <a:gd name="connsiteX44" fmla="*/ 883 w 10000"/>
              <a:gd name="connsiteY44" fmla="*/ 1251 h 5405"/>
              <a:gd name="connsiteX45" fmla="*/ 686 w 10000"/>
              <a:gd name="connsiteY45" fmla="*/ 997 h 5405"/>
              <a:gd name="connsiteX46" fmla="*/ 508 w 10000"/>
              <a:gd name="connsiteY46" fmla="*/ 757 h 5405"/>
              <a:gd name="connsiteX47" fmla="*/ 358 w 10000"/>
              <a:gd name="connsiteY47" fmla="*/ 557 h 5405"/>
              <a:gd name="connsiteX48" fmla="*/ 232 w 10000"/>
              <a:gd name="connsiteY48" fmla="*/ 367 h 5405"/>
              <a:gd name="connsiteX49" fmla="*/ 59 w 10000"/>
              <a:gd name="connsiteY49" fmla="*/ 93 h 5405"/>
              <a:gd name="connsiteX50" fmla="*/ 0 w 10000"/>
              <a:gd name="connsiteY50" fmla="*/ 0 h 5405"/>
              <a:gd name="connsiteX51" fmla="*/ 0 w 10000"/>
              <a:gd name="connsiteY51" fmla="*/ 0 h 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000" h="5405">
                <a:moveTo>
                  <a:pt x="0" y="0"/>
                </a:moveTo>
                <a:cubicBezTo>
                  <a:pt x="5" y="4190"/>
                  <a:pt x="11" y="-1582"/>
                  <a:pt x="16" y="2608"/>
                </a:cubicBezTo>
                <a:lnTo>
                  <a:pt x="5409" y="5405"/>
                </a:lnTo>
                <a:lnTo>
                  <a:pt x="9953" y="1722"/>
                </a:lnTo>
                <a:cubicBezTo>
                  <a:pt x="9969" y="1154"/>
                  <a:pt x="9984" y="587"/>
                  <a:pt x="10000" y="19"/>
                </a:cubicBezTo>
                <a:lnTo>
                  <a:pt x="10000" y="19"/>
                </a:lnTo>
                <a:lnTo>
                  <a:pt x="9773" y="414"/>
                </a:lnTo>
                <a:cubicBezTo>
                  <a:pt x="9698" y="539"/>
                  <a:pt x="9622" y="663"/>
                  <a:pt x="9547" y="788"/>
                </a:cubicBezTo>
                <a:cubicBezTo>
                  <a:pt x="9471" y="910"/>
                  <a:pt x="9396" y="1033"/>
                  <a:pt x="9320" y="1155"/>
                </a:cubicBezTo>
                <a:lnTo>
                  <a:pt x="9092" y="1472"/>
                </a:lnTo>
                <a:lnTo>
                  <a:pt x="8865" y="1789"/>
                </a:lnTo>
                <a:lnTo>
                  <a:pt x="8637" y="2085"/>
                </a:lnTo>
                <a:lnTo>
                  <a:pt x="8412" y="2338"/>
                </a:lnTo>
                <a:lnTo>
                  <a:pt x="8184" y="2581"/>
                </a:lnTo>
                <a:lnTo>
                  <a:pt x="7957" y="2801"/>
                </a:lnTo>
                <a:lnTo>
                  <a:pt x="7734" y="2991"/>
                </a:lnTo>
                <a:lnTo>
                  <a:pt x="7508" y="3182"/>
                </a:lnTo>
                <a:lnTo>
                  <a:pt x="7285" y="3340"/>
                </a:lnTo>
                <a:lnTo>
                  <a:pt x="7062" y="3463"/>
                </a:lnTo>
                <a:lnTo>
                  <a:pt x="6840" y="3594"/>
                </a:lnTo>
                <a:lnTo>
                  <a:pt x="6620" y="3701"/>
                </a:lnTo>
                <a:lnTo>
                  <a:pt x="6402" y="3779"/>
                </a:lnTo>
                <a:lnTo>
                  <a:pt x="6184" y="3844"/>
                </a:lnTo>
                <a:lnTo>
                  <a:pt x="5968" y="3908"/>
                </a:lnTo>
                <a:lnTo>
                  <a:pt x="5755" y="3937"/>
                </a:lnTo>
                <a:lnTo>
                  <a:pt x="5542" y="3969"/>
                </a:lnTo>
                <a:lnTo>
                  <a:pt x="5332" y="3986"/>
                </a:lnTo>
                <a:lnTo>
                  <a:pt x="5124" y="3969"/>
                </a:lnTo>
                <a:lnTo>
                  <a:pt x="4918" y="3969"/>
                </a:lnTo>
                <a:lnTo>
                  <a:pt x="4714" y="3937"/>
                </a:lnTo>
                <a:lnTo>
                  <a:pt x="4514" y="3891"/>
                </a:lnTo>
                <a:lnTo>
                  <a:pt x="4316" y="3844"/>
                </a:lnTo>
                <a:lnTo>
                  <a:pt x="4122" y="3796"/>
                </a:lnTo>
                <a:lnTo>
                  <a:pt x="3929" y="3718"/>
                </a:lnTo>
                <a:lnTo>
                  <a:pt x="3739" y="3635"/>
                </a:lnTo>
                <a:lnTo>
                  <a:pt x="3553" y="3561"/>
                </a:lnTo>
                <a:lnTo>
                  <a:pt x="3190" y="3353"/>
                </a:lnTo>
                <a:lnTo>
                  <a:pt x="2842" y="3130"/>
                </a:lnTo>
                <a:lnTo>
                  <a:pt x="2508" y="2898"/>
                </a:lnTo>
                <a:lnTo>
                  <a:pt x="2192" y="2642"/>
                </a:lnTo>
                <a:lnTo>
                  <a:pt x="1890" y="2372"/>
                </a:lnTo>
                <a:lnTo>
                  <a:pt x="1610" y="2085"/>
                </a:lnTo>
                <a:lnTo>
                  <a:pt x="1347" y="1801"/>
                </a:lnTo>
                <a:lnTo>
                  <a:pt x="1105" y="1521"/>
                </a:lnTo>
                <a:lnTo>
                  <a:pt x="883" y="1251"/>
                </a:lnTo>
                <a:cubicBezTo>
                  <a:pt x="817" y="1167"/>
                  <a:pt x="752" y="1081"/>
                  <a:pt x="686" y="997"/>
                </a:cubicBezTo>
                <a:cubicBezTo>
                  <a:pt x="627" y="916"/>
                  <a:pt x="567" y="837"/>
                  <a:pt x="508" y="757"/>
                </a:cubicBezTo>
                <a:lnTo>
                  <a:pt x="358" y="557"/>
                </a:lnTo>
                <a:lnTo>
                  <a:pt x="232" y="367"/>
                </a:lnTo>
                <a:cubicBezTo>
                  <a:pt x="174" y="277"/>
                  <a:pt x="117" y="184"/>
                  <a:pt x="59" y="93"/>
                </a:cubicBezTo>
                <a:cubicBezTo>
                  <a:pt x="39" y="62"/>
                  <a:pt x="20" y="31"/>
                  <a:pt x="0" y="0"/>
                </a:cubicBezTo>
                <a:lnTo>
                  <a:pt x="0" y="0"/>
                </a:lnTo>
                <a:close/>
              </a:path>
            </a:pathLst>
          </a:custGeom>
          <a:solidFill>
            <a:schemeClr val="bg1"/>
          </a:solidFill>
          <a:ln>
            <a:noFill/>
          </a:ln>
        </p:spPr>
        <p:txBody>
          <a:bodyPr/>
          <a:lstStyle/>
          <a:p>
            <a:endParaRPr lang="en-IN"/>
          </a:p>
        </p:txBody>
      </p:sp>
      <p:sp>
        <p:nvSpPr>
          <p:cNvPr id="31" name="Freeform 5">
            <a:extLst>
              <a:ext uri="{FF2B5EF4-FFF2-40B4-BE49-F238E27FC236}">
                <a16:creationId xmlns:a16="http://schemas.microsoft.com/office/drawing/2014/main" id="{2F7C1910-61FC-214E-B19D-2354E571E6B1}"/>
              </a:ext>
            </a:extLst>
          </p:cNvPr>
          <p:cNvSpPr/>
          <p:nvPr userDrawn="1"/>
        </p:nvSpPr>
        <p:spPr bwMode="gray">
          <a:xfrm rot="15922489">
            <a:off x="515259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IN"/>
          </a:p>
        </p:txBody>
      </p:sp>
    </p:spTree>
    <p:extLst>
      <p:ext uri="{BB962C8B-B14F-4D97-AF65-F5344CB8AC3E}">
        <p14:creationId xmlns:p14="http://schemas.microsoft.com/office/powerpoint/2010/main" val="4096976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13815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98FE9A-2755-1B49-9094-02250BA934CE}" type="datetime1">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4267493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0F20CFB-DA38-4B74-8407-53A35B395697}"/>
              </a:ext>
            </a:extLst>
          </p:cNvPr>
          <p:cNvSpPr>
            <a:spLocks noGrp="1"/>
          </p:cNvSpPr>
          <p:nvPr>
            <p:ph type="body" sz="half" idx="2" hasCustomPrompt="1"/>
          </p:nvPr>
        </p:nvSpPr>
        <p:spPr>
          <a:xfrm>
            <a:off x="508002" y="1178428"/>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Roboto" pitchFamily="2" charset="0"/>
                <a:ea typeface="Roboto" panose="02000000000000000000" pitchFamily="2" charset="0"/>
              </a:defRPr>
            </a:lvl1pPr>
            <a:lvl2pPr marL="609600" indent="0">
              <a:buNone/>
              <a:defRPr sz="1600"/>
            </a:lvl2pPr>
            <a:lvl3pPr marL="1219200" indent="0">
              <a:buNone/>
              <a:defRPr sz="1333"/>
            </a:lvl3pPr>
            <a:lvl4pPr marL="1828801" indent="0">
              <a:buNone/>
              <a:defRPr sz="1200"/>
            </a:lvl4pPr>
            <a:lvl5pPr marL="2438400" indent="0">
              <a:buNone/>
              <a:defRPr sz="1200"/>
            </a:lvl5pPr>
            <a:lvl6pPr marL="3048000" indent="0">
              <a:buNone/>
              <a:defRPr sz="1200"/>
            </a:lvl6pPr>
            <a:lvl7pPr marL="3657600" indent="0">
              <a:buNone/>
              <a:defRPr sz="1200"/>
            </a:lvl7pPr>
            <a:lvl8pPr marL="4267201" indent="0">
              <a:buNone/>
              <a:defRPr sz="1200"/>
            </a:lvl8pPr>
            <a:lvl9pPr marL="4876801" indent="0">
              <a:buNone/>
              <a:defRPr sz="1200"/>
            </a:lvl9pPr>
          </a:lstStyle>
          <a:p>
            <a:pPr lvl="0"/>
            <a:r>
              <a:rPr lang="en-US"/>
              <a:t>CLICK TO EDITE SUBTITLE</a:t>
            </a:r>
          </a:p>
        </p:txBody>
      </p:sp>
      <p:sp>
        <p:nvSpPr>
          <p:cNvPr id="8" name="Title 2">
            <a:extLst>
              <a:ext uri="{FF2B5EF4-FFF2-40B4-BE49-F238E27FC236}">
                <a16:creationId xmlns:a16="http://schemas.microsoft.com/office/drawing/2014/main" id="{5872A53B-FD84-4867-BC11-F7CCE4E02DCF}"/>
              </a:ext>
            </a:extLst>
          </p:cNvPr>
          <p:cNvSpPr>
            <a:spLocks noGrp="1"/>
          </p:cNvSpPr>
          <p:nvPr>
            <p:ph type="title"/>
          </p:nvPr>
        </p:nvSpPr>
        <p:spPr>
          <a:xfrm>
            <a:off x="508002" y="455086"/>
            <a:ext cx="11157817" cy="660511"/>
          </a:xfrm>
          <a:prstGeom prst="rect">
            <a:avLst/>
          </a:prstGeom>
        </p:spPr>
        <p:txBody>
          <a:bodyPr lIns="0" tIns="0" rIns="0" bIns="0" anchor="ctr"/>
          <a:lstStyle>
            <a:lvl1pPr algn="ctr">
              <a:defRPr sz="4800">
                <a:solidFill>
                  <a:schemeClr val="bg1">
                    <a:lumMod val="50000"/>
                  </a:schemeClr>
                </a:solidFill>
                <a:latin typeface="Roboto" pitchFamily="2" charset="0"/>
                <a:ea typeface="Roboto" pitchFamily="2" charset="0"/>
              </a:defRPr>
            </a:lvl1pPr>
          </a:lstStyle>
          <a:p>
            <a:r>
              <a:rPr lang="en-US"/>
              <a:t>Click to edit Master title style</a:t>
            </a:r>
          </a:p>
        </p:txBody>
      </p:sp>
    </p:spTree>
    <p:extLst>
      <p:ext uri="{BB962C8B-B14F-4D97-AF65-F5344CB8AC3E}">
        <p14:creationId xmlns:p14="http://schemas.microsoft.com/office/powerpoint/2010/main" val="1376506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30638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Section Header">
    <p:spTree>
      <p:nvGrpSpPr>
        <p:cNvPr id="1" name=""/>
        <p:cNvGrpSpPr/>
        <p:nvPr/>
      </p:nvGrpSpPr>
      <p:grpSpPr>
        <a:xfrm>
          <a:off x="0" y="0"/>
          <a:ext cx="0" cy="0"/>
          <a:chOff x="0" y="0"/>
          <a:chExt cx="0" cy="0"/>
        </a:xfrm>
      </p:grpSpPr>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endParaRPr lang="en-US"/>
          </a:p>
        </p:txBody>
      </p:sp>
      <p:pic>
        <p:nvPicPr>
          <p:cNvPr id="32" name="Picture 31">
            <a:extLst>
              <a:ext uri="{FF2B5EF4-FFF2-40B4-BE49-F238E27FC236}">
                <a16:creationId xmlns:a16="http://schemas.microsoft.com/office/drawing/2014/main" id="{AB64086E-D480-C64D-8011-1ACDE93C9D6D}"/>
              </a:ext>
            </a:extLst>
          </p:cNvPr>
          <p:cNvPicPr>
            <a:picLocks noChangeAspect="1"/>
          </p:cNvPicPr>
          <p:nvPr userDrawn="1"/>
        </p:nvPicPr>
        <p:blipFill>
          <a:blip r:embed="rId2">
            <a:alphaModFix amt="89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a:xfrm>
            <a:off x="10352541" y="295730"/>
            <a:ext cx="838199" cy="184666"/>
          </a:xfrm>
          <a:prstGeom prst="rect">
            <a:avLst/>
          </a:prstGeom>
        </p:spPr>
        <p:txBody>
          <a:bodyPr/>
          <a:lstStyle/>
          <a:p>
            <a:fld id="{D57F1E4F-1CFF-5643-939E-217C01CDF565}" type="slidenum">
              <a:rPr lang="en-US"/>
              <a:pPr/>
              <a:t>‹#›</a:t>
            </a:fld>
            <a:endParaRPr lang="en-US"/>
          </a:p>
        </p:txBody>
      </p:sp>
      <p:sp>
        <p:nvSpPr>
          <p:cNvPr id="29" name="Flowchart: Process 28"/>
          <p:cNvSpPr/>
          <p:nvPr userDrawn="1"/>
        </p:nvSpPr>
        <p:spPr>
          <a:xfrm>
            <a:off x="476250" y="462025"/>
            <a:ext cx="6381912" cy="593395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16 h 10016"/>
              <a:gd name="connsiteX1" fmla="*/ 9415 w 10000"/>
              <a:gd name="connsiteY1" fmla="*/ 0 h 10016"/>
              <a:gd name="connsiteX2" fmla="*/ 10000 w 10000"/>
              <a:gd name="connsiteY2" fmla="*/ 10016 h 10016"/>
              <a:gd name="connsiteX3" fmla="*/ 0 w 10000"/>
              <a:gd name="connsiteY3" fmla="*/ 10016 h 10016"/>
              <a:gd name="connsiteX4" fmla="*/ 0 w 10000"/>
              <a:gd name="connsiteY4" fmla="*/ 16 h 10016"/>
              <a:gd name="connsiteX0" fmla="*/ 0 w 10000"/>
              <a:gd name="connsiteY0" fmla="*/ 16 h 10016"/>
              <a:gd name="connsiteX1" fmla="*/ 9415 w 10000"/>
              <a:gd name="connsiteY1" fmla="*/ 0 h 10016"/>
              <a:gd name="connsiteX2" fmla="*/ 9740 w 10000"/>
              <a:gd name="connsiteY2" fmla="*/ 5596 h 10016"/>
              <a:gd name="connsiteX3" fmla="*/ 10000 w 10000"/>
              <a:gd name="connsiteY3" fmla="*/ 10016 h 10016"/>
              <a:gd name="connsiteX4" fmla="*/ 0 w 10000"/>
              <a:gd name="connsiteY4" fmla="*/ 10016 h 10016"/>
              <a:gd name="connsiteX5" fmla="*/ 0 w 10000"/>
              <a:gd name="connsiteY5" fmla="*/ 16 h 10016"/>
              <a:gd name="connsiteX0" fmla="*/ 0 w 9750"/>
              <a:gd name="connsiteY0" fmla="*/ 16 h 10032"/>
              <a:gd name="connsiteX1" fmla="*/ 9415 w 9750"/>
              <a:gd name="connsiteY1" fmla="*/ 0 h 10032"/>
              <a:gd name="connsiteX2" fmla="*/ 9740 w 9750"/>
              <a:gd name="connsiteY2" fmla="*/ 5596 h 10032"/>
              <a:gd name="connsiteX3" fmla="*/ 9423 w 9750"/>
              <a:gd name="connsiteY3" fmla="*/ 10032 h 10032"/>
              <a:gd name="connsiteX4" fmla="*/ 0 w 9750"/>
              <a:gd name="connsiteY4" fmla="*/ 10016 h 10032"/>
              <a:gd name="connsiteX5" fmla="*/ 0 w 9750"/>
              <a:gd name="connsiteY5" fmla="*/ 16 h 10032"/>
              <a:gd name="connsiteX0" fmla="*/ 0 w 10010"/>
              <a:gd name="connsiteY0" fmla="*/ 16 h 10000"/>
              <a:gd name="connsiteX1" fmla="*/ 9656 w 10010"/>
              <a:gd name="connsiteY1" fmla="*/ 0 h 10000"/>
              <a:gd name="connsiteX2" fmla="*/ 9990 w 10010"/>
              <a:gd name="connsiteY2" fmla="*/ 5578 h 10000"/>
              <a:gd name="connsiteX3" fmla="*/ 9665 w 10010"/>
              <a:gd name="connsiteY3" fmla="*/ 10000 h 10000"/>
              <a:gd name="connsiteX4" fmla="*/ 0 w 10010"/>
              <a:gd name="connsiteY4" fmla="*/ 9984 h 10000"/>
              <a:gd name="connsiteX5" fmla="*/ 0 w 10010"/>
              <a:gd name="connsiteY5" fmla="*/ 16 h 10000"/>
              <a:gd name="connsiteX0" fmla="*/ 0 w 10004"/>
              <a:gd name="connsiteY0" fmla="*/ 16 h 10000"/>
              <a:gd name="connsiteX1" fmla="*/ 9656 w 10004"/>
              <a:gd name="connsiteY1" fmla="*/ 0 h 10000"/>
              <a:gd name="connsiteX2" fmla="*/ 9990 w 10004"/>
              <a:gd name="connsiteY2" fmla="*/ 5578 h 10000"/>
              <a:gd name="connsiteX3" fmla="*/ 9665 w 10004"/>
              <a:gd name="connsiteY3" fmla="*/ 10000 h 10000"/>
              <a:gd name="connsiteX4" fmla="*/ 0 w 10004"/>
              <a:gd name="connsiteY4" fmla="*/ 9984 h 10000"/>
              <a:gd name="connsiteX5" fmla="*/ 0 w 10004"/>
              <a:gd name="connsiteY5" fmla="*/ 16 h 10000"/>
              <a:gd name="connsiteX0" fmla="*/ 0 w 9838"/>
              <a:gd name="connsiteY0" fmla="*/ 16 h 10000"/>
              <a:gd name="connsiteX1" fmla="*/ 9656 w 9838"/>
              <a:gd name="connsiteY1" fmla="*/ 0 h 10000"/>
              <a:gd name="connsiteX2" fmla="*/ 9815 w 9838"/>
              <a:gd name="connsiteY2" fmla="*/ 5498 h 10000"/>
              <a:gd name="connsiteX3" fmla="*/ 9665 w 9838"/>
              <a:gd name="connsiteY3" fmla="*/ 10000 h 10000"/>
              <a:gd name="connsiteX4" fmla="*/ 0 w 9838"/>
              <a:gd name="connsiteY4" fmla="*/ 9984 h 10000"/>
              <a:gd name="connsiteX5" fmla="*/ 0 w 9838"/>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9992"/>
              <a:gd name="connsiteY0" fmla="*/ 16 h 10000"/>
              <a:gd name="connsiteX1" fmla="*/ 9636 w 9992"/>
              <a:gd name="connsiteY1" fmla="*/ 0 h 10000"/>
              <a:gd name="connsiteX2" fmla="*/ 9977 w 9992"/>
              <a:gd name="connsiteY2" fmla="*/ 5498 h 10000"/>
              <a:gd name="connsiteX3" fmla="*/ 9824 w 9992"/>
              <a:gd name="connsiteY3" fmla="*/ 10000 h 10000"/>
              <a:gd name="connsiteX4" fmla="*/ 0 w 9992"/>
              <a:gd name="connsiteY4" fmla="*/ 9984 h 10000"/>
              <a:gd name="connsiteX5" fmla="*/ 0 w 9992"/>
              <a:gd name="connsiteY5" fmla="*/ 1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 h="10000">
                <a:moveTo>
                  <a:pt x="0" y="16"/>
                </a:moveTo>
                <a:lnTo>
                  <a:pt x="9636" y="0"/>
                </a:lnTo>
                <a:cubicBezTo>
                  <a:pt x="9749" y="1859"/>
                  <a:pt x="10067" y="3527"/>
                  <a:pt x="9977" y="5498"/>
                </a:cubicBezTo>
                <a:cubicBezTo>
                  <a:pt x="9982" y="6950"/>
                  <a:pt x="9877" y="8532"/>
                  <a:pt x="9824" y="10000"/>
                </a:cubicBezTo>
                <a:lnTo>
                  <a:pt x="0" y="9984"/>
                </a:lnTo>
                <a:lnTo>
                  <a:pt x="0" y="16"/>
                </a:lnTo>
                <a:close/>
              </a:path>
            </a:pathLst>
          </a:custGeom>
          <a:solidFill>
            <a:srgbClr val="F4792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0" name="Freeform 5"/>
          <p:cNvSpPr/>
          <p:nvPr userDrawn="1"/>
        </p:nvSpPr>
        <p:spPr bwMode="gray">
          <a:xfrm rot="16200000">
            <a:off x="3747182" y="3268821"/>
            <a:ext cx="6053670" cy="320359"/>
          </a:xfrm>
          <a:custGeom>
            <a:avLst/>
            <a:gdLst>
              <a:gd name="connsiteX0" fmla="*/ 0 w 10000"/>
              <a:gd name="connsiteY0" fmla="*/ 0 h 9963"/>
              <a:gd name="connsiteX1" fmla="*/ 0 w 10000"/>
              <a:gd name="connsiteY1" fmla="*/ 9963 h 9963"/>
              <a:gd name="connsiteX2" fmla="*/ 10000 w 10000"/>
              <a:gd name="connsiteY2" fmla="*/ 5824 h 9963"/>
              <a:gd name="connsiteX3" fmla="*/ 10000 w 10000"/>
              <a:gd name="connsiteY3" fmla="*/ 9 h 9963"/>
              <a:gd name="connsiteX4" fmla="*/ 10000 w 10000"/>
              <a:gd name="connsiteY4" fmla="*/ 9 h 9963"/>
              <a:gd name="connsiteX5" fmla="*/ 9773 w 10000"/>
              <a:gd name="connsiteY5" fmla="*/ 195 h 9963"/>
              <a:gd name="connsiteX6" fmla="*/ 9547 w 10000"/>
              <a:gd name="connsiteY6" fmla="*/ 373 h 9963"/>
              <a:gd name="connsiteX7" fmla="*/ 9320 w 10000"/>
              <a:gd name="connsiteY7" fmla="*/ 546 h 9963"/>
              <a:gd name="connsiteX8" fmla="*/ 9092 w 10000"/>
              <a:gd name="connsiteY8" fmla="*/ 695 h 9963"/>
              <a:gd name="connsiteX9" fmla="*/ 8865 w 10000"/>
              <a:gd name="connsiteY9" fmla="*/ 845 h 9963"/>
              <a:gd name="connsiteX10" fmla="*/ 8637 w 10000"/>
              <a:gd name="connsiteY10" fmla="*/ 985 h 9963"/>
              <a:gd name="connsiteX11" fmla="*/ 8412 w 10000"/>
              <a:gd name="connsiteY11" fmla="*/ 1105 h 9963"/>
              <a:gd name="connsiteX12" fmla="*/ 8184 w 10000"/>
              <a:gd name="connsiteY12" fmla="*/ 1219 h 9963"/>
              <a:gd name="connsiteX13" fmla="*/ 7957 w 10000"/>
              <a:gd name="connsiteY13" fmla="*/ 1323 h 9963"/>
              <a:gd name="connsiteX14" fmla="*/ 7734 w 10000"/>
              <a:gd name="connsiteY14" fmla="*/ 1413 h 9963"/>
              <a:gd name="connsiteX15" fmla="*/ 7508 w 10000"/>
              <a:gd name="connsiteY15" fmla="*/ 1503 h 9963"/>
              <a:gd name="connsiteX16" fmla="*/ 7285 w 10000"/>
              <a:gd name="connsiteY16" fmla="*/ 1578 h 9963"/>
              <a:gd name="connsiteX17" fmla="*/ 7062 w 10000"/>
              <a:gd name="connsiteY17" fmla="*/ 1636 h 9963"/>
              <a:gd name="connsiteX18" fmla="*/ 6840 w 10000"/>
              <a:gd name="connsiteY18" fmla="*/ 1698 h 9963"/>
              <a:gd name="connsiteX19" fmla="*/ 6620 w 10000"/>
              <a:gd name="connsiteY19" fmla="*/ 1749 h 9963"/>
              <a:gd name="connsiteX20" fmla="*/ 6402 w 10000"/>
              <a:gd name="connsiteY20" fmla="*/ 1785 h 9963"/>
              <a:gd name="connsiteX21" fmla="*/ 6184 w 10000"/>
              <a:gd name="connsiteY21" fmla="*/ 1816 h 9963"/>
              <a:gd name="connsiteX22" fmla="*/ 5968 w 10000"/>
              <a:gd name="connsiteY22" fmla="*/ 1846 h 9963"/>
              <a:gd name="connsiteX23" fmla="*/ 5755 w 10000"/>
              <a:gd name="connsiteY23" fmla="*/ 1860 h 9963"/>
              <a:gd name="connsiteX24" fmla="*/ 5542 w 10000"/>
              <a:gd name="connsiteY24" fmla="*/ 1875 h 9963"/>
              <a:gd name="connsiteX25" fmla="*/ 5332 w 10000"/>
              <a:gd name="connsiteY25" fmla="*/ 1883 h 9963"/>
              <a:gd name="connsiteX26" fmla="*/ 5124 w 10000"/>
              <a:gd name="connsiteY26" fmla="*/ 1875 h 9963"/>
              <a:gd name="connsiteX27" fmla="*/ 4918 w 10000"/>
              <a:gd name="connsiteY27" fmla="*/ 1875 h 9963"/>
              <a:gd name="connsiteX28" fmla="*/ 4714 w 10000"/>
              <a:gd name="connsiteY28" fmla="*/ 1860 h 9963"/>
              <a:gd name="connsiteX29" fmla="*/ 4514 w 10000"/>
              <a:gd name="connsiteY29" fmla="*/ 1838 h 9963"/>
              <a:gd name="connsiteX30" fmla="*/ 4316 w 10000"/>
              <a:gd name="connsiteY30" fmla="*/ 1816 h 9963"/>
              <a:gd name="connsiteX31" fmla="*/ 4122 w 10000"/>
              <a:gd name="connsiteY31" fmla="*/ 1793 h 9963"/>
              <a:gd name="connsiteX32" fmla="*/ 3929 w 10000"/>
              <a:gd name="connsiteY32" fmla="*/ 1756 h 9963"/>
              <a:gd name="connsiteX33" fmla="*/ 3739 w 10000"/>
              <a:gd name="connsiteY33" fmla="*/ 1718 h 9963"/>
              <a:gd name="connsiteX34" fmla="*/ 3553 w 10000"/>
              <a:gd name="connsiteY34" fmla="*/ 1683 h 9963"/>
              <a:gd name="connsiteX35" fmla="*/ 3190 w 10000"/>
              <a:gd name="connsiteY35" fmla="*/ 1584 h 9963"/>
              <a:gd name="connsiteX36" fmla="*/ 2842 w 10000"/>
              <a:gd name="connsiteY36" fmla="*/ 1479 h 9963"/>
              <a:gd name="connsiteX37" fmla="*/ 2508 w 10000"/>
              <a:gd name="connsiteY37" fmla="*/ 1369 h 9963"/>
              <a:gd name="connsiteX38" fmla="*/ 2192 w 10000"/>
              <a:gd name="connsiteY38" fmla="*/ 1248 h 9963"/>
              <a:gd name="connsiteX39" fmla="*/ 1890 w 10000"/>
              <a:gd name="connsiteY39" fmla="*/ 1121 h 9963"/>
              <a:gd name="connsiteX40" fmla="*/ 1610 w 10000"/>
              <a:gd name="connsiteY40" fmla="*/ 985 h 9963"/>
              <a:gd name="connsiteX41" fmla="*/ 1347 w 10000"/>
              <a:gd name="connsiteY41" fmla="*/ 851 h 9963"/>
              <a:gd name="connsiteX42" fmla="*/ 1105 w 10000"/>
              <a:gd name="connsiteY42" fmla="*/ 718 h 9963"/>
              <a:gd name="connsiteX43" fmla="*/ 883 w 10000"/>
              <a:gd name="connsiteY43" fmla="*/ 591 h 9963"/>
              <a:gd name="connsiteX44" fmla="*/ 686 w 10000"/>
              <a:gd name="connsiteY44" fmla="*/ 471 h 9963"/>
              <a:gd name="connsiteX45" fmla="*/ 508 w 10000"/>
              <a:gd name="connsiteY45" fmla="*/ 358 h 9963"/>
              <a:gd name="connsiteX46" fmla="*/ 358 w 10000"/>
              <a:gd name="connsiteY46" fmla="*/ 263 h 9963"/>
              <a:gd name="connsiteX47" fmla="*/ 232 w 10000"/>
              <a:gd name="connsiteY47" fmla="*/ 173 h 9963"/>
              <a:gd name="connsiteX48" fmla="*/ 59 w 10000"/>
              <a:gd name="connsiteY48" fmla="*/ 44 h 9963"/>
              <a:gd name="connsiteX49" fmla="*/ 0 w 10000"/>
              <a:gd name="connsiteY49" fmla="*/ 0 h 9963"/>
              <a:gd name="connsiteX50" fmla="*/ 0 w 10000"/>
              <a:gd name="connsiteY50" fmla="*/ 0 h 9963"/>
              <a:gd name="connsiteX0" fmla="*/ 0 w 10000"/>
              <a:gd name="connsiteY0" fmla="*/ 0 h 5961"/>
              <a:gd name="connsiteX1" fmla="*/ 16 w 10000"/>
              <a:gd name="connsiteY1" fmla="*/ 5961 h 5961"/>
              <a:gd name="connsiteX2" fmla="*/ 10000 w 10000"/>
              <a:gd name="connsiteY2" fmla="*/ 5846 h 5961"/>
              <a:gd name="connsiteX3" fmla="*/ 10000 w 10000"/>
              <a:gd name="connsiteY3" fmla="*/ 9 h 5961"/>
              <a:gd name="connsiteX4" fmla="*/ 10000 w 10000"/>
              <a:gd name="connsiteY4" fmla="*/ 9 h 5961"/>
              <a:gd name="connsiteX5" fmla="*/ 9773 w 10000"/>
              <a:gd name="connsiteY5" fmla="*/ 196 h 5961"/>
              <a:gd name="connsiteX6" fmla="*/ 9547 w 10000"/>
              <a:gd name="connsiteY6" fmla="*/ 374 h 5961"/>
              <a:gd name="connsiteX7" fmla="*/ 9320 w 10000"/>
              <a:gd name="connsiteY7" fmla="*/ 548 h 5961"/>
              <a:gd name="connsiteX8" fmla="*/ 9092 w 10000"/>
              <a:gd name="connsiteY8" fmla="*/ 698 h 5961"/>
              <a:gd name="connsiteX9" fmla="*/ 8865 w 10000"/>
              <a:gd name="connsiteY9" fmla="*/ 848 h 5961"/>
              <a:gd name="connsiteX10" fmla="*/ 8637 w 10000"/>
              <a:gd name="connsiteY10" fmla="*/ 989 h 5961"/>
              <a:gd name="connsiteX11" fmla="*/ 8412 w 10000"/>
              <a:gd name="connsiteY11" fmla="*/ 1109 h 5961"/>
              <a:gd name="connsiteX12" fmla="*/ 8184 w 10000"/>
              <a:gd name="connsiteY12" fmla="*/ 1224 h 5961"/>
              <a:gd name="connsiteX13" fmla="*/ 7957 w 10000"/>
              <a:gd name="connsiteY13" fmla="*/ 1328 h 5961"/>
              <a:gd name="connsiteX14" fmla="*/ 7734 w 10000"/>
              <a:gd name="connsiteY14" fmla="*/ 1418 h 5961"/>
              <a:gd name="connsiteX15" fmla="*/ 7508 w 10000"/>
              <a:gd name="connsiteY15" fmla="*/ 1509 h 5961"/>
              <a:gd name="connsiteX16" fmla="*/ 7285 w 10000"/>
              <a:gd name="connsiteY16" fmla="*/ 1584 h 5961"/>
              <a:gd name="connsiteX17" fmla="*/ 7062 w 10000"/>
              <a:gd name="connsiteY17" fmla="*/ 1642 h 5961"/>
              <a:gd name="connsiteX18" fmla="*/ 6840 w 10000"/>
              <a:gd name="connsiteY18" fmla="*/ 1704 h 5961"/>
              <a:gd name="connsiteX19" fmla="*/ 6620 w 10000"/>
              <a:gd name="connsiteY19" fmla="*/ 1755 h 5961"/>
              <a:gd name="connsiteX20" fmla="*/ 6402 w 10000"/>
              <a:gd name="connsiteY20" fmla="*/ 1792 h 5961"/>
              <a:gd name="connsiteX21" fmla="*/ 6184 w 10000"/>
              <a:gd name="connsiteY21" fmla="*/ 1823 h 5961"/>
              <a:gd name="connsiteX22" fmla="*/ 5968 w 10000"/>
              <a:gd name="connsiteY22" fmla="*/ 1853 h 5961"/>
              <a:gd name="connsiteX23" fmla="*/ 5755 w 10000"/>
              <a:gd name="connsiteY23" fmla="*/ 1867 h 5961"/>
              <a:gd name="connsiteX24" fmla="*/ 5542 w 10000"/>
              <a:gd name="connsiteY24" fmla="*/ 1882 h 5961"/>
              <a:gd name="connsiteX25" fmla="*/ 5332 w 10000"/>
              <a:gd name="connsiteY25" fmla="*/ 1890 h 5961"/>
              <a:gd name="connsiteX26" fmla="*/ 5124 w 10000"/>
              <a:gd name="connsiteY26" fmla="*/ 1882 h 5961"/>
              <a:gd name="connsiteX27" fmla="*/ 4918 w 10000"/>
              <a:gd name="connsiteY27" fmla="*/ 1882 h 5961"/>
              <a:gd name="connsiteX28" fmla="*/ 4714 w 10000"/>
              <a:gd name="connsiteY28" fmla="*/ 1867 h 5961"/>
              <a:gd name="connsiteX29" fmla="*/ 4514 w 10000"/>
              <a:gd name="connsiteY29" fmla="*/ 1845 h 5961"/>
              <a:gd name="connsiteX30" fmla="*/ 4316 w 10000"/>
              <a:gd name="connsiteY30" fmla="*/ 1823 h 5961"/>
              <a:gd name="connsiteX31" fmla="*/ 4122 w 10000"/>
              <a:gd name="connsiteY31" fmla="*/ 1800 h 5961"/>
              <a:gd name="connsiteX32" fmla="*/ 3929 w 10000"/>
              <a:gd name="connsiteY32" fmla="*/ 1763 h 5961"/>
              <a:gd name="connsiteX33" fmla="*/ 3739 w 10000"/>
              <a:gd name="connsiteY33" fmla="*/ 1724 h 5961"/>
              <a:gd name="connsiteX34" fmla="*/ 3553 w 10000"/>
              <a:gd name="connsiteY34" fmla="*/ 1689 h 5961"/>
              <a:gd name="connsiteX35" fmla="*/ 3190 w 10000"/>
              <a:gd name="connsiteY35" fmla="*/ 1590 h 5961"/>
              <a:gd name="connsiteX36" fmla="*/ 2842 w 10000"/>
              <a:gd name="connsiteY36" fmla="*/ 1484 h 5961"/>
              <a:gd name="connsiteX37" fmla="*/ 2508 w 10000"/>
              <a:gd name="connsiteY37" fmla="*/ 1374 h 5961"/>
              <a:gd name="connsiteX38" fmla="*/ 2192 w 10000"/>
              <a:gd name="connsiteY38" fmla="*/ 1253 h 5961"/>
              <a:gd name="connsiteX39" fmla="*/ 1890 w 10000"/>
              <a:gd name="connsiteY39" fmla="*/ 1125 h 5961"/>
              <a:gd name="connsiteX40" fmla="*/ 1610 w 10000"/>
              <a:gd name="connsiteY40" fmla="*/ 989 h 5961"/>
              <a:gd name="connsiteX41" fmla="*/ 1347 w 10000"/>
              <a:gd name="connsiteY41" fmla="*/ 854 h 5961"/>
              <a:gd name="connsiteX42" fmla="*/ 1105 w 10000"/>
              <a:gd name="connsiteY42" fmla="*/ 721 h 5961"/>
              <a:gd name="connsiteX43" fmla="*/ 883 w 10000"/>
              <a:gd name="connsiteY43" fmla="*/ 593 h 5961"/>
              <a:gd name="connsiteX44" fmla="*/ 686 w 10000"/>
              <a:gd name="connsiteY44" fmla="*/ 473 h 5961"/>
              <a:gd name="connsiteX45" fmla="*/ 508 w 10000"/>
              <a:gd name="connsiteY45" fmla="*/ 359 h 5961"/>
              <a:gd name="connsiteX46" fmla="*/ 358 w 10000"/>
              <a:gd name="connsiteY46" fmla="*/ 264 h 5961"/>
              <a:gd name="connsiteX47" fmla="*/ 232 w 10000"/>
              <a:gd name="connsiteY47" fmla="*/ 174 h 5961"/>
              <a:gd name="connsiteX48" fmla="*/ 59 w 10000"/>
              <a:gd name="connsiteY48" fmla="*/ 44 h 5961"/>
              <a:gd name="connsiteX49" fmla="*/ 0 w 10000"/>
              <a:gd name="connsiteY49" fmla="*/ 0 h 5961"/>
              <a:gd name="connsiteX50" fmla="*/ 0 w 10000"/>
              <a:gd name="connsiteY50" fmla="*/ 0 h 5961"/>
              <a:gd name="connsiteX0" fmla="*/ 0 w 10000"/>
              <a:gd name="connsiteY0" fmla="*/ 0 h 10000"/>
              <a:gd name="connsiteX1" fmla="*/ 16 w 10000"/>
              <a:gd name="connsiteY1" fmla="*/ 10000 h 10000"/>
              <a:gd name="connsiteX2" fmla="*/ 9953 w 10000"/>
              <a:gd name="connsiteY2" fmla="*/ 1370 h 10000"/>
              <a:gd name="connsiteX3" fmla="*/ 10000 w 10000"/>
              <a:gd name="connsiteY3" fmla="*/ 15 h 10000"/>
              <a:gd name="connsiteX4" fmla="*/ 10000 w 10000"/>
              <a:gd name="connsiteY4" fmla="*/ 15 h 10000"/>
              <a:gd name="connsiteX5" fmla="*/ 9773 w 10000"/>
              <a:gd name="connsiteY5" fmla="*/ 329 h 10000"/>
              <a:gd name="connsiteX6" fmla="*/ 9547 w 10000"/>
              <a:gd name="connsiteY6" fmla="*/ 627 h 10000"/>
              <a:gd name="connsiteX7" fmla="*/ 9320 w 10000"/>
              <a:gd name="connsiteY7" fmla="*/ 919 h 10000"/>
              <a:gd name="connsiteX8" fmla="*/ 9092 w 10000"/>
              <a:gd name="connsiteY8" fmla="*/ 1171 h 10000"/>
              <a:gd name="connsiteX9" fmla="*/ 8865 w 10000"/>
              <a:gd name="connsiteY9" fmla="*/ 1423 h 10000"/>
              <a:gd name="connsiteX10" fmla="*/ 8637 w 10000"/>
              <a:gd name="connsiteY10" fmla="*/ 1659 h 10000"/>
              <a:gd name="connsiteX11" fmla="*/ 8412 w 10000"/>
              <a:gd name="connsiteY11" fmla="*/ 1860 h 10000"/>
              <a:gd name="connsiteX12" fmla="*/ 8184 w 10000"/>
              <a:gd name="connsiteY12" fmla="*/ 2053 h 10000"/>
              <a:gd name="connsiteX13" fmla="*/ 7957 w 10000"/>
              <a:gd name="connsiteY13" fmla="*/ 2228 h 10000"/>
              <a:gd name="connsiteX14" fmla="*/ 7734 w 10000"/>
              <a:gd name="connsiteY14" fmla="*/ 2379 h 10000"/>
              <a:gd name="connsiteX15" fmla="*/ 7508 w 10000"/>
              <a:gd name="connsiteY15" fmla="*/ 2531 h 10000"/>
              <a:gd name="connsiteX16" fmla="*/ 7285 w 10000"/>
              <a:gd name="connsiteY16" fmla="*/ 2657 h 10000"/>
              <a:gd name="connsiteX17" fmla="*/ 7062 w 10000"/>
              <a:gd name="connsiteY17" fmla="*/ 2755 h 10000"/>
              <a:gd name="connsiteX18" fmla="*/ 6840 w 10000"/>
              <a:gd name="connsiteY18" fmla="*/ 2859 h 10000"/>
              <a:gd name="connsiteX19" fmla="*/ 6620 w 10000"/>
              <a:gd name="connsiteY19" fmla="*/ 2944 h 10000"/>
              <a:gd name="connsiteX20" fmla="*/ 6402 w 10000"/>
              <a:gd name="connsiteY20" fmla="*/ 3006 h 10000"/>
              <a:gd name="connsiteX21" fmla="*/ 6184 w 10000"/>
              <a:gd name="connsiteY21" fmla="*/ 3058 h 10000"/>
              <a:gd name="connsiteX22" fmla="*/ 5968 w 10000"/>
              <a:gd name="connsiteY22" fmla="*/ 3109 h 10000"/>
              <a:gd name="connsiteX23" fmla="*/ 5755 w 10000"/>
              <a:gd name="connsiteY23" fmla="*/ 3132 h 10000"/>
              <a:gd name="connsiteX24" fmla="*/ 5542 w 10000"/>
              <a:gd name="connsiteY24" fmla="*/ 3157 h 10000"/>
              <a:gd name="connsiteX25" fmla="*/ 5332 w 10000"/>
              <a:gd name="connsiteY25" fmla="*/ 3171 h 10000"/>
              <a:gd name="connsiteX26" fmla="*/ 5124 w 10000"/>
              <a:gd name="connsiteY26" fmla="*/ 3157 h 10000"/>
              <a:gd name="connsiteX27" fmla="*/ 4918 w 10000"/>
              <a:gd name="connsiteY27" fmla="*/ 3157 h 10000"/>
              <a:gd name="connsiteX28" fmla="*/ 4714 w 10000"/>
              <a:gd name="connsiteY28" fmla="*/ 3132 h 10000"/>
              <a:gd name="connsiteX29" fmla="*/ 4514 w 10000"/>
              <a:gd name="connsiteY29" fmla="*/ 3095 h 10000"/>
              <a:gd name="connsiteX30" fmla="*/ 4316 w 10000"/>
              <a:gd name="connsiteY30" fmla="*/ 3058 h 10000"/>
              <a:gd name="connsiteX31" fmla="*/ 4122 w 10000"/>
              <a:gd name="connsiteY31" fmla="*/ 3020 h 10000"/>
              <a:gd name="connsiteX32" fmla="*/ 3929 w 10000"/>
              <a:gd name="connsiteY32" fmla="*/ 2958 h 10000"/>
              <a:gd name="connsiteX33" fmla="*/ 3739 w 10000"/>
              <a:gd name="connsiteY33" fmla="*/ 2892 h 10000"/>
              <a:gd name="connsiteX34" fmla="*/ 3553 w 10000"/>
              <a:gd name="connsiteY34" fmla="*/ 2833 h 10000"/>
              <a:gd name="connsiteX35" fmla="*/ 3190 w 10000"/>
              <a:gd name="connsiteY35" fmla="*/ 2667 h 10000"/>
              <a:gd name="connsiteX36" fmla="*/ 2842 w 10000"/>
              <a:gd name="connsiteY36" fmla="*/ 2490 h 10000"/>
              <a:gd name="connsiteX37" fmla="*/ 2508 w 10000"/>
              <a:gd name="connsiteY37" fmla="*/ 2305 h 10000"/>
              <a:gd name="connsiteX38" fmla="*/ 2192 w 10000"/>
              <a:gd name="connsiteY38" fmla="*/ 2102 h 10000"/>
              <a:gd name="connsiteX39" fmla="*/ 1890 w 10000"/>
              <a:gd name="connsiteY39" fmla="*/ 1887 h 10000"/>
              <a:gd name="connsiteX40" fmla="*/ 1610 w 10000"/>
              <a:gd name="connsiteY40" fmla="*/ 1659 h 10000"/>
              <a:gd name="connsiteX41" fmla="*/ 1347 w 10000"/>
              <a:gd name="connsiteY41" fmla="*/ 1433 h 10000"/>
              <a:gd name="connsiteX42" fmla="*/ 1105 w 10000"/>
              <a:gd name="connsiteY42" fmla="*/ 1210 h 10000"/>
              <a:gd name="connsiteX43" fmla="*/ 883 w 10000"/>
              <a:gd name="connsiteY43" fmla="*/ 995 h 10000"/>
              <a:gd name="connsiteX44" fmla="*/ 686 w 10000"/>
              <a:gd name="connsiteY44" fmla="*/ 793 h 10000"/>
              <a:gd name="connsiteX45" fmla="*/ 508 w 10000"/>
              <a:gd name="connsiteY45" fmla="*/ 602 h 10000"/>
              <a:gd name="connsiteX46" fmla="*/ 358 w 10000"/>
              <a:gd name="connsiteY46" fmla="*/ 443 h 10000"/>
              <a:gd name="connsiteX47" fmla="*/ 232 w 10000"/>
              <a:gd name="connsiteY47" fmla="*/ 292 h 10000"/>
              <a:gd name="connsiteX48" fmla="*/ 59 w 10000"/>
              <a:gd name="connsiteY48" fmla="*/ 74 h 10000"/>
              <a:gd name="connsiteX49" fmla="*/ 0 w 10000"/>
              <a:gd name="connsiteY49" fmla="*/ 0 h 10000"/>
              <a:gd name="connsiteX50" fmla="*/ 0 w 10000"/>
              <a:gd name="connsiteY50" fmla="*/ 0 h 10000"/>
              <a:gd name="connsiteX0" fmla="*/ 0 w 10000"/>
              <a:gd name="connsiteY0" fmla="*/ 0 h 7955"/>
              <a:gd name="connsiteX1" fmla="*/ 32 w 10000"/>
              <a:gd name="connsiteY1" fmla="*/ 7955 h 7955"/>
              <a:gd name="connsiteX2" fmla="*/ 9953 w 10000"/>
              <a:gd name="connsiteY2" fmla="*/ 1370 h 7955"/>
              <a:gd name="connsiteX3" fmla="*/ 10000 w 10000"/>
              <a:gd name="connsiteY3" fmla="*/ 15 h 7955"/>
              <a:gd name="connsiteX4" fmla="*/ 10000 w 10000"/>
              <a:gd name="connsiteY4" fmla="*/ 15 h 7955"/>
              <a:gd name="connsiteX5" fmla="*/ 9773 w 10000"/>
              <a:gd name="connsiteY5" fmla="*/ 329 h 7955"/>
              <a:gd name="connsiteX6" fmla="*/ 9547 w 10000"/>
              <a:gd name="connsiteY6" fmla="*/ 627 h 7955"/>
              <a:gd name="connsiteX7" fmla="*/ 9320 w 10000"/>
              <a:gd name="connsiteY7" fmla="*/ 919 h 7955"/>
              <a:gd name="connsiteX8" fmla="*/ 9092 w 10000"/>
              <a:gd name="connsiteY8" fmla="*/ 1171 h 7955"/>
              <a:gd name="connsiteX9" fmla="*/ 8865 w 10000"/>
              <a:gd name="connsiteY9" fmla="*/ 1423 h 7955"/>
              <a:gd name="connsiteX10" fmla="*/ 8637 w 10000"/>
              <a:gd name="connsiteY10" fmla="*/ 1659 h 7955"/>
              <a:gd name="connsiteX11" fmla="*/ 8412 w 10000"/>
              <a:gd name="connsiteY11" fmla="*/ 1860 h 7955"/>
              <a:gd name="connsiteX12" fmla="*/ 8184 w 10000"/>
              <a:gd name="connsiteY12" fmla="*/ 2053 h 7955"/>
              <a:gd name="connsiteX13" fmla="*/ 7957 w 10000"/>
              <a:gd name="connsiteY13" fmla="*/ 2228 h 7955"/>
              <a:gd name="connsiteX14" fmla="*/ 7734 w 10000"/>
              <a:gd name="connsiteY14" fmla="*/ 2379 h 7955"/>
              <a:gd name="connsiteX15" fmla="*/ 7508 w 10000"/>
              <a:gd name="connsiteY15" fmla="*/ 2531 h 7955"/>
              <a:gd name="connsiteX16" fmla="*/ 7285 w 10000"/>
              <a:gd name="connsiteY16" fmla="*/ 2657 h 7955"/>
              <a:gd name="connsiteX17" fmla="*/ 7062 w 10000"/>
              <a:gd name="connsiteY17" fmla="*/ 2755 h 7955"/>
              <a:gd name="connsiteX18" fmla="*/ 6840 w 10000"/>
              <a:gd name="connsiteY18" fmla="*/ 2859 h 7955"/>
              <a:gd name="connsiteX19" fmla="*/ 6620 w 10000"/>
              <a:gd name="connsiteY19" fmla="*/ 2944 h 7955"/>
              <a:gd name="connsiteX20" fmla="*/ 6402 w 10000"/>
              <a:gd name="connsiteY20" fmla="*/ 3006 h 7955"/>
              <a:gd name="connsiteX21" fmla="*/ 6184 w 10000"/>
              <a:gd name="connsiteY21" fmla="*/ 3058 h 7955"/>
              <a:gd name="connsiteX22" fmla="*/ 5968 w 10000"/>
              <a:gd name="connsiteY22" fmla="*/ 3109 h 7955"/>
              <a:gd name="connsiteX23" fmla="*/ 5755 w 10000"/>
              <a:gd name="connsiteY23" fmla="*/ 3132 h 7955"/>
              <a:gd name="connsiteX24" fmla="*/ 5542 w 10000"/>
              <a:gd name="connsiteY24" fmla="*/ 3157 h 7955"/>
              <a:gd name="connsiteX25" fmla="*/ 5332 w 10000"/>
              <a:gd name="connsiteY25" fmla="*/ 3171 h 7955"/>
              <a:gd name="connsiteX26" fmla="*/ 5124 w 10000"/>
              <a:gd name="connsiteY26" fmla="*/ 3157 h 7955"/>
              <a:gd name="connsiteX27" fmla="*/ 4918 w 10000"/>
              <a:gd name="connsiteY27" fmla="*/ 3157 h 7955"/>
              <a:gd name="connsiteX28" fmla="*/ 4714 w 10000"/>
              <a:gd name="connsiteY28" fmla="*/ 3132 h 7955"/>
              <a:gd name="connsiteX29" fmla="*/ 4514 w 10000"/>
              <a:gd name="connsiteY29" fmla="*/ 3095 h 7955"/>
              <a:gd name="connsiteX30" fmla="*/ 4316 w 10000"/>
              <a:gd name="connsiteY30" fmla="*/ 3058 h 7955"/>
              <a:gd name="connsiteX31" fmla="*/ 4122 w 10000"/>
              <a:gd name="connsiteY31" fmla="*/ 3020 h 7955"/>
              <a:gd name="connsiteX32" fmla="*/ 3929 w 10000"/>
              <a:gd name="connsiteY32" fmla="*/ 2958 h 7955"/>
              <a:gd name="connsiteX33" fmla="*/ 3739 w 10000"/>
              <a:gd name="connsiteY33" fmla="*/ 2892 h 7955"/>
              <a:gd name="connsiteX34" fmla="*/ 3553 w 10000"/>
              <a:gd name="connsiteY34" fmla="*/ 2833 h 7955"/>
              <a:gd name="connsiteX35" fmla="*/ 3190 w 10000"/>
              <a:gd name="connsiteY35" fmla="*/ 2667 h 7955"/>
              <a:gd name="connsiteX36" fmla="*/ 2842 w 10000"/>
              <a:gd name="connsiteY36" fmla="*/ 2490 h 7955"/>
              <a:gd name="connsiteX37" fmla="*/ 2508 w 10000"/>
              <a:gd name="connsiteY37" fmla="*/ 2305 h 7955"/>
              <a:gd name="connsiteX38" fmla="*/ 2192 w 10000"/>
              <a:gd name="connsiteY38" fmla="*/ 2102 h 7955"/>
              <a:gd name="connsiteX39" fmla="*/ 1890 w 10000"/>
              <a:gd name="connsiteY39" fmla="*/ 1887 h 7955"/>
              <a:gd name="connsiteX40" fmla="*/ 1610 w 10000"/>
              <a:gd name="connsiteY40" fmla="*/ 1659 h 7955"/>
              <a:gd name="connsiteX41" fmla="*/ 1347 w 10000"/>
              <a:gd name="connsiteY41" fmla="*/ 1433 h 7955"/>
              <a:gd name="connsiteX42" fmla="*/ 1105 w 10000"/>
              <a:gd name="connsiteY42" fmla="*/ 1210 h 7955"/>
              <a:gd name="connsiteX43" fmla="*/ 883 w 10000"/>
              <a:gd name="connsiteY43" fmla="*/ 995 h 7955"/>
              <a:gd name="connsiteX44" fmla="*/ 686 w 10000"/>
              <a:gd name="connsiteY44" fmla="*/ 793 h 7955"/>
              <a:gd name="connsiteX45" fmla="*/ 508 w 10000"/>
              <a:gd name="connsiteY45" fmla="*/ 602 h 7955"/>
              <a:gd name="connsiteX46" fmla="*/ 358 w 10000"/>
              <a:gd name="connsiteY46" fmla="*/ 443 h 7955"/>
              <a:gd name="connsiteX47" fmla="*/ 232 w 10000"/>
              <a:gd name="connsiteY47" fmla="*/ 292 h 7955"/>
              <a:gd name="connsiteX48" fmla="*/ 59 w 10000"/>
              <a:gd name="connsiteY48" fmla="*/ 74 h 7955"/>
              <a:gd name="connsiteX49" fmla="*/ 0 w 10000"/>
              <a:gd name="connsiteY49" fmla="*/ 0 h 7955"/>
              <a:gd name="connsiteX50" fmla="*/ 0 w 10000"/>
              <a:gd name="connsiteY50" fmla="*/ 0 h 7955"/>
              <a:gd name="connsiteX0" fmla="*/ 0 w 10000"/>
              <a:gd name="connsiteY0" fmla="*/ 0 h 10000"/>
              <a:gd name="connsiteX1" fmla="*/ 32 w 10000"/>
              <a:gd name="connsiteY1" fmla="*/ 10000 h 10000"/>
              <a:gd name="connsiteX2" fmla="*/ 5409 w 10000"/>
              <a:gd name="connsiteY2" fmla="*/ 5405 h 10000"/>
              <a:gd name="connsiteX3" fmla="*/ 9953 w 10000"/>
              <a:gd name="connsiteY3" fmla="*/ 1722 h 10000"/>
              <a:gd name="connsiteX4" fmla="*/ 10000 w 10000"/>
              <a:gd name="connsiteY4" fmla="*/ 19 h 10000"/>
              <a:gd name="connsiteX5" fmla="*/ 10000 w 10000"/>
              <a:gd name="connsiteY5" fmla="*/ 19 h 10000"/>
              <a:gd name="connsiteX6" fmla="*/ 9773 w 10000"/>
              <a:gd name="connsiteY6" fmla="*/ 414 h 10000"/>
              <a:gd name="connsiteX7" fmla="*/ 9547 w 10000"/>
              <a:gd name="connsiteY7" fmla="*/ 788 h 10000"/>
              <a:gd name="connsiteX8" fmla="*/ 9320 w 10000"/>
              <a:gd name="connsiteY8" fmla="*/ 1155 h 10000"/>
              <a:gd name="connsiteX9" fmla="*/ 9092 w 10000"/>
              <a:gd name="connsiteY9" fmla="*/ 1472 h 10000"/>
              <a:gd name="connsiteX10" fmla="*/ 8865 w 10000"/>
              <a:gd name="connsiteY10" fmla="*/ 1789 h 10000"/>
              <a:gd name="connsiteX11" fmla="*/ 8637 w 10000"/>
              <a:gd name="connsiteY11" fmla="*/ 2085 h 10000"/>
              <a:gd name="connsiteX12" fmla="*/ 8412 w 10000"/>
              <a:gd name="connsiteY12" fmla="*/ 2338 h 10000"/>
              <a:gd name="connsiteX13" fmla="*/ 8184 w 10000"/>
              <a:gd name="connsiteY13" fmla="*/ 2581 h 10000"/>
              <a:gd name="connsiteX14" fmla="*/ 7957 w 10000"/>
              <a:gd name="connsiteY14" fmla="*/ 2801 h 10000"/>
              <a:gd name="connsiteX15" fmla="*/ 7734 w 10000"/>
              <a:gd name="connsiteY15" fmla="*/ 2991 h 10000"/>
              <a:gd name="connsiteX16" fmla="*/ 7508 w 10000"/>
              <a:gd name="connsiteY16" fmla="*/ 3182 h 10000"/>
              <a:gd name="connsiteX17" fmla="*/ 7285 w 10000"/>
              <a:gd name="connsiteY17" fmla="*/ 3340 h 10000"/>
              <a:gd name="connsiteX18" fmla="*/ 7062 w 10000"/>
              <a:gd name="connsiteY18" fmla="*/ 3463 h 10000"/>
              <a:gd name="connsiteX19" fmla="*/ 6840 w 10000"/>
              <a:gd name="connsiteY19" fmla="*/ 3594 h 10000"/>
              <a:gd name="connsiteX20" fmla="*/ 6620 w 10000"/>
              <a:gd name="connsiteY20" fmla="*/ 3701 h 10000"/>
              <a:gd name="connsiteX21" fmla="*/ 6402 w 10000"/>
              <a:gd name="connsiteY21" fmla="*/ 3779 h 10000"/>
              <a:gd name="connsiteX22" fmla="*/ 6184 w 10000"/>
              <a:gd name="connsiteY22" fmla="*/ 3844 h 10000"/>
              <a:gd name="connsiteX23" fmla="*/ 5968 w 10000"/>
              <a:gd name="connsiteY23" fmla="*/ 3908 h 10000"/>
              <a:gd name="connsiteX24" fmla="*/ 5755 w 10000"/>
              <a:gd name="connsiteY24" fmla="*/ 3937 h 10000"/>
              <a:gd name="connsiteX25" fmla="*/ 5542 w 10000"/>
              <a:gd name="connsiteY25" fmla="*/ 3969 h 10000"/>
              <a:gd name="connsiteX26" fmla="*/ 5332 w 10000"/>
              <a:gd name="connsiteY26" fmla="*/ 3986 h 10000"/>
              <a:gd name="connsiteX27" fmla="*/ 5124 w 10000"/>
              <a:gd name="connsiteY27" fmla="*/ 3969 h 10000"/>
              <a:gd name="connsiteX28" fmla="*/ 4918 w 10000"/>
              <a:gd name="connsiteY28" fmla="*/ 3969 h 10000"/>
              <a:gd name="connsiteX29" fmla="*/ 4714 w 10000"/>
              <a:gd name="connsiteY29" fmla="*/ 3937 h 10000"/>
              <a:gd name="connsiteX30" fmla="*/ 4514 w 10000"/>
              <a:gd name="connsiteY30" fmla="*/ 3891 h 10000"/>
              <a:gd name="connsiteX31" fmla="*/ 4316 w 10000"/>
              <a:gd name="connsiteY31" fmla="*/ 3844 h 10000"/>
              <a:gd name="connsiteX32" fmla="*/ 4122 w 10000"/>
              <a:gd name="connsiteY32" fmla="*/ 3796 h 10000"/>
              <a:gd name="connsiteX33" fmla="*/ 3929 w 10000"/>
              <a:gd name="connsiteY33" fmla="*/ 3718 h 10000"/>
              <a:gd name="connsiteX34" fmla="*/ 3739 w 10000"/>
              <a:gd name="connsiteY34" fmla="*/ 3635 h 10000"/>
              <a:gd name="connsiteX35" fmla="*/ 3553 w 10000"/>
              <a:gd name="connsiteY35" fmla="*/ 3561 h 10000"/>
              <a:gd name="connsiteX36" fmla="*/ 3190 w 10000"/>
              <a:gd name="connsiteY36" fmla="*/ 3353 h 10000"/>
              <a:gd name="connsiteX37" fmla="*/ 2842 w 10000"/>
              <a:gd name="connsiteY37" fmla="*/ 3130 h 10000"/>
              <a:gd name="connsiteX38" fmla="*/ 2508 w 10000"/>
              <a:gd name="connsiteY38" fmla="*/ 2898 h 10000"/>
              <a:gd name="connsiteX39" fmla="*/ 2192 w 10000"/>
              <a:gd name="connsiteY39" fmla="*/ 2642 h 10000"/>
              <a:gd name="connsiteX40" fmla="*/ 1890 w 10000"/>
              <a:gd name="connsiteY40" fmla="*/ 2372 h 10000"/>
              <a:gd name="connsiteX41" fmla="*/ 1610 w 10000"/>
              <a:gd name="connsiteY41" fmla="*/ 2085 h 10000"/>
              <a:gd name="connsiteX42" fmla="*/ 1347 w 10000"/>
              <a:gd name="connsiteY42" fmla="*/ 1801 h 10000"/>
              <a:gd name="connsiteX43" fmla="*/ 1105 w 10000"/>
              <a:gd name="connsiteY43" fmla="*/ 1521 h 10000"/>
              <a:gd name="connsiteX44" fmla="*/ 883 w 10000"/>
              <a:gd name="connsiteY44" fmla="*/ 1251 h 10000"/>
              <a:gd name="connsiteX45" fmla="*/ 686 w 10000"/>
              <a:gd name="connsiteY45" fmla="*/ 997 h 10000"/>
              <a:gd name="connsiteX46" fmla="*/ 508 w 10000"/>
              <a:gd name="connsiteY46" fmla="*/ 757 h 10000"/>
              <a:gd name="connsiteX47" fmla="*/ 358 w 10000"/>
              <a:gd name="connsiteY47" fmla="*/ 557 h 10000"/>
              <a:gd name="connsiteX48" fmla="*/ 232 w 10000"/>
              <a:gd name="connsiteY48" fmla="*/ 367 h 10000"/>
              <a:gd name="connsiteX49" fmla="*/ 59 w 10000"/>
              <a:gd name="connsiteY49" fmla="*/ 93 h 10000"/>
              <a:gd name="connsiteX50" fmla="*/ 0 w 10000"/>
              <a:gd name="connsiteY50" fmla="*/ 0 h 10000"/>
              <a:gd name="connsiteX51" fmla="*/ 0 w 10000"/>
              <a:gd name="connsiteY51" fmla="*/ 0 h 10000"/>
              <a:gd name="connsiteX0" fmla="*/ 0 w 10000"/>
              <a:gd name="connsiteY0" fmla="*/ 0 h 5405"/>
              <a:gd name="connsiteX1" fmla="*/ 16 w 10000"/>
              <a:gd name="connsiteY1" fmla="*/ 2608 h 5405"/>
              <a:gd name="connsiteX2" fmla="*/ 5409 w 10000"/>
              <a:gd name="connsiteY2" fmla="*/ 5405 h 5405"/>
              <a:gd name="connsiteX3" fmla="*/ 9953 w 10000"/>
              <a:gd name="connsiteY3" fmla="*/ 1722 h 5405"/>
              <a:gd name="connsiteX4" fmla="*/ 10000 w 10000"/>
              <a:gd name="connsiteY4" fmla="*/ 19 h 5405"/>
              <a:gd name="connsiteX5" fmla="*/ 10000 w 10000"/>
              <a:gd name="connsiteY5" fmla="*/ 19 h 5405"/>
              <a:gd name="connsiteX6" fmla="*/ 9773 w 10000"/>
              <a:gd name="connsiteY6" fmla="*/ 414 h 5405"/>
              <a:gd name="connsiteX7" fmla="*/ 9547 w 10000"/>
              <a:gd name="connsiteY7" fmla="*/ 788 h 5405"/>
              <a:gd name="connsiteX8" fmla="*/ 9320 w 10000"/>
              <a:gd name="connsiteY8" fmla="*/ 1155 h 5405"/>
              <a:gd name="connsiteX9" fmla="*/ 9092 w 10000"/>
              <a:gd name="connsiteY9" fmla="*/ 1472 h 5405"/>
              <a:gd name="connsiteX10" fmla="*/ 8865 w 10000"/>
              <a:gd name="connsiteY10" fmla="*/ 1789 h 5405"/>
              <a:gd name="connsiteX11" fmla="*/ 8637 w 10000"/>
              <a:gd name="connsiteY11" fmla="*/ 2085 h 5405"/>
              <a:gd name="connsiteX12" fmla="*/ 8412 w 10000"/>
              <a:gd name="connsiteY12" fmla="*/ 2338 h 5405"/>
              <a:gd name="connsiteX13" fmla="*/ 8184 w 10000"/>
              <a:gd name="connsiteY13" fmla="*/ 2581 h 5405"/>
              <a:gd name="connsiteX14" fmla="*/ 7957 w 10000"/>
              <a:gd name="connsiteY14" fmla="*/ 2801 h 5405"/>
              <a:gd name="connsiteX15" fmla="*/ 7734 w 10000"/>
              <a:gd name="connsiteY15" fmla="*/ 2991 h 5405"/>
              <a:gd name="connsiteX16" fmla="*/ 7508 w 10000"/>
              <a:gd name="connsiteY16" fmla="*/ 3182 h 5405"/>
              <a:gd name="connsiteX17" fmla="*/ 7285 w 10000"/>
              <a:gd name="connsiteY17" fmla="*/ 3340 h 5405"/>
              <a:gd name="connsiteX18" fmla="*/ 7062 w 10000"/>
              <a:gd name="connsiteY18" fmla="*/ 3463 h 5405"/>
              <a:gd name="connsiteX19" fmla="*/ 6840 w 10000"/>
              <a:gd name="connsiteY19" fmla="*/ 3594 h 5405"/>
              <a:gd name="connsiteX20" fmla="*/ 6620 w 10000"/>
              <a:gd name="connsiteY20" fmla="*/ 3701 h 5405"/>
              <a:gd name="connsiteX21" fmla="*/ 6402 w 10000"/>
              <a:gd name="connsiteY21" fmla="*/ 3779 h 5405"/>
              <a:gd name="connsiteX22" fmla="*/ 6184 w 10000"/>
              <a:gd name="connsiteY22" fmla="*/ 3844 h 5405"/>
              <a:gd name="connsiteX23" fmla="*/ 5968 w 10000"/>
              <a:gd name="connsiteY23" fmla="*/ 3908 h 5405"/>
              <a:gd name="connsiteX24" fmla="*/ 5755 w 10000"/>
              <a:gd name="connsiteY24" fmla="*/ 3937 h 5405"/>
              <a:gd name="connsiteX25" fmla="*/ 5542 w 10000"/>
              <a:gd name="connsiteY25" fmla="*/ 3969 h 5405"/>
              <a:gd name="connsiteX26" fmla="*/ 5332 w 10000"/>
              <a:gd name="connsiteY26" fmla="*/ 3986 h 5405"/>
              <a:gd name="connsiteX27" fmla="*/ 5124 w 10000"/>
              <a:gd name="connsiteY27" fmla="*/ 3969 h 5405"/>
              <a:gd name="connsiteX28" fmla="*/ 4918 w 10000"/>
              <a:gd name="connsiteY28" fmla="*/ 3969 h 5405"/>
              <a:gd name="connsiteX29" fmla="*/ 4714 w 10000"/>
              <a:gd name="connsiteY29" fmla="*/ 3937 h 5405"/>
              <a:gd name="connsiteX30" fmla="*/ 4514 w 10000"/>
              <a:gd name="connsiteY30" fmla="*/ 3891 h 5405"/>
              <a:gd name="connsiteX31" fmla="*/ 4316 w 10000"/>
              <a:gd name="connsiteY31" fmla="*/ 3844 h 5405"/>
              <a:gd name="connsiteX32" fmla="*/ 4122 w 10000"/>
              <a:gd name="connsiteY32" fmla="*/ 3796 h 5405"/>
              <a:gd name="connsiteX33" fmla="*/ 3929 w 10000"/>
              <a:gd name="connsiteY33" fmla="*/ 3718 h 5405"/>
              <a:gd name="connsiteX34" fmla="*/ 3739 w 10000"/>
              <a:gd name="connsiteY34" fmla="*/ 3635 h 5405"/>
              <a:gd name="connsiteX35" fmla="*/ 3553 w 10000"/>
              <a:gd name="connsiteY35" fmla="*/ 3561 h 5405"/>
              <a:gd name="connsiteX36" fmla="*/ 3190 w 10000"/>
              <a:gd name="connsiteY36" fmla="*/ 3353 h 5405"/>
              <a:gd name="connsiteX37" fmla="*/ 2842 w 10000"/>
              <a:gd name="connsiteY37" fmla="*/ 3130 h 5405"/>
              <a:gd name="connsiteX38" fmla="*/ 2508 w 10000"/>
              <a:gd name="connsiteY38" fmla="*/ 2898 h 5405"/>
              <a:gd name="connsiteX39" fmla="*/ 2192 w 10000"/>
              <a:gd name="connsiteY39" fmla="*/ 2642 h 5405"/>
              <a:gd name="connsiteX40" fmla="*/ 1890 w 10000"/>
              <a:gd name="connsiteY40" fmla="*/ 2372 h 5405"/>
              <a:gd name="connsiteX41" fmla="*/ 1610 w 10000"/>
              <a:gd name="connsiteY41" fmla="*/ 2085 h 5405"/>
              <a:gd name="connsiteX42" fmla="*/ 1347 w 10000"/>
              <a:gd name="connsiteY42" fmla="*/ 1801 h 5405"/>
              <a:gd name="connsiteX43" fmla="*/ 1105 w 10000"/>
              <a:gd name="connsiteY43" fmla="*/ 1521 h 5405"/>
              <a:gd name="connsiteX44" fmla="*/ 883 w 10000"/>
              <a:gd name="connsiteY44" fmla="*/ 1251 h 5405"/>
              <a:gd name="connsiteX45" fmla="*/ 686 w 10000"/>
              <a:gd name="connsiteY45" fmla="*/ 997 h 5405"/>
              <a:gd name="connsiteX46" fmla="*/ 508 w 10000"/>
              <a:gd name="connsiteY46" fmla="*/ 757 h 5405"/>
              <a:gd name="connsiteX47" fmla="*/ 358 w 10000"/>
              <a:gd name="connsiteY47" fmla="*/ 557 h 5405"/>
              <a:gd name="connsiteX48" fmla="*/ 232 w 10000"/>
              <a:gd name="connsiteY48" fmla="*/ 367 h 5405"/>
              <a:gd name="connsiteX49" fmla="*/ 59 w 10000"/>
              <a:gd name="connsiteY49" fmla="*/ 93 h 5405"/>
              <a:gd name="connsiteX50" fmla="*/ 0 w 10000"/>
              <a:gd name="connsiteY50" fmla="*/ 0 h 5405"/>
              <a:gd name="connsiteX51" fmla="*/ 0 w 10000"/>
              <a:gd name="connsiteY51" fmla="*/ 0 h 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000" h="5405">
                <a:moveTo>
                  <a:pt x="0" y="0"/>
                </a:moveTo>
                <a:cubicBezTo>
                  <a:pt x="5" y="4190"/>
                  <a:pt x="11" y="-1582"/>
                  <a:pt x="16" y="2608"/>
                </a:cubicBezTo>
                <a:lnTo>
                  <a:pt x="5409" y="5405"/>
                </a:lnTo>
                <a:lnTo>
                  <a:pt x="9953" y="1722"/>
                </a:lnTo>
                <a:cubicBezTo>
                  <a:pt x="9969" y="1154"/>
                  <a:pt x="9984" y="587"/>
                  <a:pt x="10000" y="19"/>
                </a:cubicBezTo>
                <a:lnTo>
                  <a:pt x="10000" y="19"/>
                </a:lnTo>
                <a:lnTo>
                  <a:pt x="9773" y="414"/>
                </a:lnTo>
                <a:cubicBezTo>
                  <a:pt x="9698" y="539"/>
                  <a:pt x="9622" y="663"/>
                  <a:pt x="9547" y="788"/>
                </a:cubicBezTo>
                <a:cubicBezTo>
                  <a:pt x="9471" y="910"/>
                  <a:pt x="9396" y="1033"/>
                  <a:pt x="9320" y="1155"/>
                </a:cubicBezTo>
                <a:lnTo>
                  <a:pt x="9092" y="1472"/>
                </a:lnTo>
                <a:lnTo>
                  <a:pt x="8865" y="1789"/>
                </a:lnTo>
                <a:lnTo>
                  <a:pt x="8637" y="2085"/>
                </a:lnTo>
                <a:lnTo>
                  <a:pt x="8412" y="2338"/>
                </a:lnTo>
                <a:lnTo>
                  <a:pt x="8184" y="2581"/>
                </a:lnTo>
                <a:lnTo>
                  <a:pt x="7957" y="2801"/>
                </a:lnTo>
                <a:lnTo>
                  <a:pt x="7734" y="2991"/>
                </a:lnTo>
                <a:lnTo>
                  <a:pt x="7508" y="3182"/>
                </a:lnTo>
                <a:lnTo>
                  <a:pt x="7285" y="3340"/>
                </a:lnTo>
                <a:lnTo>
                  <a:pt x="7062" y="3463"/>
                </a:lnTo>
                <a:lnTo>
                  <a:pt x="6840" y="3594"/>
                </a:lnTo>
                <a:lnTo>
                  <a:pt x="6620" y="3701"/>
                </a:lnTo>
                <a:lnTo>
                  <a:pt x="6402" y="3779"/>
                </a:lnTo>
                <a:lnTo>
                  <a:pt x="6184" y="3844"/>
                </a:lnTo>
                <a:lnTo>
                  <a:pt x="5968" y="3908"/>
                </a:lnTo>
                <a:lnTo>
                  <a:pt x="5755" y="3937"/>
                </a:lnTo>
                <a:lnTo>
                  <a:pt x="5542" y="3969"/>
                </a:lnTo>
                <a:lnTo>
                  <a:pt x="5332" y="3986"/>
                </a:lnTo>
                <a:lnTo>
                  <a:pt x="5124" y="3969"/>
                </a:lnTo>
                <a:lnTo>
                  <a:pt x="4918" y="3969"/>
                </a:lnTo>
                <a:lnTo>
                  <a:pt x="4714" y="3937"/>
                </a:lnTo>
                <a:lnTo>
                  <a:pt x="4514" y="3891"/>
                </a:lnTo>
                <a:lnTo>
                  <a:pt x="4316" y="3844"/>
                </a:lnTo>
                <a:lnTo>
                  <a:pt x="4122" y="3796"/>
                </a:lnTo>
                <a:lnTo>
                  <a:pt x="3929" y="3718"/>
                </a:lnTo>
                <a:lnTo>
                  <a:pt x="3739" y="3635"/>
                </a:lnTo>
                <a:lnTo>
                  <a:pt x="3553" y="3561"/>
                </a:lnTo>
                <a:lnTo>
                  <a:pt x="3190" y="3353"/>
                </a:lnTo>
                <a:lnTo>
                  <a:pt x="2842" y="3130"/>
                </a:lnTo>
                <a:lnTo>
                  <a:pt x="2508" y="2898"/>
                </a:lnTo>
                <a:lnTo>
                  <a:pt x="2192" y="2642"/>
                </a:lnTo>
                <a:lnTo>
                  <a:pt x="1890" y="2372"/>
                </a:lnTo>
                <a:lnTo>
                  <a:pt x="1610" y="2085"/>
                </a:lnTo>
                <a:lnTo>
                  <a:pt x="1347" y="1801"/>
                </a:lnTo>
                <a:lnTo>
                  <a:pt x="1105" y="1521"/>
                </a:lnTo>
                <a:lnTo>
                  <a:pt x="883" y="1251"/>
                </a:lnTo>
                <a:cubicBezTo>
                  <a:pt x="817" y="1167"/>
                  <a:pt x="752" y="1081"/>
                  <a:pt x="686" y="997"/>
                </a:cubicBezTo>
                <a:cubicBezTo>
                  <a:pt x="627" y="916"/>
                  <a:pt x="567" y="837"/>
                  <a:pt x="508" y="757"/>
                </a:cubicBezTo>
                <a:lnTo>
                  <a:pt x="358" y="557"/>
                </a:lnTo>
                <a:lnTo>
                  <a:pt x="232" y="367"/>
                </a:lnTo>
                <a:cubicBezTo>
                  <a:pt x="174" y="277"/>
                  <a:pt x="117" y="184"/>
                  <a:pt x="59" y="93"/>
                </a:cubicBezTo>
                <a:cubicBezTo>
                  <a:pt x="39" y="62"/>
                  <a:pt x="20" y="31"/>
                  <a:pt x="0" y="0"/>
                </a:cubicBezTo>
                <a:lnTo>
                  <a:pt x="0" y="0"/>
                </a:lnTo>
                <a:close/>
              </a:path>
            </a:pathLst>
          </a:custGeom>
          <a:solidFill>
            <a:schemeClr val="bg1"/>
          </a:solidFill>
          <a:ln>
            <a:noFill/>
          </a:ln>
        </p:spPr>
        <p:txBody>
          <a:bodyPr/>
          <a:lstStyle/>
          <a:p>
            <a:endParaRPr lang="en-IN"/>
          </a:p>
        </p:txBody>
      </p:sp>
      <p:sp>
        <p:nvSpPr>
          <p:cNvPr id="31" name="Freeform 5">
            <a:extLst>
              <a:ext uri="{FF2B5EF4-FFF2-40B4-BE49-F238E27FC236}">
                <a16:creationId xmlns:a16="http://schemas.microsoft.com/office/drawing/2014/main" id="{2F7C1910-61FC-214E-B19D-2354E571E6B1}"/>
              </a:ext>
            </a:extLst>
          </p:cNvPr>
          <p:cNvSpPr/>
          <p:nvPr userDrawn="1"/>
        </p:nvSpPr>
        <p:spPr bwMode="gray">
          <a:xfrm rot="15922489">
            <a:off x="515259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IN"/>
          </a:p>
        </p:txBody>
      </p:sp>
    </p:spTree>
    <p:extLst>
      <p:ext uri="{BB962C8B-B14F-4D97-AF65-F5344CB8AC3E}">
        <p14:creationId xmlns:p14="http://schemas.microsoft.com/office/powerpoint/2010/main" val="1408323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13815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353045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F6E250-8C04-4D62-9CB2-2B7E46FFA5CD}"/>
              </a:ext>
            </a:extLst>
          </p:cNvPr>
          <p:cNvSpPr>
            <a:spLocks noGrp="1"/>
          </p:cNvSpPr>
          <p:nvPr>
            <p:ph type="dt" sz="half" idx="10"/>
          </p:nvPr>
        </p:nvSpPr>
        <p:spPr/>
        <p:txBody>
          <a:bodyPr/>
          <a:lstStyle/>
          <a:p>
            <a:fld id="{8B661F2D-E3A3-B34A-8C97-CD0456629075}" type="datetime1">
              <a:rPr lang="en-US" smtClean="0"/>
              <a:t>9/23/2026</a:t>
            </a:fld>
            <a:endParaRPr lang="en-CA"/>
          </a:p>
        </p:txBody>
      </p:sp>
      <p:sp>
        <p:nvSpPr>
          <p:cNvPr id="3" name="Footer Placeholder 2">
            <a:extLst>
              <a:ext uri="{FF2B5EF4-FFF2-40B4-BE49-F238E27FC236}">
                <a16:creationId xmlns:a16="http://schemas.microsoft.com/office/drawing/2014/main" id="{EA4FF2B3-A0E6-4327-8D38-D8F2690CC61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14C691ED-28E0-4D7F-B506-44A67BDF4400}"/>
              </a:ext>
            </a:extLst>
          </p:cNvPr>
          <p:cNvSpPr>
            <a:spLocks noGrp="1"/>
          </p:cNvSpPr>
          <p:nvPr>
            <p:ph type="sldNum" sz="quarter" idx="12"/>
          </p:nvPr>
        </p:nvSpPr>
        <p:spPr/>
        <p:txBody>
          <a:bodyPr/>
          <a:lstStyle/>
          <a:p>
            <a:fld id="{E22BA253-7455-46C9-BD4C-CB6661B7FEAE}" type="slidenum">
              <a:rPr lang="en-CA" smtClean="0"/>
              <a:t>‹#›</a:t>
            </a:fld>
            <a:endParaRPr lang="en-CA"/>
          </a:p>
        </p:txBody>
      </p:sp>
    </p:spTree>
    <p:extLst>
      <p:ext uri="{BB962C8B-B14F-4D97-AF65-F5344CB8AC3E}">
        <p14:creationId xmlns:p14="http://schemas.microsoft.com/office/powerpoint/2010/main" val="3219384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Section Header">
    <p:spTree>
      <p:nvGrpSpPr>
        <p:cNvPr id="1" name=""/>
        <p:cNvGrpSpPr/>
        <p:nvPr/>
      </p:nvGrpSpPr>
      <p:grpSpPr>
        <a:xfrm>
          <a:off x="0" y="0"/>
          <a:ext cx="0" cy="0"/>
          <a:chOff x="0" y="0"/>
          <a:chExt cx="0" cy="0"/>
        </a:xfrm>
      </p:grpSpPr>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6D3AFC27-AD7F-1A46-A6F9-2C9507026F9D}" type="datetime1">
              <a:rPr lang="en-US" smtClean="0"/>
              <a:t>9/23/2026</a:t>
            </a:fld>
            <a:endParaRPr lang="en-US"/>
          </a:p>
        </p:txBody>
      </p:sp>
      <p:pic>
        <p:nvPicPr>
          <p:cNvPr id="32" name="Picture 31">
            <a:extLst>
              <a:ext uri="{FF2B5EF4-FFF2-40B4-BE49-F238E27FC236}">
                <a16:creationId xmlns:a16="http://schemas.microsoft.com/office/drawing/2014/main" id="{AB64086E-D480-C64D-8011-1ACDE93C9D6D}"/>
              </a:ext>
            </a:extLst>
          </p:cNvPr>
          <p:cNvPicPr>
            <a:picLocks noChangeAspect="1"/>
          </p:cNvPicPr>
          <p:nvPr userDrawn="1"/>
        </p:nvPicPr>
        <p:blipFill>
          <a:blip r:embed="rId2">
            <a:alphaModFix amt="89000"/>
            <a:extLst>
              <a:ext uri="{BEBA8EAE-BF5A-486C-A8C5-ECC9F3942E4B}">
                <a14:imgProps xmlns:a14="http://schemas.microsoft.com/office/drawing/2010/main">
                  <a14:imgLayer r:embed="rId3">
                    <a14:imgEffect>
                      <a14:brightnessContrast bright="41000"/>
                    </a14:imgEffect>
                  </a14:imgLayer>
                </a14:imgProps>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a:xfrm>
            <a:off x="10352541" y="295730"/>
            <a:ext cx="838199" cy="184666"/>
          </a:xfrm>
          <a:prstGeom prst="rect">
            <a:avLst/>
          </a:prstGeom>
        </p:spPr>
        <p:txBody>
          <a:bodyPr/>
          <a:lstStyle/>
          <a:p>
            <a:fld id="{D57F1E4F-1CFF-5643-939E-217C01CDF565}" type="slidenum">
              <a:rPr lang="en-US"/>
              <a:pPr/>
              <a:t>‹#›</a:t>
            </a:fld>
            <a:endParaRPr lang="en-US"/>
          </a:p>
        </p:txBody>
      </p:sp>
      <p:sp>
        <p:nvSpPr>
          <p:cNvPr id="29" name="Flowchart: Process 28"/>
          <p:cNvSpPr/>
          <p:nvPr userDrawn="1"/>
        </p:nvSpPr>
        <p:spPr>
          <a:xfrm>
            <a:off x="476250" y="462025"/>
            <a:ext cx="6381912" cy="5933953"/>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00"/>
              <a:gd name="connsiteY0" fmla="*/ 16 h 10016"/>
              <a:gd name="connsiteX1" fmla="*/ 9415 w 10000"/>
              <a:gd name="connsiteY1" fmla="*/ 0 h 10016"/>
              <a:gd name="connsiteX2" fmla="*/ 10000 w 10000"/>
              <a:gd name="connsiteY2" fmla="*/ 10016 h 10016"/>
              <a:gd name="connsiteX3" fmla="*/ 0 w 10000"/>
              <a:gd name="connsiteY3" fmla="*/ 10016 h 10016"/>
              <a:gd name="connsiteX4" fmla="*/ 0 w 10000"/>
              <a:gd name="connsiteY4" fmla="*/ 16 h 10016"/>
              <a:gd name="connsiteX0" fmla="*/ 0 w 10000"/>
              <a:gd name="connsiteY0" fmla="*/ 16 h 10016"/>
              <a:gd name="connsiteX1" fmla="*/ 9415 w 10000"/>
              <a:gd name="connsiteY1" fmla="*/ 0 h 10016"/>
              <a:gd name="connsiteX2" fmla="*/ 9740 w 10000"/>
              <a:gd name="connsiteY2" fmla="*/ 5596 h 10016"/>
              <a:gd name="connsiteX3" fmla="*/ 10000 w 10000"/>
              <a:gd name="connsiteY3" fmla="*/ 10016 h 10016"/>
              <a:gd name="connsiteX4" fmla="*/ 0 w 10000"/>
              <a:gd name="connsiteY4" fmla="*/ 10016 h 10016"/>
              <a:gd name="connsiteX5" fmla="*/ 0 w 10000"/>
              <a:gd name="connsiteY5" fmla="*/ 16 h 10016"/>
              <a:gd name="connsiteX0" fmla="*/ 0 w 9750"/>
              <a:gd name="connsiteY0" fmla="*/ 16 h 10032"/>
              <a:gd name="connsiteX1" fmla="*/ 9415 w 9750"/>
              <a:gd name="connsiteY1" fmla="*/ 0 h 10032"/>
              <a:gd name="connsiteX2" fmla="*/ 9740 w 9750"/>
              <a:gd name="connsiteY2" fmla="*/ 5596 h 10032"/>
              <a:gd name="connsiteX3" fmla="*/ 9423 w 9750"/>
              <a:gd name="connsiteY3" fmla="*/ 10032 h 10032"/>
              <a:gd name="connsiteX4" fmla="*/ 0 w 9750"/>
              <a:gd name="connsiteY4" fmla="*/ 10016 h 10032"/>
              <a:gd name="connsiteX5" fmla="*/ 0 w 9750"/>
              <a:gd name="connsiteY5" fmla="*/ 16 h 10032"/>
              <a:gd name="connsiteX0" fmla="*/ 0 w 10010"/>
              <a:gd name="connsiteY0" fmla="*/ 16 h 10000"/>
              <a:gd name="connsiteX1" fmla="*/ 9656 w 10010"/>
              <a:gd name="connsiteY1" fmla="*/ 0 h 10000"/>
              <a:gd name="connsiteX2" fmla="*/ 9990 w 10010"/>
              <a:gd name="connsiteY2" fmla="*/ 5578 h 10000"/>
              <a:gd name="connsiteX3" fmla="*/ 9665 w 10010"/>
              <a:gd name="connsiteY3" fmla="*/ 10000 h 10000"/>
              <a:gd name="connsiteX4" fmla="*/ 0 w 10010"/>
              <a:gd name="connsiteY4" fmla="*/ 9984 h 10000"/>
              <a:gd name="connsiteX5" fmla="*/ 0 w 10010"/>
              <a:gd name="connsiteY5" fmla="*/ 16 h 10000"/>
              <a:gd name="connsiteX0" fmla="*/ 0 w 10004"/>
              <a:gd name="connsiteY0" fmla="*/ 16 h 10000"/>
              <a:gd name="connsiteX1" fmla="*/ 9656 w 10004"/>
              <a:gd name="connsiteY1" fmla="*/ 0 h 10000"/>
              <a:gd name="connsiteX2" fmla="*/ 9990 w 10004"/>
              <a:gd name="connsiteY2" fmla="*/ 5578 h 10000"/>
              <a:gd name="connsiteX3" fmla="*/ 9665 w 10004"/>
              <a:gd name="connsiteY3" fmla="*/ 10000 h 10000"/>
              <a:gd name="connsiteX4" fmla="*/ 0 w 10004"/>
              <a:gd name="connsiteY4" fmla="*/ 9984 h 10000"/>
              <a:gd name="connsiteX5" fmla="*/ 0 w 10004"/>
              <a:gd name="connsiteY5" fmla="*/ 16 h 10000"/>
              <a:gd name="connsiteX0" fmla="*/ 0 w 9838"/>
              <a:gd name="connsiteY0" fmla="*/ 16 h 10000"/>
              <a:gd name="connsiteX1" fmla="*/ 9656 w 9838"/>
              <a:gd name="connsiteY1" fmla="*/ 0 h 10000"/>
              <a:gd name="connsiteX2" fmla="*/ 9815 w 9838"/>
              <a:gd name="connsiteY2" fmla="*/ 5498 h 10000"/>
              <a:gd name="connsiteX3" fmla="*/ 9665 w 9838"/>
              <a:gd name="connsiteY3" fmla="*/ 10000 h 10000"/>
              <a:gd name="connsiteX4" fmla="*/ 0 w 9838"/>
              <a:gd name="connsiteY4" fmla="*/ 9984 h 10000"/>
              <a:gd name="connsiteX5" fmla="*/ 0 w 9838"/>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10005"/>
              <a:gd name="connsiteY0" fmla="*/ 16 h 10000"/>
              <a:gd name="connsiteX1" fmla="*/ 9815 w 10005"/>
              <a:gd name="connsiteY1" fmla="*/ 0 h 10000"/>
              <a:gd name="connsiteX2" fmla="*/ 9977 w 10005"/>
              <a:gd name="connsiteY2" fmla="*/ 5498 h 10000"/>
              <a:gd name="connsiteX3" fmla="*/ 9824 w 10005"/>
              <a:gd name="connsiteY3" fmla="*/ 10000 h 10000"/>
              <a:gd name="connsiteX4" fmla="*/ 0 w 10005"/>
              <a:gd name="connsiteY4" fmla="*/ 9984 h 10000"/>
              <a:gd name="connsiteX5" fmla="*/ 0 w 10005"/>
              <a:gd name="connsiteY5" fmla="*/ 16 h 10000"/>
              <a:gd name="connsiteX0" fmla="*/ 0 w 9992"/>
              <a:gd name="connsiteY0" fmla="*/ 16 h 10000"/>
              <a:gd name="connsiteX1" fmla="*/ 9636 w 9992"/>
              <a:gd name="connsiteY1" fmla="*/ 0 h 10000"/>
              <a:gd name="connsiteX2" fmla="*/ 9977 w 9992"/>
              <a:gd name="connsiteY2" fmla="*/ 5498 h 10000"/>
              <a:gd name="connsiteX3" fmla="*/ 9824 w 9992"/>
              <a:gd name="connsiteY3" fmla="*/ 10000 h 10000"/>
              <a:gd name="connsiteX4" fmla="*/ 0 w 9992"/>
              <a:gd name="connsiteY4" fmla="*/ 9984 h 10000"/>
              <a:gd name="connsiteX5" fmla="*/ 0 w 9992"/>
              <a:gd name="connsiteY5" fmla="*/ 1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92" h="10000">
                <a:moveTo>
                  <a:pt x="0" y="16"/>
                </a:moveTo>
                <a:lnTo>
                  <a:pt x="9636" y="0"/>
                </a:lnTo>
                <a:cubicBezTo>
                  <a:pt x="9749" y="1859"/>
                  <a:pt x="10067" y="3527"/>
                  <a:pt x="9977" y="5498"/>
                </a:cubicBezTo>
                <a:cubicBezTo>
                  <a:pt x="9982" y="6950"/>
                  <a:pt x="9877" y="8532"/>
                  <a:pt x="9824" y="10000"/>
                </a:cubicBezTo>
                <a:lnTo>
                  <a:pt x="0" y="9984"/>
                </a:lnTo>
                <a:lnTo>
                  <a:pt x="0" y="16"/>
                </a:lnTo>
                <a:close/>
              </a:path>
            </a:pathLst>
          </a:custGeom>
          <a:solidFill>
            <a:srgbClr val="F4792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0" name="Freeform 5"/>
          <p:cNvSpPr/>
          <p:nvPr userDrawn="1"/>
        </p:nvSpPr>
        <p:spPr bwMode="gray">
          <a:xfrm rot="16200000">
            <a:off x="3747182" y="3268821"/>
            <a:ext cx="6053670" cy="320359"/>
          </a:xfrm>
          <a:custGeom>
            <a:avLst/>
            <a:gdLst>
              <a:gd name="connsiteX0" fmla="*/ 0 w 10000"/>
              <a:gd name="connsiteY0" fmla="*/ 0 h 9963"/>
              <a:gd name="connsiteX1" fmla="*/ 0 w 10000"/>
              <a:gd name="connsiteY1" fmla="*/ 9963 h 9963"/>
              <a:gd name="connsiteX2" fmla="*/ 10000 w 10000"/>
              <a:gd name="connsiteY2" fmla="*/ 5824 h 9963"/>
              <a:gd name="connsiteX3" fmla="*/ 10000 w 10000"/>
              <a:gd name="connsiteY3" fmla="*/ 9 h 9963"/>
              <a:gd name="connsiteX4" fmla="*/ 10000 w 10000"/>
              <a:gd name="connsiteY4" fmla="*/ 9 h 9963"/>
              <a:gd name="connsiteX5" fmla="*/ 9773 w 10000"/>
              <a:gd name="connsiteY5" fmla="*/ 195 h 9963"/>
              <a:gd name="connsiteX6" fmla="*/ 9547 w 10000"/>
              <a:gd name="connsiteY6" fmla="*/ 373 h 9963"/>
              <a:gd name="connsiteX7" fmla="*/ 9320 w 10000"/>
              <a:gd name="connsiteY7" fmla="*/ 546 h 9963"/>
              <a:gd name="connsiteX8" fmla="*/ 9092 w 10000"/>
              <a:gd name="connsiteY8" fmla="*/ 695 h 9963"/>
              <a:gd name="connsiteX9" fmla="*/ 8865 w 10000"/>
              <a:gd name="connsiteY9" fmla="*/ 845 h 9963"/>
              <a:gd name="connsiteX10" fmla="*/ 8637 w 10000"/>
              <a:gd name="connsiteY10" fmla="*/ 985 h 9963"/>
              <a:gd name="connsiteX11" fmla="*/ 8412 w 10000"/>
              <a:gd name="connsiteY11" fmla="*/ 1105 h 9963"/>
              <a:gd name="connsiteX12" fmla="*/ 8184 w 10000"/>
              <a:gd name="connsiteY12" fmla="*/ 1219 h 9963"/>
              <a:gd name="connsiteX13" fmla="*/ 7957 w 10000"/>
              <a:gd name="connsiteY13" fmla="*/ 1323 h 9963"/>
              <a:gd name="connsiteX14" fmla="*/ 7734 w 10000"/>
              <a:gd name="connsiteY14" fmla="*/ 1413 h 9963"/>
              <a:gd name="connsiteX15" fmla="*/ 7508 w 10000"/>
              <a:gd name="connsiteY15" fmla="*/ 1503 h 9963"/>
              <a:gd name="connsiteX16" fmla="*/ 7285 w 10000"/>
              <a:gd name="connsiteY16" fmla="*/ 1578 h 9963"/>
              <a:gd name="connsiteX17" fmla="*/ 7062 w 10000"/>
              <a:gd name="connsiteY17" fmla="*/ 1636 h 9963"/>
              <a:gd name="connsiteX18" fmla="*/ 6840 w 10000"/>
              <a:gd name="connsiteY18" fmla="*/ 1698 h 9963"/>
              <a:gd name="connsiteX19" fmla="*/ 6620 w 10000"/>
              <a:gd name="connsiteY19" fmla="*/ 1749 h 9963"/>
              <a:gd name="connsiteX20" fmla="*/ 6402 w 10000"/>
              <a:gd name="connsiteY20" fmla="*/ 1785 h 9963"/>
              <a:gd name="connsiteX21" fmla="*/ 6184 w 10000"/>
              <a:gd name="connsiteY21" fmla="*/ 1816 h 9963"/>
              <a:gd name="connsiteX22" fmla="*/ 5968 w 10000"/>
              <a:gd name="connsiteY22" fmla="*/ 1846 h 9963"/>
              <a:gd name="connsiteX23" fmla="*/ 5755 w 10000"/>
              <a:gd name="connsiteY23" fmla="*/ 1860 h 9963"/>
              <a:gd name="connsiteX24" fmla="*/ 5542 w 10000"/>
              <a:gd name="connsiteY24" fmla="*/ 1875 h 9963"/>
              <a:gd name="connsiteX25" fmla="*/ 5332 w 10000"/>
              <a:gd name="connsiteY25" fmla="*/ 1883 h 9963"/>
              <a:gd name="connsiteX26" fmla="*/ 5124 w 10000"/>
              <a:gd name="connsiteY26" fmla="*/ 1875 h 9963"/>
              <a:gd name="connsiteX27" fmla="*/ 4918 w 10000"/>
              <a:gd name="connsiteY27" fmla="*/ 1875 h 9963"/>
              <a:gd name="connsiteX28" fmla="*/ 4714 w 10000"/>
              <a:gd name="connsiteY28" fmla="*/ 1860 h 9963"/>
              <a:gd name="connsiteX29" fmla="*/ 4514 w 10000"/>
              <a:gd name="connsiteY29" fmla="*/ 1838 h 9963"/>
              <a:gd name="connsiteX30" fmla="*/ 4316 w 10000"/>
              <a:gd name="connsiteY30" fmla="*/ 1816 h 9963"/>
              <a:gd name="connsiteX31" fmla="*/ 4122 w 10000"/>
              <a:gd name="connsiteY31" fmla="*/ 1793 h 9963"/>
              <a:gd name="connsiteX32" fmla="*/ 3929 w 10000"/>
              <a:gd name="connsiteY32" fmla="*/ 1756 h 9963"/>
              <a:gd name="connsiteX33" fmla="*/ 3739 w 10000"/>
              <a:gd name="connsiteY33" fmla="*/ 1718 h 9963"/>
              <a:gd name="connsiteX34" fmla="*/ 3553 w 10000"/>
              <a:gd name="connsiteY34" fmla="*/ 1683 h 9963"/>
              <a:gd name="connsiteX35" fmla="*/ 3190 w 10000"/>
              <a:gd name="connsiteY35" fmla="*/ 1584 h 9963"/>
              <a:gd name="connsiteX36" fmla="*/ 2842 w 10000"/>
              <a:gd name="connsiteY36" fmla="*/ 1479 h 9963"/>
              <a:gd name="connsiteX37" fmla="*/ 2508 w 10000"/>
              <a:gd name="connsiteY37" fmla="*/ 1369 h 9963"/>
              <a:gd name="connsiteX38" fmla="*/ 2192 w 10000"/>
              <a:gd name="connsiteY38" fmla="*/ 1248 h 9963"/>
              <a:gd name="connsiteX39" fmla="*/ 1890 w 10000"/>
              <a:gd name="connsiteY39" fmla="*/ 1121 h 9963"/>
              <a:gd name="connsiteX40" fmla="*/ 1610 w 10000"/>
              <a:gd name="connsiteY40" fmla="*/ 985 h 9963"/>
              <a:gd name="connsiteX41" fmla="*/ 1347 w 10000"/>
              <a:gd name="connsiteY41" fmla="*/ 851 h 9963"/>
              <a:gd name="connsiteX42" fmla="*/ 1105 w 10000"/>
              <a:gd name="connsiteY42" fmla="*/ 718 h 9963"/>
              <a:gd name="connsiteX43" fmla="*/ 883 w 10000"/>
              <a:gd name="connsiteY43" fmla="*/ 591 h 9963"/>
              <a:gd name="connsiteX44" fmla="*/ 686 w 10000"/>
              <a:gd name="connsiteY44" fmla="*/ 471 h 9963"/>
              <a:gd name="connsiteX45" fmla="*/ 508 w 10000"/>
              <a:gd name="connsiteY45" fmla="*/ 358 h 9963"/>
              <a:gd name="connsiteX46" fmla="*/ 358 w 10000"/>
              <a:gd name="connsiteY46" fmla="*/ 263 h 9963"/>
              <a:gd name="connsiteX47" fmla="*/ 232 w 10000"/>
              <a:gd name="connsiteY47" fmla="*/ 173 h 9963"/>
              <a:gd name="connsiteX48" fmla="*/ 59 w 10000"/>
              <a:gd name="connsiteY48" fmla="*/ 44 h 9963"/>
              <a:gd name="connsiteX49" fmla="*/ 0 w 10000"/>
              <a:gd name="connsiteY49" fmla="*/ 0 h 9963"/>
              <a:gd name="connsiteX50" fmla="*/ 0 w 10000"/>
              <a:gd name="connsiteY50" fmla="*/ 0 h 9963"/>
              <a:gd name="connsiteX0" fmla="*/ 0 w 10000"/>
              <a:gd name="connsiteY0" fmla="*/ 0 h 5961"/>
              <a:gd name="connsiteX1" fmla="*/ 16 w 10000"/>
              <a:gd name="connsiteY1" fmla="*/ 5961 h 5961"/>
              <a:gd name="connsiteX2" fmla="*/ 10000 w 10000"/>
              <a:gd name="connsiteY2" fmla="*/ 5846 h 5961"/>
              <a:gd name="connsiteX3" fmla="*/ 10000 w 10000"/>
              <a:gd name="connsiteY3" fmla="*/ 9 h 5961"/>
              <a:gd name="connsiteX4" fmla="*/ 10000 w 10000"/>
              <a:gd name="connsiteY4" fmla="*/ 9 h 5961"/>
              <a:gd name="connsiteX5" fmla="*/ 9773 w 10000"/>
              <a:gd name="connsiteY5" fmla="*/ 196 h 5961"/>
              <a:gd name="connsiteX6" fmla="*/ 9547 w 10000"/>
              <a:gd name="connsiteY6" fmla="*/ 374 h 5961"/>
              <a:gd name="connsiteX7" fmla="*/ 9320 w 10000"/>
              <a:gd name="connsiteY7" fmla="*/ 548 h 5961"/>
              <a:gd name="connsiteX8" fmla="*/ 9092 w 10000"/>
              <a:gd name="connsiteY8" fmla="*/ 698 h 5961"/>
              <a:gd name="connsiteX9" fmla="*/ 8865 w 10000"/>
              <a:gd name="connsiteY9" fmla="*/ 848 h 5961"/>
              <a:gd name="connsiteX10" fmla="*/ 8637 w 10000"/>
              <a:gd name="connsiteY10" fmla="*/ 989 h 5961"/>
              <a:gd name="connsiteX11" fmla="*/ 8412 w 10000"/>
              <a:gd name="connsiteY11" fmla="*/ 1109 h 5961"/>
              <a:gd name="connsiteX12" fmla="*/ 8184 w 10000"/>
              <a:gd name="connsiteY12" fmla="*/ 1224 h 5961"/>
              <a:gd name="connsiteX13" fmla="*/ 7957 w 10000"/>
              <a:gd name="connsiteY13" fmla="*/ 1328 h 5961"/>
              <a:gd name="connsiteX14" fmla="*/ 7734 w 10000"/>
              <a:gd name="connsiteY14" fmla="*/ 1418 h 5961"/>
              <a:gd name="connsiteX15" fmla="*/ 7508 w 10000"/>
              <a:gd name="connsiteY15" fmla="*/ 1509 h 5961"/>
              <a:gd name="connsiteX16" fmla="*/ 7285 w 10000"/>
              <a:gd name="connsiteY16" fmla="*/ 1584 h 5961"/>
              <a:gd name="connsiteX17" fmla="*/ 7062 w 10000"/>
              <a:gd name="connsiteY17" fmla="*/ 1642 h 5961"/>
              <a:gd name="connsiteX18" fmla="*/ 6840 w 10000"/>
              <a:gd name="connsiteY18" fmla="*/ 1704 h 5961"/>
              <a:gd name="connsiteX19" fmla="*/ 6620 w 10000"/>
              <a:gd name="connsiteY19" fmla="*/ 1755 h 5961"/>
              <a:gd name="connsiteX20" fmla="*/ 6402 w 10000"/>
              <a:gd name="connsiteY20" fmla="*/ 1792 h 5961"/>
              <a:gd name="connsiteX21" fmla="*/ 6184 w 10000"/>
              <a:gd name="connsiteY21" fmla="*/ 1823 h 5961"/>
              <a:gd name="connsiteX22" fmla="*/ 5968 w 10000"/>
              <a:gd name="connsiteY22" fmla="*/ 1853 h 5961"/>
              <a:gd name="connsiteX23" fmla="*/ 5755 w 10000"/>
              <a:gd name="connsiteY23" fmla="*/ 1867 h 5961"/>
              <a:gd name="connsiteX24" fmla="*/ 5542 w 10000"/>
              <a:gd name="connsiteY24" fmla="*/ 1882 h 5961"/>
              <a:gd name="connsiteX25" fmla="*/ 5332 w 10000"/>
              <a:gd name="connsiteY25" fmla="*/ 1890 h 5961"/>
              <a:gd name="connsiteX26" fmla="*/ 5124 w 10000"/>
              <a:gd name="connsiteY26" fmla="*/ 1882 h 5961"/>
              <a:gd name="connsiteX27" fmla="*/ 4918 w 10000"/>
              <a:gd name="connsiteY27" fmla="*/ 1882 h 5961"/>
              <a:gd name="connsiteX28" fmla="*/ 4714 w 10000"/>
              <a:gd name="connsiteY28" fmla="*/ 1867 h 5961"/>
              <a:gd name="connsiteX29" fmla="*/ 4514 w 10000"/>
              <a:gd name="connsiteY29" fmla="*/ 1845 h 5961"/>
              <a:gd name="connsiteX30" fmla="*/ 4316 w 10000"/>
              <a:gd name="connsiteY30" fmla="*/ 1823 h 5961"/>
              <a:gd name="connsiteX31" fmla="*/ 4122 w 10000"/>
              <a:gd name="connsiteY31" fmla="*/ 1800 h 5961"/>
              <a:gd name="connsiteX32" fmla="*/ 3929 w 10000"/>
              <a:gd name="connsiteY32" fmla="*/ 1763 h 5961"/>
              <a:gd name="connsiteX33" fmla="*/ 3739 w 10000"/>
              <a:gd name="connsiteY33" fmla="*/ 1724 h 5961"/>
              <a:gd name="connsiteX34" fmla="*/ 3553 w 10000"/>
              <a:gd name="connsiteY34" fmla="*/ 1689 h 5961"/>
              <a:gd name="connsiteX35" fmla="*/ 3190 w 10000"/>
              <a:gd name="connsiteY35" fmla="*/ 1590 h 5961"/>
              <a:gd name="connsiteX36" fmla="*/ 2842 w 10000"/>
              <a:gd name="connsiteY36" fmla="*/ 1484 h 5961"/>
              <a:gd name="connsiteX37" fmla="*/ 2508 w 10000"/>
              <a:gd name="connsiteY37" fmla="*/ 1374 h 5961"/>
              <a:gd name="connsiteX38" fmla="*/ 2192 w 10000"/>
              <a:gd name="connsiteY38" fmla="*/ 1253 h 5961"/>
              <a:gd name="connsiteX39" fmla="*/ 1890 w 10000"/>
              <a:gd name="connsiteY39" fmla="*/ 1125 h 5961"/>
              <a:gd name="connsiteX40" fmla="*/ 1610 w 10000"/>
              <a:gd name="connsiteY40" fmla="*/ 989 h 5961"/>
              <a:gd name="connsiteX41" fmla="*/ 1347 w 10000"/>
              <a:gd name="connsiteY41" fmla="*/ 854 h 5961"/>
              <a:gd name="connsiteX42" fmla="*/ 1105 w 10000"/>
              <a:gd name="connsiteY42" fmla="*/ 721 h 5961"/>
              <a:gd name="connsiteX43" fmla="*/ 883 w 10000"/>
              <a:gd name="connsiteY43" fmla="*/ 593 h 5961"/>
              <a:gd name="connsiteX44" fmla="*/ 686 w 10000"/>
              <a:gd name="connsiteY44" fmla="*/ 473 h 5961"/>
              <a:gd name="connsiteX45" fmla="*/ 508 w 10000"/>
              <a:gd name="connsiteY45" fmla="*/ 359 h 5961"/>
              <a:gd name="connsiteX46" fmla="*/ 358 w 10000"/>
              <a:gd name="connsiteY46" fmla="*/ 264 h 5961"/>
              <a:gd name="connsiteX47" fmla="*/ 232 w 10000"/>
              <a:gd name="connsiteY47" fmla="*/ 174 h 5961"/>
              <a:gd name="connsiteX48" fmla="*/ 59 w 10000"/>
              <a:gd name="connsiteY48" fmla="*/ 44 h 5961"/>
              <a:gd name="connsiteX49" fmla="*/ 0 w 10000"/>
              <a:gd name="connsiteY49" fmla="*/ 0 h 5961"/>
              <a:gd name="connsiteX50" fmla="*/ 0 w 10000"/>
              <a:gd name="connsiteY50" fmla="*/ 0 h 5961"/>
              <a:gd name="connsiteX0" fmla="*/ 0 w 10000"/>
              <a:gd name="connsiteY0" fmla="*/ 0 h 10000"/>
              <a:gd name="connsiteX1" fmla="*/ 16 w 10000"/>
              <a:gd name="connsiteY1" fmla="*/ 10000 h 10000"/>
              <a:gd name="connsiteX2" fmla="*/ 9953 w 10000"/>
              <a:gd name="connsiteY2" fmla="*/ 1370 h 10000"/>
              <a:gd name="connsiteX3" fmla="*/ 10000 w 10000"/>
              <a:gd name="connsiteY3" fmla="*/ 15 h 10000"/>
              <a:gd name="connsiteX4" fmla="*/ 10000 w 10000"/>
              <a:gd name="connsiteY4" fmla="*/ 15 h 10000"/>
              <a:gd name="connsiteX5" fmla="*/ 9773 w 10000"/>
              <a:gd name="connsiteY5" fmla="*/ 329 h 10000"/>
              <a:gd name="connsiteX6" fmla="*/ 9547 w 10000"/>
              <a:gd name="connsiteY6" fmla="*/ 627 h 10000"/>
              <a:gd name="connsiteX7" fmla="*/ 9320 w 10000"/>
              <a:gd name="connsiteY7" fmla="*/ 919 h 10000"/>
              <a:gd name="connsiteX8" fmla="*/ 9092 w 10000"/>
              <a:gd name="connsiteY8" fmla="*/ 1171 h 10000"/>
              <a:gd name="connsiteX9" fmla="*/ 8865 w 10000"/>
              <a:gd name="connsiteY9" fmla="*/ 1423 h 10000"/>
              <a:gd name="connsiteX10" fmla="*/ 8637 w 10000"/>
              <a:gd name="connsiteY10" fmla="*/ 1659 h 10000"/>
              <a:gd name="connsiteX11" fmla="*/ 8412 w 10000"/>
              <a:gd name="connsiteY11" fmla="*/ 1860 h 10000"/>
              <a:gd name="connsiteX12" fmla="*/ 8184 w 10000"/>
              <a:gd name="connsiteY12" fmla="*/ 2053 h 10000"/>
              <a:gd name="connsiteX13" fmla="*/ 7957 w 10000"/>
              <a:gd name="connsiteY13" fmla="*/ 2228 h 10000"/>
              <a:gd name="connsiteX14" fmla="*/ 7734 w 10000"/>
              <a:gd name="connsiteY14" fmla="*/ 2379 h 10000"/>
              <a:gd name="connsiteX15" fmla="*/ 7508 w 10000"/>
              <a:gd name="connsiteY15" fmla="*/ 2531 h 10000"/>
              <a:gd name="connsiteX16" fmla="*/ 7285 w 10000"/>
              <a:gd name="connsiteY16" fmla="*/ 2657 h 10000"/>
              <a:gd name="connsiteX17" fmla="*/ 7062 w 10000"/>
              <a:gd name="connsiteY17" fmla="*/ 2755 h 10000"/>
              <a:gd name="connsiteX18" fmla="*/ 6840 w 10000"/>
              <a:gd name="connsiteY18" fmla="*/ 2859 h 10000"/>
              <a:gd name="connsiteX19" fmla="*/ 6620 w 10000"/>
              <a:gd name="connsiteY19" fmla="*/ 2944 h 10000"/>
              <a:gd name="connsiteX20" fmla="*/ 6402 w 10000"/>
              <a:gd name="connsiteY20" fmla="*/ 3006 h 10000"/>
              <a:gd name="connsiteX21" fmla="*/ 6184 w 10000"/>
              <a:gd name="connsiteY21" fmla="*/ 3058 h 10000"/>
              <a:gd name="connsiteX22" fmla="*/ 5968 w 10000"/>
              <a:gd name="connsiteY22" fmla="*/ 3109 h 10000"/>
              <a:gd name="connsiteX23" fmla="*/ 5755 w 10000"/>
              <a:gd name="connsiteY23" fmla="*/ 3132 h 10000"/>
              <a:gd name="connsiteX24" fmla="*/ 5542 w 10000"/>
              <a:gd name="connsiteY24" fmla="*/ 3157 h 10000"/>
              <a:gd name="connsiteX25" fmla="*/ 5332 w 10000"/>
              <a:gd name="connsiteY25" fmla="*/ 3171 h 10000"/>
              <a:gd name="connsiteX26" fmla="*/ 5124 w 10000"/>
              <a:gd name="connsiteY26" fmla="*/ 3157 h 10000"/>
              <a:gd name="connsiteX27" fmla="*/ 4918 w 10000"/>
              <a:gd name="connsiteY27" fmla="*/ 3157 h 10000"/>
              <a:gd name="connsiteX28" fmla="*/ 4714 w 10000"/>
              <a:gd name="connsiteY28" fmla="*/ 3132 h 10000"/>
              <a:gd name="connsiteX29" fmla="*/ 4514 w 10000"/>
              <a:gd name="connsiteY29" fmla="*/ 3095 h 10000"/>
              <a:gd name="connsiteX30" fmla="*/ 4316 w 10000"/>
              <a:gd name="connsiteY30" fmla="*/ 3058 h 10000"/>
              <a:gd name="connsiteX31" fmla="*/ 4122 w 10000"/>
              <a:gd name="connsiteY31" fmla="*/ 3020 h 10000"/>
              <a:gd name="connsiteX32" fmla="*/ 3929 w 10000"/>
              <a:gd name="connsiteY32" fmla="*/ 2958 h 10000"/>
              <a:gd name="connsiteX33" fmla="*/ 3739 w 10000"/>
              <a:gd name="connsiteY33" fmla="*/ 2892 h 10000"/>
              <a:gd name="connsiteX34" fmla="*/ 3553 w 10000"/>
              <a:gd name="connsiteY34" fmla="*/ 2833 h 10000"/>
              <a:gd name="connsiteX35" fmla="*/ 3190 w 10000"/>
              <a:gd name="connsiteY35" fmla="*/ 2667 h 10000"/>
              <a:gd name="connsiteX36" fmla="*/ 2842 w 10000"/>
              <a:gd name="connsiteY36" fmla="*/ 2490 h 10000"/>
              <a:gd name="connsiteX37" fmla="*/ 2508 w 10000"/>
              <a:gd name="connsiteY37" fmla="*/ 2305 h 10000"/>
              <a:gd name="connsiteX38" fmla="*/ 2192 w 10000"/>
              <a:gd name="connsiteY38" fmla="*/ 2102 h 10000"/>
              <a:gd name="connsiteX39" fmla="*/ 1890 w 10000"/>
              <a:gd name="connsiteY39" fmla="*/ 1887 h 10000"/>
              <a:gd name="connsiteX40" fmla="*/ 1610 w 10000"/>
              <a:gd name="connsiteY40" fmla="*/ 1659 h 10000"/>
              <a:gd name="connsiteX41" fmla="*/ 1347 w 10000"/>
              <a:gd name="connsiteY41" fmla="*/ 1433 h 10000"/>
              <a:gd name="connsiteX42" fmla="*/ 1105 w 10000"/>
              <a:gd name="connsiteY42" fmla="*/ 1210 h 10000"/>
              <a:gd name="connsiteX43" fmla="*/ 883 w 10000"/>
              <a:gd name="connsiteY43" fmla="*/ 995 h 10000"/>
              <a:gd name="connsiteX44" fmla="*/ 686 w 10000"/>
              <a:gd name="connsiteY44" fmla="*/ 793 h 10000"/>
              <a:gd name="connsiteX45" fmla="*/ 508 w 10000"/>
              <a:gd name="connsiteY45" fmla="*/ 602 h 10000"/>
              <a:gd name="connsiteX46" fmla="*/ 358 w 10000"/>
              <a:gd name="connsiteY46" fmla="*/ 443 h 10000"/>
              <a:gd name="connsiteX47" fmla="*/ 232 w 10000"/>
              <a:gd name="connsiteY47" fmla="*/ 292 h 10000"/>
              <a:gd name="connsiteX48" fmla="*/ 59 w 10000"/>
              <a:gd name="connsiteY48" fmla="*/ 74 h 10000"/>
              <a:gd name="connsiteX49" fmla="*/ 0 w 10000"/>
              <a:gd name="connsiteY49" fmla="*/ 0 h 10000"/>
              <a:gd name="connsiteX50" fmla="*/ 0 w 10000"/>
              <a:gd name="connsiteY50" fmla="*/ 0 h 10000"/>
              <a:gd name="connsiteX0" fmla="*/ 0 w 10000"/>
              <a:gd name="connsiteY0" fmla="*/ 0 h 7955"/>
              <a:gd name="connsiteX1" fmla="*/ 32 w 10000"/>
              <a:gd name="connsiteY1" fmla="*/ 7955 h 7955"/>
              <a:gd name="connsiteX2" fmla="*/ 9953 w 10000"/>
              <a:gd name="connsiteY2" fmla="*/ 1370 h 7955"/>
              <a:gd name="connsiteX3" fmla="*/ 10000 w 10000"/>
              <a:gd name="connsiteY3" fmla="*/ 15 h 7955"/>
              <a:gd name="connsiteX4" fmla="*/ 10000 w 10000"/>
              <a:gd name="connsiteY4" fmla="*/ 15 h 7955"/>
              <a:gd name="connsiteX5" fmla="*/ 9773 w 10000"/>
              <a:gd name="connsiteY5" fmla="*/ 329 h 7955"/>
              <a:gd name="connsiteX6" fmla="*/ 9547 w 10000"/>
              <a:gd name="connsiteY6" fmla="*/ 627 h 7955"/>
              <a:gd name="connsiteX7" fmla="*/ 9320 w 10000"/>
              <a:gd name="connsiteY7" fmla="*/ 919 h 7955"/>
              <a:gd name="connsiteX8" fmla="*/ 9092 w 10000"/>
              <a:gd name="connsiteY8" fmla="*/ 1171 h 7955"/>
              <a:gd name="connsiteX9" fmla="*/ 8865 w 10000"/>
              <a:gd name="connsiteY9" fmla="*/ 1423 h 7955"/>
              <a:gd name="connsiteX10" fmla="*/ 8637 w 10000"/>
              <a:gd name="connsiteY10" fmla="*/ 1659 h 7955"/>
              <a:gd name="connsiteX11" fmla="*/ 8412 w 10000"/>
              <a:gd name="connsiteY11" fmla="*/ 1860 h 7955"/>
              <a:gd name="connsiteX12" fmla="*/ 8184 w 10000"/>
              <a:gd name="connsiteY12" fmla="*/ 2053 h 7955"/>
              <a:gd name="connsiteX13" fmla="*/ 7957 w 10000"/>
              <a:gd name="connsiteY13" fmla="*/ 2228 h 7955"/>
              <a:gd name="connsiteX14" fmla="*/ 7734 w 10000"/>
              <a:gd name="connsiteY14" fmla="*/ 2379 h 7955"/>
              <a:gd name="connsiteX15" fmla="*/ 7508 w 10000"/>
              <a:gd name="connsiteY15" fmla="*/ 2531 h 7955"/>
              <a:gd name="connsiteX16" fmla="*/ 7285 w 10000"/>
              <a:gd name="connsiteY16" fmla="*/ 2657 h 7955"/>
              <a:gd name="connsiteX17" fmla="*/ 7062 w 10000"/>
              <a:gd name="connsiteY17" fmla="*/ 2755 h 7955"/>
              <a:gd name="connsiteX18" fmla="*/ 6840 w 10000"/>
              <a:gd name="connsiteY18" fmla="*/ 2859 h 7955"/>
              <a:gd name="connsiteX19" fmla="*/ 6620 w 10000"/>
              <a:gd name="connsiteY19" fmla="*/ 2944 h 7955"/>
              <a:gd name="connsiteX20" fmla="*/ 6402 w 10000"/>
              <a:gd name="connsiteY20" fmla="*/ 3006 h 7955"/>
              <a:gd name="connsiteX21" fmla="*/ 6184 w 10000"/>
              <a:gd name="connsiteY21" fmla="*/ 3058 h 7955"/>
              <a:gd name="connsiteX22" fmla="*/ 5968 w 10000"/>
              <a:gd name="connsiteY22" fmla="*/ 3109 h 7955"/>
              <a:gd name="connsiteX23" fmla="*/ 5755 w 10000"/>
              <a:gd name="connsiteY23" fmla="*/ 3132 h 7955"/>
              <a:gd name="connsiteX24" fmla="*/ 5542 w 10000"/>
              <a:gd name="connsiteY24" fmla="*/ 3157 h 7955"/>
              <a:gd name="connsiteX25" fmla="*/ 5332 w 10000"/>
              <a:gd name="connsiteY25" fmla="*/ 3171 h 7955"/>
              <a:gd name="connsiteX26" fmla="*/ 5124 w 10000"/>
              <a:gd name="connsiteY26" fmla="*/ 3157 h 7955"/>
              <a:gd name="connsiteX27" fmla="*/ 4918 w 10000"/>
              <a:gd name="connsiteY27" fmla="*/ 3157 h 7955"/>
              <a:gd name="connsiteX28" fmla="*/ 4714 w 10000"/>
              <a:gd name="connsiteY28" fmla="*/ 3132 h 7955"/>
              <a:gd name="connsiteX29" fmla="*/ 4514 w 10000"/>
              <a:gd name="connsiteY29" fmla="*/ 3095 h 7955"/>
              <a:gd name="connsiteX30" fmla="*/ 4316 w 10000"/>
              <a:gd name="connsiteY30" fmla="*/ 3058 h 7955"/>
              <a:gd name="connsiteX31" fmla="*/ 4122 w 10000"/>
              <a:gd name="connsiteY31" fmla="*/ 3020 h 7955"/>
              <a:gd name="connsiteX32" fmla="*/ 3929 w 10000"/>
              <a:gd name="connsiteY32" fmla="*/ 2958 h 7955"/>
              <a:gd name="connsiteX33" fmla="*/ 3739 w 10000"/>
              <a:gd name="connsiteY33" fmla="*/ 2892 h 7955"/>
              <a:gd name="connsiteX34" fmla="*/ 3553 w 10000"/>
              <a:gd name="connsiteY34" fmla="*/ 2833 h 7955"/>
              <a:gd name="connsiteX35" fmla="*/ 3190 w 10000"/>
              <a:gd name="connsiteY35" fmla="*/ 2667 h 7955"/>
              <a:gd name="connsiteX36" fmla="*/ 2842 w 10000"/>
              <a:gd name="connsiteY36" fmla="*/ 2490 h 7955"/>
              <a:gd name="connsiteX37" fmla="*/ 2508 w 10000"/>
              <a:gd name="connsiteY37" fmla="*/ 2305 h 7955"/>
              <a:gd name="connsiteX38" fmla="*/ 2192 w 10000"/>
              <a:gd name="connsiteY38" fmla="*/ 2102 h 7955"/>
              <a:gd name="connsiteX39" fmla="*/ 1890 w 10000"/>
              <a:gd name="connsiteY39" fmla="*/ 1887 h 7955"/>
              <a:gd name="connsiteX40" fmla="*/ 1610 w 10000"/>
              <a:gd name="connsiteY40" fmla="*/ 1659 h 7955"/>
              <a:gd name="connsiteX41" fmla="*/ 1347 w 10000"/>
              <a:gd name="connsiteY41" fmla="*/ 1433 h 7955"/>
              <a:gd name="connsiteX42" fmla="*/ 1105 w 10000"/>
              <a:gd name="connsiteY42" fmla="*/ 1210 h 7955"/>
              <a:gd name="connsiteX43" fmla="*/ 883 w 10000"/>
              <a:gd name="connsiteY43" fmla="*/ 995 h 7955"/>
              <a:gd name="connsiteX44" fmla="*/ 686 w 10000"/>
              <a:gd name="connsiteY44" fmla="*/ 793 h 7955"/>
              <a:gd name="connsiteX45" fmla="*/ 508 w 10000"/>
              <a:gd name="connsiteY45" fmla="*/ 602 h 7955"/>
              <a:gd name="connsiteX46" fmla="*/ 358 w 10000"/>
              <a:gd name="connsiteY46" fmla="*/ 443 h 7955"/>
              <a:gd name="connsiteX47" fmla="*/ 232 w 10000"/>
              <a:gd name="connsiteY47" fmla="*/ 292 h 7955"/>
              <a:gd name="connsiteX48" fmla="*/ 59 w 10000"/>
              <a:gd name="connsiteY48" fmla="*/ 74 h 7955"/>
              <a:gd name="connsiteX49" fmla="*/ 0 w 10000"/>
              <a:gd name="connsiteY49" fmla="*/ 0 h 7955"/>
              <a:gd name="connsiteX50" fmla="*/ 0 w 10000"/>
              <a:gd name="connsiteY50" fmla="*/ 0 h 7955"/>
              <a:gd name="connsiteX0" fmla="*/ 0 w 10000"/>
              <a:gd name="connsiteY0" fmla="*/ 0 h 10000"/>
              <a:gd name="connsiteX1" fmla="*/ 32 w 10000"/>
              <a:gd name="connsiteY1" fmla="*/ 10000 h 10000"/>
              <a:gd name="connsiteX2" fmla="*/ 5409 w 10000"/>
              <a:gd name="connsiteY2" fmla="*/ 5405 h 10000"/>
              <a:gd name="connsiteX3" fmla="*/ 9953 w 10000"/>
              <a:gd name="connsiteY3" fmla="*/ 1722 h 10000"/>
              <a:gd name="connsiteX4" fmla="*/ 10000 w 10000"/>
              <a:gd name="connsiteY4" fmla="*/ 19 h 10000"/>
              <a:gd name="connsiteX5" fmla="*/ 10000 w 10000"/>
              <a:gd name="connsiteY5" fmla="*/ 19 h 10000"/>
              <a:gd name="connsiteX6" fmla="*/ 9773 w 10000"/>
              <a:gd name="connsiteY6" fmla="*/ 414 h 10000"/>
              <a:gd name="connsiteX7" fmla="*/ 9547 w 10000"/>
              <a:gd name="connsiteY7" fmla="*/ 788 h 10000"/>
              <a:gd name="connsiteX8" fmla="*/ 9320 w 10000"/>
              <a:gd name="connsiteY8" fmla="*/ 1155 h 10000"/>
              <a:gd name="connsiteX9" fmla="*/ 9092 w 10000"/>
              <a:gd name="connsiteY9" fmla="*/ 1472 h 10000"/>
              <a:gd name="connsiteX10" fmla="*/ 8865 w 10000"/>
              <a:gd name="connsiteY10" fmla="*/ 1789 h 10000"/>
              <a:gd name="connsiteX11" fmla="*/ 8637 w 10000"/>
              <a:gd name="connsiteY11" fmla="*/ 2085 h 10000"/>
              <a:gd name="connsiteX12" fmla="*/ 8412 w 10000"/>
              <a:gd name="connsiteY12" fmla="*/ 2338 h 10000"/>
              <a:gd name="connsiteX13" fmla="*/ 8184 w 10000"/>
              <a:gd name="connsiteY13" fmla="*/ 2581 h 10000"/>
              <a:gd name="connsiteX14" fmla="*/ 7957 w 10000"/>
              <a:gd name="connsiteY14" fmla="*/ 2801 h 10000"/>
              <a:gd name="connsiteX15" fmla="*/ 7734 w 10000"/>
              <a:gd name="connsiteY15" fmla="*/ 2991 h 10000"/>
              <a:gd name="connsiteX16" fmla="*/ 7508 w 10000"/>
              <a:gd name="connsiteY16" fmla="*/ 3182 h 10000"/>
              <a:gd name="connsiteX17" fmla="*/ 7285 w 10000"/>
              <a:gd name="connsiteY17" fmla="*/ 3340 h 10000"/>
              <a:gd name="connsiteX18" fmla="*/ 7062 w 10000"/>
              <a:gd name="connsiteY18" fmla="*/ 3463 h 10000"/>
              <a:gd name="connsiteX19" fmla="*/ 6840 w 10000"/>
              <a:gd name="connsiteY19" fmla="*/ 3594 h 10000"/>
              <a:gd name="connsiteX20" fmla="*/ 6620 w 10000"/>
              <a:gd name="connsiteY20" fmla="*/ 3701 h 10000"/>
              <a:gd name="connsiteX21" fmla="*/ 6402 w 10000"/>
              <a:gd name="connsiteY21" fmla="*/ 3779 h 10000"/>
              <a:gd name="connsiteX22" fmla="*/ 6184 w 10000"/>
              <a:gd name="connsiteY22" fmla="*/ 3844 h 10000"/>
              <a:gd name="connsiteX23" fmla="*/ 5968 w 10000"/>
              <a:gd name="connsiteY23" fmla="*/ 3908 h 10000"/>
              <a:gd name="connsiteX24" fmla="*/ 5755 w 10000"/>
              <a:gd name="connsiteY24" fmla="*/ 3937 h 10000"/>
              <a:gd name="connsiteX25" fmla="*/ 5542 w 10000"/>
              <a:gd name="connsiteY25" fmla="*/ 3969 h 10000"/>
              <a:gd name="connsiteX26" fmla="*/ 5332 w 10000"/>
              <a:gd name="connsiteY26" fmla="*/ 3986 h 10000"/>
              <a:gd name="connsiteX27" fmla="*/ 5124 w 10000"/>
              <a:gd name="connsiteY27" fmla="*/ 3969 h 10000"/>
              <a:gd name="connsiteX28" fmla="*/ 4918 w 10000"/>
              <a:gd name="connsiteY28" fmla="*/ 3969 h 10000"/>
              <a:gd name="connsiteX29" fmla="*/ 4714 w 10000"/>
              <a:gd name="connsiteY29" fmla="*/ 3937 h 10000"/>
              <a:gd name="connsiteX30" fmla="*/ 4514 w 10000"/>
              <a:gd name="connsiteY30" fmla="*/ 3891 h 10000"/>
              <a:gd name="connsiteX31" fmla="*/ 4316 w 10000"/>
              <a:gd name="connsiteY31" fmla="*/ 3844 h 10000"/>
              <a:gd name="connsiteX32" fmla="*/ 4122 w 10000"/>
              <a:gd name="connsiteY32" fmla="*/ 3796 h 10000"/>
              <a:gd name="connsiteX33" fmla="*/ 3929 w 10000"/>
              <a:gd name="connsiteY33" fmla="*/ 3718 h 10000"/>
              <a:gd name="connsiteX34" fmla="*/ 3739 w 10000"/>
              <a:gd name="connsiteY34" fmla="*/ 3635 h 10000"/>
              <a:gd name="connsiteX35" fmla="*/ 3553 w 10000"/>
              <a:gd name="connsiteY35" fmla="*/ 3561 h 10000"/>
              <a:gd name="connsiteX36" fmla="*/ 3190 w 10000"/>
              <a:gd name="connsiteY36" fmla="*/ 3353 h 10000"/>
              <a:gd name="connsiteX37" fmla="*/ 2842 w 10000"/>
              <a:gd name="connsiteY37" fmla="*/ 3130 h 10000"/>
              <a:gd name="connsiteX38" fmla="*/ 2508 w 10000"/>
              <a:gd name="connsiteY38" fmla="*/ 2898 h 10000"/>
              <a:gd name="connsiteX39" fmla="*/ 2192 w 10000"/>
              <a:gd name="connsiteY39" fmla="*/ 2642 h 10000"/>
              <a:gd name="connsiteX40" fmla="*/ 1890 w 10000"/>
              <a:gd name="connsiteY40" fmla="*/ 2372 h 10000"/>
              <a:gd name="connsiteX41" fmla="*/ 1610 w 10000"/>
              <a:gd name="connsiteY41" fmla="*/ 2085 h 10000"/>
              <a:gd name="connsiteX42" fmla="*/ 1347 w 10000"/>
              <a:gd name="connsiteY42" fmla="*/ 1801 h 10000"/>
              <a:gd name="connsiteX43" fmla="*/ 1105 w 10000"/>
              <a:gd name="connsiteY43" fmla="*/ 1521 h 10000"/>
              <a:gd name="connsiteX44" fmla="*/ 883 w 10000"/>
              <a:gd name="connsiteY44" fmla="*/ 1251 h 10000"/>
              <a:gd name="connsiteX45" fmla="*/ 686 w 10000"/>
              <a:gd name="connsiteY45" fmla="*/ 997 h 10000"/>
              <a:gd name="connsiteX46" fmla="*/ 508 w 10000"/>
              <a:gd name="connsiteY46" fmla="*/ 757 h 10000"/>
              <a:gd name="connsiteX47" fmla="*/ 358 w 10000"/>
              <a:gd name="connsiteY47" fmla="*/ 557 h 10000"/>
              <a:gd name="connsiteX48" fmla="*/ 232 w 10000"/>
              <a:gd name="connsiteY48" fmla="*/ 367 h 10000"/>
              <a:gd name="connsiteX49" fmla="*/ 59 w 10000"/>
              <a:gd name="connsiteY49" fmla="*/ 93 h 10000"/>
              <a:gd name="connsiteX50" fmla="*/ 0 w 10000"/>
              <a:gd name="connsiteY50" fmla="*/ 0 h 10000"/>
              <a:gd name="connsiteX51" fmla="*/ 0 w 10000"/>
              <a:gd name="connsiteY51" fmla="*/ 0 h 10000"/>
              <a:gd name="connsiteX0" fmla="*/ 0 w 10000"/>
              <a:gd name="connsiteY0" fmla="*/ 0 h 5405"/>
              <a:gd name="connsiteX1" fmla="*/ 16 w 10000"/>
              <a:gd name="connsiteY1" fmla="*/ 2608 h 5405"/>
              <a:gd name="connsiteX2" fmla="*/ 5409 w 10000"/>
              <a:gd name="connsiteY2" fmla="*/ 5405 h 5405"/>
              <a:gd name="connsiteX3" fmla="*/ 9953 w 10000"/>
              <a:gd name="connsiteY3" fmla="*/ 1722 h 5405"/>
              <a:gd name="connsiteX4" fmla="*/ 10000 w 10000"/>
              <a:gd name="connsiteY4" fmla="*/ 19 h 5405"/>
              <a:gd name="connsiteX5" fmla="*/ 10000 w 10000"/>
              <a:gd name="connsiteY5" fmla="*/ 19 h 5405"/>
              <a:gd name="connsiteX6" fmla="*/ 9773 w 10000"/>
              <a:gd name="connsiteY6" fmla="*/ 414 h 5405"/>
              <a:gd name="connsiteX7" fmla="*/ 9547 w 10000"/>
              <a:gd name="connsiteY7" fmla="*/ 788 h 5405"/>
              <a:gd name="connsiteX8" fmla="*/ 9320 w 10000"/>
              <a:gd name="connsiteY8" fmla="*/ 1155 h 5405"/>
              <a:gd name="connsiteX9" fmla="*/ 9092 w 10000"/>
              <a:gd name="connsiteY9" fmla="*/ 1472 h 5405"/>
              <a:gd name="connsiteX10" fmla="*/ 8865 w 10000"/>
              <a:gd name="connsiteY10" fmla="*/ 1789 h 5405"/>
              <a:gd name="connsiteX11" fmla="*/ 8637 w 10000"/>
              <a:gd name="connsiteY11" fmla="*/ 2085 h 5405"/>
              <a:gd name="connsiteX12" fmla="*/ 8412 w 10000"/>
              <a:gd name="connsiteY12" fmla="*/ 2338 h 5405"/>
              <a:gd name="connsiteX13" fmla="*/ 8184 w 10000"/>
              <a:gd name="connsiteY13" fmla="*/ 2581 h 5405"/>
              <a:gd name="connsiteX14" fmla="*/ 7957 w 10000"/>
              <a:gd name="connsiteY14" fmla="*/ 2801 h 5405"/>
              <a:gd name="connsiteX15" fmla="*/ 7734 w 10000"/>
              <a:gd name="connsiteY15" fmla="*/ 2991 h 5405"/>
              <a:gd name="connsiteX16" fmla="*/ 7508 w 10000"/>
              <a:gd name="connsiteY16" fmla="*/ 3182 h 5405"/>
              <a:gd name="connsiteX17" fmla="*/ 7285 w 10000"/>
              <a:gd name="connsiteY17" fmla="*/ 3340 h 5405"/>
              <a:gd name="connsiteX18" fmla="*/ 7062 w 10000"/>
              <a:gd name="connsiteY18" fmla="*/ 3463 h 5405"/>
              <a:gd name="connsiteX19" fmla="*/ 6840 w 10000"/>
              <a:gd name="connsiteY19" fmla="*/ 3594 h 5405"/>
              <a:gd name="connsiteX20" fmla="*/ 6620 w 10000"/>
              <a:gd name="connsiteY20" fmla="*/ 3701 h 5405"/>
              <a:gd name="connsiteX21" fmla="*/ 6402 w 10000"/>
              <a:gd name="connsiteY21" fmla="*/ 3779 h 5405"/>
              <a:gd name="connsiteX22" fmla="*/ 6184 w 10000"/>
              <a:gd name="connsiteY22" fmla="*/ 3844 h 5405"/>
              <a:gd name="connsiteX23" fmla="*/ 5968 w 10000"/>
              <a:gd name="connsiteY23" fmla="*/ 3908 h 5405"/>
              <a:gd name="connsiteX24" fmla="*/ 5755 w 10000"/>
              <a:gd name="connsiteY24" fmla="*/ 3937 h 5405"/>
              <a:gd name="connsiteX25" fmla="*/ 5542 w 10000"/>
              <a:gd name="connsiteY25" fmla="*/ 3969 h 5405"/>
              <a:gd name="connsiteX26" fmla="*/ 5332 w 10000"/>
              <a:gd name="connsiteY26" fmla="*/ 3986 h 5405"/>
              <a:gd name="connsiteX27" fmla="*/ 5124 w 10000"/>
              <a:gd name="connsiteY27" fmla="*/ 3969 h 5405"/>
              <a:gd name="connsiteX28" fmla="*/ 4918 w 10000"/>
              <a:gd name="connsiteY28" fmla="*/ 3969 h 5405"/>
              <a:gd name="connsiteX29" fmla="*/ 4714 w 10000"/>
              <a:gd name="connsiteY29" fmla="*/ 3937 h 5405"/>
              <a:gd name="connsiteX30" fmla="*/ 4514 w 10000"/>
              <a:gd name="connsiteY30" fmla="*/ 3891 h 5405"/>
              <a:gd name="connsiteX31" fmla="*/ 4316 w 10000"/>
              <a:gd name="connsiteY31" fmla="*/ 3844 h 5405"/>
              <a:gd name="connsiteX32" fmla="*/ 4122 w 10000"/>
              <a:gd name="connsiteY32" fmla="*/ 3796 h 5405"/>
              <a:gd name="connsiteX33" fmla="*/ 3929 w 10000"/>
              <a:gd name="connsiteY33" fmla="*/ 3718 h 5405"/>
              <a:gd name="connsiteX34" fmla="*/ 3739 w 10000"/>
              <a:gd name="connsiteY34" fmla="*/ 3635 h 5405"/>
              <a:gd name="connsiteX35" fmla="*/ 3553 w 10000"/>
              <a:gd name="connsiteY35" fmla="*/ 3561 h 5405"/>
              <a:gd name="connsiteX36" fmla="*/ 3190 w 10000"/>
              <a:gd name="connsiteY36" fmla="*/ 3353 h 5405"/>
              <a:gd name="connsiteX37" fmla="*/ 2842 w 10000"/>
              <a:gd name="connsiteY37" fmla="*/ 3130 h 5405"/>
              <a:gd name="connsiteX38" fmla="*/ 2508 w 10000"/>
              <a:gd name="connsiteY38" fmla="*/ 2898 h 5405"/>
              <a:gd name="connsiteX39" fmla="*/ 2192 w 10000"/>
              <a:gd name="connsiteY39" fmla="*/ 2642 h 5405"/>
              <a:gd name="connsiteX40" fmla="*/ 1890 w 10000"/>
              <a:gd name="connsiteY40" fmla="*/ 2372 h 5405"/>
              <a:gd name="connsiteX41" fmla="*/ 1610 w 10000"/>
              <a:gd name="connsiteY41" fmla="*/ 2085 h 5405"/>
              <a:gd name="connsiteX42" fmla="*/ 1347 w 10000"/>
              <a:gd name="connsiteY42" fmla="*/ 1801 h 5405"/>
              <a:gd name="connsiteX43" fmla="*/ 1105 w 10000"/>
              <a:gd name="connsiteY43" fmla="*/ 1521 h 5405"/>
              <a:gd name="connsiteX44" fmla="*/ 883 w 10000"/>
              <a:gd name="connsiteY44" fmla="*/ 1251 h 5405"/>
              <a:gd name="connsiteX45" fmla="*/ 686 w 10000"/>
              <a:gd name="connsiteY45" fmla="*/ 997 h 5405"/>
              <a:gd name="connsiteX46" fmla="*/ 508 w 10000"/>
              <a:gd name="connsiteY46" fmla="*/ 757 h 5405"/>
              <a:gd name="connsiteX47" fmla="*/ 358 w 10000"/>
              <a:gd name="connsiteY47" fmla="*/ 557 h 5405"/>
              <a:gd name="connsiteX48" fmla="*/ 232 w 10000"/>
              <a:gd name="connsiteY48" fmla="*/ 367 h 5405"/>
              <a:gd name="connsiteX49" fmla="*/ 59 w 10000"/>
              <a:gd name="connsiteY49" fmla="*/ 93 h 5405"/>
              <a:gd name="connsiteX50" fmla="*/ 0 w 10000"/>
              <a:gd name="connsiteY50" fmla="*/ 0 h 5405"/>
              <a:gd name="connsiteX51" fmla="*/ 0 w 10000"/>
              <a:gd name="connsiteY51" fmla="*/ 0 h 5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0000" h="5405">
                <a:moveTo>
                  <a:pt x="0" y="0"/>
                </a:moveTo>
                <a:cubicBezTo>
                  <a:pt x="5" y="4190"/>
                  <a:pt x="11" y="-1582"/>
                  <a:pt x="16" y="2608"/>
                </a:cubicBezTo>
                <a:lnTo>
                  <a:pt x="5409" y="5405"/>
                </a:lnTo>
                <a:lnTo>
                  <a:pt x="9953" y="1722"/>
                </a:lnTo>
                <a:cubicBezTo>
                  <a:pt x="9969" y="1154"/>
                  <a:pt x="9984" y="587"/>
                  <a:pt x="10000" y="19"/>
                </a:cubicBezTo>
                <a:lnTo>
                  <a:pt x="10000" y="19"/>
                </a:lnTo>
                <a:lnTo>
                  <a:pt x="9773" y="414"/>
                </a:lnTo>
                <a:cubicBezTo>
                  <a:pt x="9698" y="539"/>
                  <a:pt x="9622" y="663"/>
                  <a:pt x="9547" y="788"/>
                </a:cubicBezTo>
                <a:cubicBezTo>
                  <a:pt x="9471" y="910"/>
                  <a:pt x="9396" y="1033"/>
                  <a:pt x="9320" y="1155"/>
                </a:cubicBezTo>
                <a:lnTo>
                  <a:pt x="9092" y="1472"/>
                </a:lnTo>
                <a:lnTo>
                  <a:pt x="8865" y="1789"/>
                </a:lnTo>
                <a:lnTo>
                  <a:pt x="8637" y="2085"/>
                </a:lnTo>
                <a:lnTo>
                  <a:pt x="8412" y="2338"/>
                </a:lnTo>
                <a:lnTo>
                  <a:pt x="8184" y="2581"/>
                </a:lnTo>
                <a:lnTo>
                  <a:pt x="7957" y="2801"/>
                </a:lnTo>
                <a:lnTo>
                  <a:pt x="7734" y="2991"/>
                </a:lnTo>
                <a:lnTo>
                  <a:pt x="7508" y="3182"/>
                </a:lnTo>
                <a:lnTo>
                  <a:pt x="7285" y="3340"/>
                </a:lnTo>
                <a:lnTo>
                  <a:pt x="7062" y="3463"/>
                </a:lnTo>
                <a:lnTo>
                  <a:pt x="6840" y="3594"/>
                </a:lnTo>
                <a:lnTo>
                  <a:pt x="6620" y="3701"/>
                </a:lnTo>
                <a:lnTo>
                  <a:pt x="6402" y="3779"/>
                </a:lnTo>
                <a:lnTo>
                  <a:pt x="6184" y="3844"/>
                </a:lnTo>
                <a:lnTo>
                  <a:pt x="5968" y="3908"/>
                </a:lnTo>
                <a:lnTo>
                  <a:pt x="5755" y="3937"/>
                </a:lnTo>
                <a:lnTo>
                  <a:pt x="5542" y="3969"/>
                </a:lnTo>
                <a:lnTo>
                  <a:pt x="5332" y="3986"/>
                </a:lnTo>
                <a:lnTo>
                  <a:pt x="5124" y="3969"/>
                </a:lnTo>
                <a:lnTo>
                  <a:pt x="4918" y="3969"/>
                </a:lnTo>
                <a:lnTo>
                  <a:pt x="4714" y="3937"/>
                </a:lnTo>
                <a:lnTo>
                  <a:pt x="4514" y="3891"/>
                </a:lnTo>
                <a:lnTo>
                  <a:pt x="4316" y="3844"/>
                </a:lnTo>
                <a:lnTo>
                  <a:pt x="4122" y="3796"/>
                </a:lnTo>
                <a:lnTo>
                  <a:pt x="3929" y="3718"/>
                </a:lnTo>
                <a:lnTo>
                  <a:pt x="3739" y="3635"/>
                </a:lnTo>
                <a:lnTo>
                  <a:pt x="3553" y="3561"/>
                </a:lnTo>
                <a:lnTo>
                  <a:pt x="3190" y="3353"/>
                </a:lnTo>
                <a:lnTo>
                  <a:pt x="2842" y="3130"/>
                </a:lnTo>
                <a:lnTo>
                  <a:pt x="2508" y="2898"/>
                </a:lnTo>
                <a:lnTo>
                  <a:pt x="2192" y="2642"/>
                </a:lnTo>
                <a:lnTo>
                  <a:pt x="1890" y="2372"/>
                </a:lnTo>
                <a:lnTo>
                  <a:pt x="1610" y="2085"/>
                </a:lnTo>
                <a:lnTo>
                  <a:pt x="1347" y="1801"/>
                </a:lnTo>
                <a:lnTo>
                  <a:pt x="1105" y="1521"/>
                </a:lnTo>
                <a:lnTo>
                  <a:pt x="883" y="1251"/>
                </a:lnTo>
                <a:cubicBezTo>
                  <a:pt x="817" y="1167"/>
                  <a:pt x="752" y="1081"/>
                  <a:pt x="686" y="997"/>
                </a:cubicBezTo>
                <a:cubicBezTo>
                  <a:pt x="627" y="916"/>
                  <a:pt x="567" y="837"/>
                  <a:pt x="508" y="757"/>
                </a:cubicBezTo>
                <a:lnTo>
                  <a:pt x="358" y="557"/>
                </a:lnTo>
                <a:lnTo>
                  <a:pt x="232" y="367"/>
                </a:lnTo>
                <a:cubicBezTo>
                  <a:pt x="174" y="277"/>
                  <a:pt x="117" y="184"/>
                  <a:pt x="59" y="93"/>
                </a:cubicBezTo>
                <a:cubicBezTo>
                  <a:pt x="39" y="62"/>
                  <a:pt x="20" y="31"/>
                  <a:pt x="0" y="0"/>
                </a:cubicBezTo>
                <a:lnTo>
                  <a:pt x="0" y="0"/>
                </a:lnTo>
                <a:close/>
              </a:path>
            </a:pathLst>
          </a:custGeom>
          <a:solidFill>
            <a:schemeClr val="bg1"/>
          </a:solidFill>
          <a:ln>
            <a:noFill/>
          </a:ln>
        </p:spPr>
        <p:txBody>
          <a:bodyPr/>
          <a:lstStyle/>
          <a:p>
            <a:endParaRPr lang="en-IN"/>
          </a:p>
        </p:txBody>
      </p:sp>
      <p:sp>
        <p:nvSpPr>
          <p:cNvPr id="31" name="Freeform 5">
            <a:extLst>
              <a:ext uri="{FF2B5EF4-FFF2-40B4-BE49-F238E27FC236}">
                <a16:creationId xmlns:a16="http://schemas.microsoft.com/office/drawing/2014/main" id="{2F7C1910-61FC-214E-B19D-2354E571E6B1}"/>
              </a:ext>
            </a:extLst>
          </p:cNvPr>
          <p:cNvSpPr/>
          <p:nvPr userDrawn="1"/>
        </p:nvSpPr>
        <p:spPr bwMode="gray">
          <a:xfrm rot="15922489">
            <a:off x="515259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IN"/>
          </a:p>
        </p:txBody>
      </p:sp>
    </p:spTree>
    <p:extLst>
      <p:ext uri="{BB962C8B-B14F-4D97-AF65-F5344CB8AC3E}">
        <p14:creationId xmlns:p14="http://schemas.microsoft.com/office/powerpoint/2010/main" val="3585125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7" name="Content Placeholder 2"/>
          <p:cNvSpPr>
            <a:spLocks noGrp="1"/>
          </p:cNvSpPr>
          <p:nvPr>
            <p:ph idx="13" hasCustomPrompt="1"/>
          </p:nvPr>
        </p:nvSpPr>
        <p:spPr>
          <a:xfrm>
            <a:off x="1294149" y="685802"/>
            <a:ext cx="10289680" cy="138157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98FE9A-2755-1B49-9094-02250BA934CE}" type="datetime1">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1473-23EB-4724-8B59-FE6D21D89FA4}" type="slidenum">
              <a:rPr lang="en-US" smtClean="0"/>
              <a:t>‹#›</a:t>
            </a:fld>
            <a:endParaRPr lang="en-US"/>
          </a:p>
        </p:txBody>
      </p:sp>
    </p:spTree>
    <p:extLst>
      <p:ext uri="{BB962C8B-B14F-4D97-AF65-F5344CB8AC3E}">
        <p14:creationId xmlns:p14="http://schemas.microsoft.com/office/powerpoint/2010/main" val="282023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0F20CFB-DA38-4B74-8407-53A35B395697}"/>
              </a:ext>
            </a:extLst>
          </p:cNvPr>
          <p:cNvSpPr>
            <a:spLocks noGrp="1"/>
          </p:cNvSpPr>
          <p:nvPr>
            <p:ph type="body" sz="half" idx="2" hasCustomPrompt="1"/>
          </p:nvPr>
        </p:nvSpPr>
        <p:spPr>
          <a:xfrm>
            <a:off x="508002" y="1178428"/>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Roboto" pitchFamily="2" charset="0"/>
                <a:ea typeface="Roboto" panose="02000000000000000000" pitchFamily="2" charset="0"/>
              </a:defRPr>
            </a:lvl1pPr>
            <a:lvl2pPr marL="609600" indent="0">
              <a:buNone/>
              <a:defRPr sz="1600"/>
            </a:lvl2pPr>
            <a:lvl3pPr marL="1219200" indent="0">
              <a:buNone/>
              <a:defRPr sz="1333"/>
            </a:lvl3pPr>
            <a:lvl4pPr marL="1828801" indent="0">
              <a:buNone/>
              <a:defRPr sz="1200"/>
            </a:lvl4pPr>
            <a:lvl5pPr marL="2438400" indent="0">
              <a:buNone/>
              <a:defRPr sz="1200"/>
            </a:lvl5pPr>
            <a:lvl6pPr marL="3048000" indent="0">
              <a:buNone/>
              <a:defRPr sz="1200"/>
            </a:lvl6pPr>
            <a:lvl7pPr marL="3657600" indent="0">
              <a:buNone/>
              <a:defRPr sz="1200"/>
            </a:lvl7pPr>
            <a:lvl8pPr marL="4267201" indent="0">
              <a:buNone/>
              <a:defRPr sz="1200"/>
            </a:lvl8pPr>
            <a:lvl9pPr marL="4876801" indent="0">
              <a:buNone/>
              <a:defRPr sz="1200"/>
            </a:lvl9pPr>
          </a:lstStyle>
          <a:p>
            <a:pPr lvl="0"/>
            <a:r>
              <a:rPr lang="en-US"/>
              <a:t>CLICK TO EDITE SUBTITLE</a:t>
            </a:r>
          </a:p>
        </p:txBody>
      </p:sp>
      <p:sp>
        <p:nvSpPr>
          <p:cNvPr id="8" name="Title 2">
            <a:extLst>
              <a:ext uri="{FF2B5EF4-FFF2-40B4-BE49-F238E27FC236}">
                <a16:creationId xmlns:a16="http://schemas.microsoft.com/office/drawing/2014/main" id="{5872A53B-FD84-4867-BC11-F7CCE4E02DCF}"/>
              </a:ext>
            </a:extLst>
          </p:cNvPr>
          <p:cNvSpPr>
            <a:spLocks noGrp="1"/>
          </p:cNvSpPr>
          <p:nvPr>
            <p:ph type="title"/>
          </p:nvPr>
        </p:nvSpPr>
        <p:spPr>
          <a:xfrm>
            <a:off x="508002" y="455086"/>
            <a:ext cx="11157817" cy="660511"/>
          </a:xfrm>
          <a:prstGeom prst="rect">
            <a:avLst/>
          </a:prstGeom>
        </p:spPr>
        <p:txBody>
          <a:bodyPr lIns="0" tIns="0" rIns="0" bIns="0" anchor="ctr"/>
          <a:lstStyle>
            <a:lvl1pPr algn="ctr">
              <a:defRPr sz="4800">
                <a:solidFill>
                  <a:schemeClr val="bg1">
                    <a:lumMod val="50000"/>
                  </a:schemeClr>
                </a:solidFill>
                <a:latin typeface="Roboto" pitchFamily="2" charset="0"/>
                <a:ea typeface="Roboto" pitchFamily="2" charset="0"/>
              </a:defRPr>
            </a:lvl1pPr>
          </a:lstStyle>
          <a:p>
            <a:r>
              <a:rPr lang="en-US"/>
              <a:t>Click to edit Master title style</a:t>
            </a:r>
          </a:p>
        </p:txBody>
      </p:sp>
    </p:spTree>
    <p:extLst>
      <p:ext uri="{BB962C8B-B14F-4D97-AF65-F5344CB8AC3E}">
        <p14:creationId xmlns:p14="http://schemas.microsoft.com/office/powerpoint/2010/main" val="578080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977661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graySidebar">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D426E116-0FE3-D446-B568-6373B436AD1A}"/>
              </a:ext>
            </a:extLst>
          </p:cNvPr>
          <p:cNvSpPr>
            <a:spLocks noGrp="1"/>
          </p:cNvSpPr>
          <p:nvPr>
            <p:ph type="body" sz="quarter" idx="11"/>
          </p:nvPr>
        </p:nvSpPr>
        <p:spPr>
          <a:xfrm>
            <a:off x="374040" y="1648758"/>
            <a:ext cx="5686246" cy="456696"/>
          </a:xfrm>
          <a:prstGeom prst="rect">
            <a:avLst/>
          </a:prstGeom>
        </p:spPr>
        <p:txBody>
          <a:bodyPr lIns="0" tIns="0" rIns="0" bIns="0">
            <a:noAutofit/>
          </a:bodyPr>
          <a:lstStyle>
            <a:lvl1pPr marL="0" indent="0">
              <a:lnSpc>
                <a:spcPct val="110000"/>
              </a:lnSpc>
              <a:buNone/>
              <a:defRPr sz="2000" b="0" i="0">
                <a:solidFill>
                  <a:srgbClr val="848585"/>
                </a:solidFill>
                <a:latin typeface="Montserrat SemiBold" pitchFamily="2" charset="77"/>
                <a:cs typeface="Arial" panose="020B0604020202020204" pitchFamily="34" charset="0"/>
              </a:defRPr>
            </a:lvl1pPr>
            <a:lvl2pPr marL="457177" indent="0">
              <a:lnSpc>
                <a:spcPts val="2400"/>
              </a:lnSpc>
              <a:buNone/>
              <a:defRPr sz="2000">
                <a:solidFill>
                  <a:srgbClr val="848585"/>
                </a:solidFill>
                <a:latin typeface="Arial" panose="020B0604020202020204" pitchFamily="34" charset="0"/>
                <a:cs typeface="Arial" panose="020B0604020202020204" pitchFamily="34" charset="0"/>
              </a:defRPr>
            </a:lvl2pPr>
            <a:lvl3pPr marL="914355" indent="0">
              <a:lnSpc>
                <a:spcPts val="2400"/>
              </a:lnSpc>
              <a:buNone/>
              <a:defRPr sz="2000">
                <a:solidFill>
                  <a:srgbClr val="848585"/>
                </a:solidFill>
                <a:latin typeface="Arial" panose="020B0604020202020204" pitchFamily="34" charset="0"/>
                <a:cs typeface="Arial" panose="020B0604020202020204" pitchFamily="34" charset="0"/>
              </a:defRPr>
            </a:lvl3pPr>
            <a:lvl4pPr marL="1371532" indent="0">
              <a:lnSpc>
                <a:spcPts val="2400"/>
              </a:lnSpc>
              <a:buNone/>
              <a:defRPr sz="2000">
                <a:solidFill>
                  <a:srgbClr val="848585"/>
                </a:solidFill>
                <a:latin typeface="Arial" panose="020B0604020202020204" pitchFamily="34" charset="0"/>
                <a:cs typeface="Arial" panose="020B0604020202020204" pitchFamily="34" charset="0"/>
              </a:defRPr>
            </a:lvl4pPr>
            <a:lvl5pPr marL="1828709"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7" name="Text Placeholder 17">
            <a:extLst>
              <a:ext uri="{FF2B5EF4-FFF2-40B4-BE49-F238E27FC236}">
                <a16:creationId xmlns:a16="http://schemas.microsoft.com/office/drawing/2014/main" id="{BC346A8C-5C1D-114F-94D6-BBB1ED290669}"/>
              </a:ext>
            </a:extLst>
          </p:cNvPr>
          <p:cNvSpPr>
            <a:spLocks noGrp="1"/>
          </p:cNvSpPr>
          <p:nvPr>
            <p:ph type="body" sz="quarter" idx="13"/>
          </p:nvPr>
        </p:nvSpPr>
        <p:spPr>
          <a:xfrm>
            <a:off x="383808" y="2035250"/>
            <a:ext cx="5676478" cy="473616"/>
          </a:xfrm>
          <a:prstGeom prst="rect">
            <a:avLst/>
          </a:prstGeom>
        </p:spPr>
        <p:txBody>
          <a:bodyPr lIns="0" tIns="0" rIns="0" bIns="0">
            <a:noAutofit/>
          </a:bodyPr>
          <a:lstStyle>
            <a:lvl1pPr marL="0" indent="0">
              <a:lnSpc>
                <a:spcPct val="110000"/>
              </a:lnSpc>
              <a:buNone/>
              <a:defRPr sz="1600" b="0" i="0">
                <a:solidFill>
                  <a:srgbClr val="2576B7"/>
                </a:solidFill>
                <a:latin typeface="Exo" panose="02000503000000000000" pitchFamily="2" charset="77"/>
                <a:cs typeface="Arial" panose="020B0604020202020204" pitchFamily="34" charset="0"/>
              </a:defRPr>
            </a:lvl1pPr>
            <a:lvl2pPr marL="457177" indent="0">
              <a:lnSpc>
                <a:spcPts val="1400"/>
              </a:lnSpc>
              <a:buNone/>
              <a:defRPr sz="1400">
                <a:solidFill>
                  <a:srgbClr val="2576B7"/>
                </a:solidFill>
                <a:latin typeface="Arial" panose="020B0604020202020204" pitchFamily="34" charset="0"/>
                <a:cs typeface="Arial" panose="020B0604020202020204" pitchFamily="34" charset="0"/>
              </a:defRPr>
            </a:lvl2pPr>
            <a:lvl3pPr marL="914355" indent="0">
              <a:lnSpc>
                <a:spcPts val="1400"/>
              </a:lnSpc>
              <a:buNone/>
              <a:defRPr sz="1400">
                <a:solidFill>
                  <a:srgbClr val="2576B7"/>
                </a:solidFill>
                <a:latin typeface="Arial" panose="020B0604020202020204" pitchFamily="34" charset="0"/>
                <a:cs typeface="Arial" panose="020B0604020202020204" pitchFamily="34" charset="0"/>
              </a:defRPr>
            </a:lvl3pPr>
            <a:lvl4pPr marL="1371532" indent="0">
              <a:lnSpc>
                <a:spcPts val="1400"/>
              </a:lnSpc>
              <a:buNone/>
              <a:defRPr sz="1400">
                <a:solidFill>
                  <a:srgbClr val="2576B7"/>
                </a:solidFill>
                <a:latin typeface="Arial" panose="020B0604020202020204" pitchFamily="34" charset="0"/>
                <a:cs typeface="Arial" panose="020B0604020202020204" pitchFamily="34" charset="0"/>
              </a:defRPr>
            </a:lvl4pPr>
            <a:lvl5pPr marL="1828709"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2" name="Title 9">
            <a:extLst>
              <a:ext uri="{FF2B5EF4-FFF2-40B4-BE49-F238E27FC236}">
                <a16:creationId xmlns:a16="http://schemas.microsoft.com/office/drawing/2014/main" id="{488EE5B4-C583-A04D-B5FC-EA23A0B46B36}"/>
              </a:ext>
            </a:extLst>
          </p:cNvPr>
          <p:cNvSpPr>
            <a:spLocks noGrp="1"/>
          </p:cNvSpPr>
          <p:nvPr>
            <p:ph type="title"/>
          </p:nvPr>
        </p:nvSpPr>
        <p:spPr>
          <a:xfrm>
            <a:off x="354060" y="530021"/>
            <a:ext cx="4966394" cy="1130188"/>
          </a:xfrm>
        </p:spPr>
        <p:txBody>
          <a:bodyPr>
            <a:noAutofit/>
          </a:bodyPr>
          <a:lstStyle>
            <a:lvl1pPr>
              <a:lnSpc>
                <a:spcPct val="90000"/>
              </a:lnSpc>
              <a:defRPr b="0" i="0"/>
            </a:lvl1pPr>
          </a:lstStyle>
          <a:p>
            <a:r>
              <a:rPr lang="en-US"/>
              <a:t>Click to edit Master title style</a:t>
            </a:r>
          </a:p>
        </p:txBody>
      </p:sp>
      <p:sp>
        <p:nvSpPr>
          <p:cNvPr id="8" name="Text Placeholder 4">
            <a:extLst>
              <a:ext uri="{FF2B5EF4-FFF2-40B4-BE49-F238E27FC236}">
                <a16:creationId xmlns:a16="http://schemas.microsoft.com/office/drawing/2014/main" id="{2721BB38-35D8-6041-AE06-91C7C44D942C}"/>
              </a:ext>
            </a:extLst>
          </p:cNvPr>
          <p:cNvSpPr>
            <a:spLocks noGrp="1"/>
          </p:cNvSpPr>
          <p:nvPr>
            <p:ph type="body" sz="quarter" idx="33"/>
          </p:nvPr>
        </p:nvSpPr>
        <p:spPr>
          <a:xfrm>
            <a:off x="371428" y="3125005"/>
            <a:ext cx="6677743" cy="1444156"/>
          </a:xfrm>
          <a:prstGeom prst="rect">
            <a:avLst/>
          </a:prstGeom>
        </p:spPr>
        <p:txBody>
          <a:bodyPr lIns="0" tIns="0" rIns="0" bIns="0" numCol="1" spcCol="292608"/>
          <a:lstStyle>
            <a:lvl1pPr marL="179379" indent="-179379">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19" indent="-171442">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8970" indent="-174617">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323" indent="-177791">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150" indent="-171442">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41095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0F20CFB-DA38-4B74-8407-53A35B395697}"/>
              </a:ext>
            </a:extLst>
          </p:cNvPr>
          <p:cNvSpPr>
            <a:spLocks noGrp="1"/>
          </p:cNvSpPr>
          <p:nvPr>
            <p:ph type="body" sz="half" idx="2" hasCustomPrompt="1"/>
          </p:nvPr>
        </p:nvSpPr>
        <p:spPr>
          <a:xfrm>
            <a:off x="508002" y="1178428"/>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Roboto" pitchFamily="2" charset="0"/>
                <a:ea typeface="Roboto" panose="02000000000000000000" pitchFamily="2" charset="0"/>
              </a:defRPr>
            </a:lvl1pPr>
            <a:lvl2pPr marL="609600" indent="0">
              <a:buNone/>
              <a:defRPr sz="1600"/>
            </a:lvl2pPr>
            <a:lvl3pPr marL="1219200" indent="0">
              <a:buNone/>
              <a:defRPr sz="1333"/>
            </a:lvl3pPr>
            <a:lvl4pPr marL="1828801" indent="0">
              <a:buNone/>
              <a:defRPr sz="1200"/>
            </a:lvl4pPr>
            <a:lvl5pPr marL="2438400" indent="0">
              <a:buNone/>
              <a:defRPr sz="1200"/>
            </a:lvl5pPr>
            <a:lvl6pPr marL="3048000" indent="0">
              <a:buNone/>
              <a:defRPr sz="1200"/>
            </a:lvl6pPr>
            <a:lvl7pPr marL="3657600" indent="0">
              <a:buNone/>
              <a:defRPr sz="1200"/>
            </a:lvl7pPr>
            <a:lvl8pPr marL="4267201" indent="0">
              <a:buNone/>
              <a:defRPr sz="1200"/>
            </a:lvl8pPr>
            <a:lvl9pPr marL="4876801" indent="0">
              <a:buNone/>
              <a:defRPr sz="1200"/>
            </a:lvl9pPr>
          </a:lstStyle>
          <a:p>
            <a:pPr lvl="0"/>
            <a:r>
              <a:rPr lang="en-US"/>
              <a:t>CLICK TO EDITE SUBTITLE</a:t>
            </a:r>
          </a:p>
        </p:txBody>
      </p:sp>
      <p:sp>
        <p:nvSpPr>
          <p:cNvPr id="8" name="Title 2">
            <a:extLst>
              <a:ext uri="{FF2B5EF4-FFF2-40B4-BE49-F238E27FC236}">
                <a16:creationId xmlns:a16="http://schemas.microsoft.com/office/drawing/2014/main" id="{5872A53B-FD84-4867-BC11-F7CCE4E02DCF}"/>
              </a:ext>
            </a:extLst>
          </p:cNvPr>
          <p:cNvSpPr>
            <a:spLocks noGrp="1"/>
          </p:cNvSpPr>
          <p:nvPr>
            <p:ph type="title"/>
          </p:nvPr>
        </p:nvSpPr>
        <p:spPr>
          <a:xfrm>
            <a:off x="508002" y="455086"/>
            <a:ext cx="11157817" cy="660511"/>
          </a:xfrm>
          <a:prstGeom prst="rect">
            <a:avLst/>
          </a:prstGeom>
        </p:spPr>
        <p:txBody>
          <a:bodyPr lIns="0" tIns="0" rIns="0" bIns="0" anchor="ctr"/>
          <a:lstStyle>
            <a:lvl1pPr algn="ctr">
              <a:defRPr sz="4800">
                <a:solidFill>
                  <a:schemeClr val="bg1">
                    <a:lumMod val="50000"/>
                  </a:schemeClr>
                </a:solidFill>
                <a:latin typeface="Roboto" pitchFamily="2" charset="0"/>
                <a:ea typeface="Roboto" pitchFamily="2" charset="0"/>
              </a:defRPr>
            </a:lvl1pPr>
          </a:lstStyle>
          <a:p>
            <a:r>
              <a:rPr lang="en-US"/>
              <a:t>Click to edit Master title style</a:t>
            </a:r>
          </a:p>
        </p:txBody>
      </p:sp>
    </p:spTree>
    <p:extLst>
      <p:ext uri="{BB962C8B-B14F-4D97-AF65-F5344CB8AC3E}">
        <p14:creationId xmlns:p14="http://schemas.microsoft.com/office/powerpoint/2010/main" val="3597766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2996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9D6418-E216-C64F-BF26-5BDA3C391418}"/>
              </a:ext>
            </a:extLst>
          </p:cNvPr>
          <p:cNvSpPr>
            <a:spLocks noGrp="1"/>
          </p:cNvSpPr>
          <p:nvPr>
            <p:ph type="title"/>
          </p:nvPr>
        </p:nvSpPr>
        <p:spPr>
          <a:xfrm>
            <a:off x="465667" y="106790"/>
            <a:ext cx="11300236" cy="714306"/>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A20821-D19D-A148-BAC4-6F47160003F5}"/>
              </a:ext>
            </a:extLst>
          </p:cNvPr>
          <p:cNvSpPr>
            <a:spLocks noGrp="1"/>
          </p:cNvSpPr>
          <p:nvPr>
            <p:ph type="body" idx="1"/>
          </p:nvPr>
        </p:nvSpPr>
        <p:spPr>
          <a:xfrm>
            <a:off x="465667" y="1673915"/>
            <a:ext cx="11300236" cy="1381575"/>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EE418-9FFE-C245-86D4-89ED8F8E7927}"/>
              </a:ext>
            </a:extLst>
          </p:cNvPr>
          <p:cNvSpPr>
            <a:spLocks noGrp="1"/>
          </p:cNvSpPr>
          <p:nvPr>
            <p:ph type="ftr" sz="quarter" idx="3"/>
          </p:nvPr>
        </p:nvSpPr>
        <p:spPr>
          <a:xfrm>
            <a:off x="465667" y="6357328"/>
            <a:ext cx="4114800" cy="184666"/>
          </a:xfrm>
          <a:prstGeom prst="rect">
            <a:avLst/>
          </a:prstGeom>
        </p:spPr>
        <p:txBody>
          <a:bodyPr vert="horz" lIns="0" tIns="0" rIns="0" bIns="0" rtlCol="0" anchor="t" anchorCtr="0">
            <a:spAutoFit/>
          </a:bodyPr>
          <a:lstStyle>
            <a:lvl1pPr algn="l">
              <a:defRPr sz="1200" b="0">
                <a:solidFill>
                  <a:schemeClr val="accent2"/>
                </a:solidFill>
                <a:latin typeface="+mn-lt"/>
              </a:defRPr>
            </a:lvl1pPr>
          </a:lstStyle>
          <a:p>
            <a:endParaRPr lang="en-US"/>
          </a:p>
        </p:txBody>
      </p:sp>
      <p:sp>
        <p:nvSpPr>
          <p:cNvPr id="6" name="Slide Number Placeholder 5">
            <a:extLst>
              <a:ext uri="{FF2B5EF4-FFF2-40B4-BE49-F238E27FC236}">
                <a16:creationId xmlns:a16="http://schemas.microsoft.com/office/drawing/2014/main" id="{BB58FFA3-C8F7-BB49-9D2C-D08852CF15DD}"/>
              </a:ext>
            </a:extLst>
          </p:cNvPr>
          <p:cNvSpPr>
            <a:spLocks noGrp="1"/>
          </p:cNvSpPr>
          <p:nvPr>
            <p:ph type="sldNum" sz="quarter" idx="4"/>
          </p:nvPr>
        </p:nvSpPr>
        <p:spPr>
          <a:xfrm>
            <a:off x="10562253" y="6357328"/>
            <a:ext cx="251927" cy="184666"/>
          </a:xfrm>
          <a:prstGeom prst="rect">
            <a:avLst/>
          </a:prstGeom>
        </p:spPr>
        <p:txBody>
          <a:bodyPr vert="horz" wrap="square" lIns="0" tIns="0" rIns="0" bIns="0" rtlCol="0" anchor="t" anchorCtr="0">
            <a:spAutoFit/>
          </a:bodyPr>
          <a:lstStyle>
            <a:lvl1pPr algn="r">
              <a:defRPr lang="en-US" sz="1200" b="0" smtClean="0">
                <a:solidFill>
                  <a:schemeClr val="accent2"/>
                </a:solidFill>
              </a:defRPr>
            </a:lvl1pPr>
          </a:lstStyle>
          <a:p>
            <a:fld id="{274CC3B9-6596-1243-9665-72A444B9047F}" type="slidenum">
              <a:rPr lang="en-CA" smtClean="0"/>
              <a:pPr/>
              <a:t>‹#›</a:t>
            </a:fld>
            <a:endParaRPr lang="en-CA"/>
          </a:p>
        </p:txBody>
      </p:sp>
      <p:cxnSp>
        <p:nvCxnSpPr>
          <p:cNvPr id="9" name="Straight Connector 8"/>
          <p:cNvCxnSpPr/>
          <p:nvPr userDrawn="1"/>
        </p:nvCxnSpPr>
        <p:spPr>
          <a:xfrm flipH="1">
            <a:off x="465667" y="821095"/>
            <a:ext cx="11300236"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768D067D-7D1A-D643-89DD-494771B9F9E9}"/>
              </a:ext>
            </a:extLst>
          </p:cNvPr>
          <p:cNvPicPr>
            <a:picLocks noChangeAspect="1"/>
          </p:cNvPicPr>
          <p:nvPr userDrawn="1"/>
        </p:nvPicPr>
        <p:blipFill rotWithShape="1">
          <a:blip r:embed="rId19" cstate="email">
            <a:extLst>
              <a:ext uri="{28A0092B-C50C-407E-A947-70E740481C1C}">
                <a14:useLocalDpi xmlns:a14="http://schemas.microsoft.com/office/drawing/2010/main"/>
              </a:ext>
            </a:extLst>
          </a:blip>
          <a:srcRect b="-6931"/>
          <a:stretch/>
        </p:blipFill>
        <p:spPr>
          <a:xfrm>
            <a:off x="11303724" y="6174735"/>
            <a:ext cx="542837" cy="546740"/>
          </a:xfrm>
          <a:prstGeom prst="rect">
            <a:avLst/>
          </a:prstGeom>
        </p:spPr>
      </p:pic>
      <p:cxnSp>
        <p:nvCxnSpPr>
          <p:cNvPr id="7" name="Straight Connector 6"/>
          <p:cNvCxnSpPr/>
          <p:nvPr userDrawn="1"/>
        </p:nvCxnSpPr>
        <p:spPr>
          <a:xfrm flipH="1">
            <a:off x="465668" y="6071330"/>
            <a:ext cx="10923693"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286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914446" rtl="0" eaLnBrk="1" latinLnBrk="0" hangingPunct="1">
        <a:lnSpc>
          <a:spcPct val="100000"/>
        </a:lnSpc>
        <a:spcBef>
          <a:spcPct val="0"/>
        </a:spcBef>
        <a:buNone/>
        <a:defRPr sz="2400" b="1" kern="1200">
          <a:solidFill>
            <a:srgbClr val="002060"/>
          </a:solidFill>
          <a:latin typeface="+mn-lt"/>
          <a:ea typeface="Segoe UI Historic" panose="020B0502040204020203" pitchFamily="34" charset="0"/>
          <a:cs typeface="Segoe UI Historic" panose="020B0502040204020203" pitchFamily="34" charset="0"/>
        </a:defRPr>
      </a:lvl1pPr>
    </p:titleStyle>
    <p:bodyStyle>
      <a:lvl1pPr marL="180984" indent="-180984" algn="l" defTabSz="914446" rtl="0" eaLnBrk="1" latinLnBrk="0" hangingPunct="1">
        <a:lnSpc>
          <a:spcPct val="90000"/>
        </a:lnSpc>
        <a:spcBef>
          <a:spcPts val="1000"/>
        </a:spcBef>
        <a:buClr>
          <a:schemeClr val="accent5"/>
        </a:buClr>
        <a:buSzPct val="120000"/>
        <a:buFont typeface="Arial" panose="020B0604020202020204" pitchFamily="34" charset="0"/>
        <a:buChar char="•"/>
        <a:defRPr sz="1600" b="0" i="0" kern="1200">
          <a:solidFill>
            <a:schemeClr val="tx1"/>
          </a:solidFill>
          <a:latin typeface="+mn-lt"/>
          <a:ea typeface="+mn-ea"/>
          <a:cs typeface="+mn-cs"/>
        </a:defRPr>
      </a:lvl1pPr>
      <a:lvl2pPr marL="361968" indent="-180984" algn="l" defTabSz="914446" rtl="0" eaLnBrk="1" latinLnBrk="0" hangingPunct="1">
        <a:lnSpc>
          <a:spcPct val="90000"/>
        </a:lnSpc>
        <a:spcBef>
          <a:spcPts val="500"/>
        </a:spcBef>
        <a:buClr>
          <a:schemeClr val="accent5"/>
        </a:buClr>
        <a:buSzPct val="80000"/>
        <a:buFont typeface="Wingdings" panose="05000000000000000000" pitchFamily="2" charset="2"/>
        <a:buChar char="§"/>
        <a:defRPr sz="1600" b="0" i="0" kern="1200">
          <a:solidFill>
            <a:schemeClr val="tx1"/>
          </a:solidFill>
          <a:latin typeface="+mn-lt"/>
          <a:ea typeface="+mn-ea"/>
          <a:cs typeface="+mn-cs"/>
        </a:defRPr>
      </a:lvl2pPr>
      <a:lvl3pPr marL="542952" indent="-180984" algn="l" defTabSz="914446" rtl="0" eaLnBrk="1" latinLnBrk="0" hangingPunct="1">
        <a:lnSpc>
          <a:spcPct val="90000"/>
        </a:lnSpc>
        <a:spcBef>
          <a:spcPts val="500"/>
        </a:spcBef>
        <a:buClr>
          <a:schemeClr val="accent5"/>
        </a:buClr>
        <a:buFont typeface="Arial" panose="020B0604020202020204" pitchFamily="34" charset="0"/>
        <a:buChar char="•"/>
        <a:defRPr sz="1600" b="0" i="0" kern="1200">
          <a:solidFill>
            <a:schemeClr val="tx1"/>
          </a:solidFill>
          <a:latin typeface="+mn-lt"/>
          <a:ea typeface="+mn-ea"/>
          <a:cs typeface="+mn-cs"/>
        </a:defRPr>
      </a:lvl3pPr>
      <a:lvl4pPr marL="714411" indent="-171459" algn="l" defTabSz="914446" rtl="0" eaLnBrk="1" latinLnBrk="0" hangingPunct="1">
        <a:lnSpc>
          <a:spcPct val="90000"/>
        </a:lnSpc>
        <a:spcBef>
          <a:spcPts val="500"/>
        </a:spcBef>
        <a:buClr>
          <a:schemeClr val="accent5"/>
        </a:buClr>
        <a:buSzPct val="70000"/>
        <a:buFont typeface="Wingdings" panose="05000000000000000000" pitchFamily="2" charset="2"/>
        <a:buChar char="§"/>
        <a:defRPr sz="1600" b="0" i="0" kern="1200">
          <a:solidFill>
            <a:schemeClr val="tx1"/>
          </a:solidFill>
          <a:latin typeface="+mn-lt"/>
          <a:ea typeface="+mn-ea"/>
          <a:cs typeface="+mn-cs"/>
        </a:defRPr>
      </a:lvl4pPr>
      <a:lvl5pPr marL="895395" indent="-180984" algn="l" defTabSz="914446" rtl="0" eaLnBrk="1" latinLnBrk="0" hangingPunct="1">
        <a:lnSpc>
          <a:spcPct val="90000"/>
        </a:lnSpc>
        <a:spcBef>
          <a:spcPts val="500"/>
        </a:spcBef>
        <a:buClr>
          <a:schemeClr val="accent5"/>
        </a:buClr>
        <a:buFont typeface="Calibri" panose="020F0502020204030204" pitchFamily="34" charset="0"/>
        <a:buChar char="‐"/>
        <a:defRPr sz="1600" b="0" i="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742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mailto:ssmoses@datapattern.ai" TargetMode="External"/><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A6DCC-EA0E-2D4C-8481-069698BE7A4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BA5DBDF3-E57B-EE46-965E-0F0D2D4DB7AB}"/>
              </a:ext>
            </a:extLst>
          </p:cNvPr>
          <p:cNvSpPr>
            <a:spLocks noGrp="1"/>
          </p:cNvSpPr>
          <p:nvPr>
            <p:ph type="subTitle" idx="1"/>
          </p:nvPr>
        </p:nvSpPr>
        <p:spPr/>
        <p:txBody>
          <a:bodyPr/>
          <a:lstStyle/>
          <a:p>
            <a:endParaRPr lang="en-US"/>
          </a:p>
        </p:txBody>
      </p:sp>
      <p:pic>
        <p:nvPicPr>
          <p:cNvPr id="6" name="Picture Placeholder 5">
            <a:extLst>
              <a:ext uri="{FF2B5EF4-FFF2-40B4-BE49-F238E27FC236}">
                <a16:creationId xmlns:a16="http://schemas.microsoft.com/office/drawing/2014/main" id="{4BFEE820-4EC2-4782-A78D-C2C248EE8160}"/>
              </a:ext>
            </a:extLst>
          </p:cNvPr>
          <p:cNvPicPr>
            <a:picLocks noGrp="1" noChangeAspect="1"/>
          </p:cNvPicPr>
          <p:nvPr>
            <p:ph type="pic" sz="quarter" idx="4294967295"/>
          </p:nvPr>
        </p:nvPicPr>
        <p:blipFill>
          <a:blip r:embed="rId3">
            <a:extLst>
              <a:ext uri="{28A0092B-C50C-407E-A947-70E740481C1C}">
                <a14:useLocalDpi xmlns:a14="http://schemas.microsoft.com/office/drawing/2010/main" val="0"/>
              </a:ext>
            </a:extLst>
          </a:blip>
          <a:srcRect l="19845" r="19845"/>
          <a:stretch>
            <a:fillRect/>
          </a:stretch>
        </p:blipFill>
        <p:spPr>
          <a:xfrm>
            <a:off x="0" y="0"/>
            <a:ext cx="12192000" cy="6858000"/>
          </a:xfrm>
        </p:spPr>
      </p:pic>
      <p:sp>
        <p:nvSpPr>
          <p:cNvPr id="7" name="Right Triangle 6">
            <a:extLst>
              <a:ext uri="{FF2B5EF4-FFF2-40B4-BE49-F238E27FC236}">
                <a16:creationId xmlns:a16="http://schemas.microsoft.com/office/drawing/2014/main" id="{4F157EC3-CDD3-40E2-82A3-8E7DBB19EB93}"/>
              </a:ext>
            </a:extLst>
          </p:cNvPr>
          <p:cNvSpPr/>
          <p:nvPr/>
        </p:nvSpPr>
        <p:spPr>
          <a:xfrm flipV="1">
            <a:off x="0" y="0"/>
            <a:ext cx="6548284" cy="6858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Overview</a:t>
            </a:r>
          </a:p>
        </p:txBody>
      </p:sp>
      <p:pic>
        <p:nvPicPr>
          <p:cNvPr id="9" name="Picture 8">
            <a:extLst>
              <a:ext uri="{FF2B5EF4-FFF2-40B4-BE49-F238E27FC236}">
                <a16:creationId xmlns:a16="http://schemas.microsoft.com/office/drawing/2014/main" id="{07D3D004-6751-4EF3-8DE3-CA55CF6437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4903" y="1080708"/>
            <a:ext cx="3719623" cy="604934"/>
          </a:xfrm>
          <a:prstGeom prst="rect">
            <a:avLst/>
          </a:prstGeom>
        </p:spPr>
      </p:pic>
      <p:sp>
        <p:nvSpPr>
          <p:cNvPr id="10" name="Parallelogram 9">
            <a:extLst>
              <a:ext uri="{FF2B5EF4-FFF2-40B4-BE49-F238E27FC236}">
                <a16:creationId xmlns:a16="http://schemas.microsoft.com/office/drawing/2014/main" id="{9CEE6650-75BE-4B5C-B065-4AC84165E491}"/>
              </a:ext>
            </a:extLst>
          </p:cNvPr>
          <p:cNvSpPr/>
          <p:nvPr/>
        </p:nvSpPr>
        <p:spPr>
          <a:xfrm>
            <a:off x="2018764" y="1682441"/>
            <a:ext cx="3421626" cy="3170904"/>
          </a:xfrm>
          <a:prstGeom prst="parallelogram">
            <a:avLst>
              <a:gd name="adj" fmla="val 94057"/>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Parallelogram 10">
            <a:extLst>
              <a:ext uri="{FF2B5EF4-FFF2-40B4-BE49-F238E27FC236}">
                <a16:creationId xmlns:a16="http://schemas.microsoft.com/office/drawing/2014/main" id="{3053F3D9-DCD5-4DB5-952D-EB14FA0BEBCC}"/>
              </a:ext>
            </a:extLst>
          </p:cNvPr>
          <p:cNvSpPr/>
          <p:nvPr/>
        </p:nvSpPr>
        <p:spPr>
          <a:xfrm>
            <a:off x="3568577" y="0"/>
            <a:ext cx="3421626" cy="3170904"/>
          </a:xfrm>
          <a:prstGeom prst="parallelogram">
            <a:avLst>
              <a:gd name="adj" fmla="val 94057"/>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Parallelogram 11">
            <a:extLst>
              <a:ext uri="{FF2B5EF4-FFF2-40B4-BE49-F238E27FC236}">
                <a16:creationId xmlns:a16="http://schemas.microsoft.com/office/drawing/2014/main" id="{70196390-744C-4F74-AB3A-CAC86B3B160D}"/>
              </a:ext>
            </a:extLst>
          </p:cNvPr>
          <p:cNvSpPr/>
          <p:nvPr/>
        </p:nvSpPr>
        <p:spPr>
          <a:xfrm>
            <a:off x="516295" y="3209107"/>
            <a:ext cx="3421626" cy="3170904"/>
          </a:xfrm>
          <a:prstGeom prst="parallelogram">
            <a:avLst>
              <a:gd name="adj" fmla="val 94057"/>
            </a:avLst>
          </a:prstGeom>
          <a:solidFill>
            <a:schemeClr val="bg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1196F6CB-C6DD-4849-B9E6-34C70AB13D01}"/>
              </a:ext>
            </a:extLst>
          </p:cNvPr>
          <p:cNvSpPr txBox="1"/>
          <p:nvPr/>
        </p:nvSpPr>
        <p:spPr>
          <a:xfrm>
            <a:off x="-193852" y="3368083"/>
            <a:ext cx="3421626" cy="584775"/>
          </a:xfrm>
          <a:prstGeom prst="rect">
            <a:avLst/>
          </a:prstGeom>
          <a:noFill/>
        </p:spPr>
        <p:txBody>
          <a:bodyPr wrap="square" lIns="91440" tIns="45720" rIns="91440" bIns="45720" rtlCol="0" anchor="t">
            <a:spAutoFit/>
          </a:bodyPr>
          <a:lstStyle/>
          <a:p>
            <a:pPr algn="ctr">
              <a:defRPr/>
            </a:pPr>
            <a:r>
              <a:rPr lang="en-US" sz="1600" b="1" dirty="0">
                <a:solidFill>
                  <a:prstClr val="black"/>
                </a:solidFill>
                <a:latin typeface="Calibri" panose="020F0502020204030204"/>
              </a:rPr>
              <a:t>     </a:t>
            </a: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Engagement Report – </a:t>
            </a:r>
            <a:r>
              <a:rPr lang="en-US" sz="1600" b="1" dirty="0">
                <a:solidFill>
                  <a:prstClr val="black"/>
                </a:solidFill>
                <a:latin typeface="Calibri" panose="020F0502020204030204"/>
              </a:rPr>
              <a:t>04-September-2026</a:t>
            </a: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a:extLst>
              <a:ext uri="{FF2B5EF4-FFF2-40B4-BE49-F238E27FC236}">
                <a16:creationId xmlns:a16="http://schemas.microsoft.com/office/drawing/2014/main" id="{3258553A-D0FA-675B-1F91-E25EE1C027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3965" y="2271836"/>
            <a:ext cx="1755230" cy="948030"/>
          </a:xfrm>
          <a:prstGeom prst="rect">
            <a:avLst/>
          </a:prstGeom>
        </p:spPr>
      </p:pic>
    </p:spTree>
    <p:extLst>
      <p:ext uri="{BB962C8B-B14F-4D97-AF65-F5344CB8AC3E}">
        <p14:creationId xmlns:p14="http://schemas.microsoft.com/office/powerpoint/2010/main" val="178403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ACADE-40FC-B816-063D-4483448AB2D3}"/>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73DF6473-DEEE-A387-FAA0-DD8CEC5B46FA}"/>
              </a:ext>
            </a:extLst>
          </p:cNvPr>
          <p:cNvSpPr/>
          <p:nvPr/>
        </p:nvSpPr>
        <p:spPr>
          <a:xfrm>
            <a:off x="1883426" y="1160300"/>
            <a:ext cx="8425148" cy="1419918"/>
          </a:xfrm>
          <a:prstGeom prst="roundRect">
            <a:avLst>
              <a:gd name="adj" fmla="val 8253"/>
            </a:avLst>
          </a:prstGeom>
          <a:solidFill>
            <a:schemeClr val="bg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292BEF3-8615-9873-805C-5AD4A48A8196}"/>
              </a:ext>
            </a:extLst>
          </p:cNvPr>
          <p:cNvSpPr>
            <a:spLocks noGrp="1"/>
          </p:cNvSpPr>
          <p:nvPr>
            <p:ph type="title"/>
          </p:nvPr>
        </p:nvSpPr>
        <p:spPr>
          <a:xfrm>
            <a:off x="445882" y="95637"/>
            <a:ext cx="11300236" cy="714306"/>
          </a:xfrm>
        </p:spPr>
        <p:txBody>
          <a:bodyPr/>
          <a:lstStyle/>
          <a:p>
            <a:r>
              <a:rPr lang="en-US" dirty="0"/>
              <a:t>Engagement Summary</a:t>
            </a:r>
            <a:endParaRPr lang="en-IN" dirty="0"/>
          </a:p>
        </p:txBody>
      </p:sp>
      <p:sp>
        <p:nvSpPr>
          <p:cNvPr id="4" name="Slide Number Placeholder 3">
            <a:extLst>
              <a:ext uri="{FF2B5EF4-FFF2-40B4-BE49-F238E27FC236}">
                <a16:creationId xmlns:a16="http://schemas.microsoft.com/office/drawing/2014/main" id="{E1A352D7-6802-EBCA-8ACA-F31D41C383B9}"/>
              </a:ext>
            </a:extLst>
          </p:cNvPr>
          <p:cNvSpPr>
            <a:spLocks noGrp="1"/>
          </p:cNvSpPr>
          <p:nvPr>
            <p:ph type="sldNum" sz="quarter" idx="4"/>
          </p:nvPr>
        </p:nvSpPr>
        <p:spPr/>
        <p:txBody>
          <a:bodyPr/>
          <a:lstStyle/>
          <a:p>
            <a:fld id="{274CC3B9-6596-1243-9665-72A444B9047F}" type="slidenum">
              <a:rPr lang="en-CA" smtClean="0"/>
              <a:pPr/>
              <a:t>2</a:t>
            </a:fld>
            <a:endParaRPr lang="en-CA"/>
          </a:p>
        </p:txBody>
      </p:sp>
      <p:sp>
        <p:nvSpPr>
          <p:cNvPr id="3" name="TextBox 2">
            <a:extLst>
              <a:ext uri="{FF2B5EF4-FFF2-40B4-BE49-F238E27FC236}">
                <a16:creationId xmlns:a16="http://schemas.microsoft.com/office/drawing/2014/main" id="{D363456A-10CB-A438-A329-2729CDD0389D}"/>
              </a:ext>
            </a:extLst>
          </p:cNvPr>
          <p:cNvSpPr txBox="1"/>
          <p:nvPr/>
        </p:nvSpPr>
        <p:spPr>
          <a:xfrm>
            <a:off x="4937569" y="797763"/>
            <a:ext cx="2316862" cy="369332"/>
          </a:xfrm>
          <a:prstGeom prst="rect">
            <a:avLst/>
          </a:prstGeom>
          <a:noFill/>
        </p:spPr>
        <p:txBody>
          <a:bodyPr wrap="square" rtlCol="0">
            <a:spAutoFit/>
          </a:bodyPr>
          <a:lstStyle/>
          <a:p>
            <a:r>
              <a:rPr lang="en-US" b="1">
                <a:solidFill>
                  <a:schemeClr val="accent5">
                    <a:lumMod val="75000"/>
                  </a:schemeClr>
                </a:solidFill>
              </a:rPr>
              <a:t>Engagement Overview</a:t>
            </a:r>
            <a:endParaRPr lang="en-IN" b="1">
              <a:solidFill>
                <a:schemeClr val="accent5">
                  <a:lumMod val="75000"/>
                </a:schemeClr>
              </a:solidFill>
            </a:endParaRPr>
          </a:p>
        </p:txBody>
      </p:sp>
      <p:sp>
        <p:nvSpPr>
          <p:cNvPr id="5" name="Rectangle 1">
            <a:extLst>
              <a:ext uri="{FF2B5EF4-FFF2-40B4-BE49-F238E27FC236}">
                <a16:creationId xmlns:a16="http://schemas.microsoft.com/office/drawing/2014/main" id="{161D55C6-4A4E-0683-D295-03DC336D6A58}"/>
              </a:ext>
            </a:extLst>
          </p:cNvPr>
          <p:cNvSpPr>
            <a:spLocks noChangeArrowheads="1"/>
          </p:cNvSpPr>
          <p:nvPr/>
        </p:nvSpPr>
        <p:spPr bwMode="auto">
          <a:xfrm>
            <a:off x="1857816" y="1195222"/>
            <a:ext cx="828601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a:ln>
                  <a:noFill/>
                </a:ln>
                <a:solidFill>
                  <a:schemeClr val="tx1"/>
                </a:solidFill>
                <a:effectLst/>
              </a:rPr>
              <a:t>Nova Biomedical is a global leader in bioprocessing, clinical diagnostics, and veterinary solutions, driving innovation in patient outcomes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a:ln>
                  <a:noFill/>
                </a:ln>
                <a:solidFill>
                  <a:schemeClr val="tx1"/>
                </a:solidFill>
                <a:effectLst/>
              </a:rPr>
              <a:t>Rapid expansion led to fragmented data across Finance, Sales, Operations, and Supply Chain systems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a:ln>
                  <a:noFill/>
                </a:ln>
                <a:solidFill>
                  <a:schemeClr val="tx1"/>
                </a:solidFill>
                <a:effectLst/>
              </a:rPr>
              <a:t>Heavy reliance on Excel-based reporting and disconnected data sources limited visibility and slowed decision-making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i="0" u="none" strike="noStrike" cap="none" normalizeH="0" baseline="0">
                <a:ln>
                  <a:noFill/>
                </a:ln>
                <a:solidFill>
                  <a:schemeClr val="tx1"/>
                </a:solidFill>
                <a:effectLst/>
              </a:rPr>
              <a:t>DataPattern engaged to build a centralized, governed analytics platform on Microsoft Fabric (Nova Data Lake) </a:t>
            </a:r>
          </a:p>
        </p:txBody>
      </p:sp>
      <p:sp>
        <p:nvSpPr>
          <p:cNvPr id="12" name="Shape 12">
            <a:extLst>
              <a:ext uri="{FF2B5EF4-FFF2-40B4-BE49-F238E27FC236}">
                <a16:creationId xmlns:a16="http://schemas.microsoft.com/office/drawing/2014/main" id="{48AC767E-06DD-4B9E-FF15-12CD5205DFC9}"/>
              </a:ext>
            </a:extLst>
          </p:cNvPr>
          <p:cNvSpPr/>
          <p:nvPr/>
        </p:nvSpPr>
        <p:spPr>
          <a:xfrm>
            <a:off x="584001" y="3540234"/>
            <a:ext cx="5039391" cy="2455479"/>
          </a:xfrm>
          <a:prstGeom prst="rect">
            <a:avLst/>
          </a:prstGeom>
          <a:solidFill>
            <a:srgbClr val="F4F6F9"/>
          </a:solidFill>
          <a:ln w="12700">
            <a:solidFill>
              <a:srgbClr val="E2E7EF"/>
            </a:solidFill>
            <a:prstDash val="solid"/>
          </a:ln>
          <a:effectLst>
            <a:outerShdw blurRad="38100" dist="127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3" name="Shape 13">
            <a:extLst>
              <a:ext uri="{FF2B5EF4-FFF2-40B4-BE49-F238E27FC236}">
                <a16:creationId xmlns:a16="http://schemas.microsoft.com/office/drawing/2014/main" id="{01C63FA6-3205-17BF-03BF-820B16EEF9B0}"/>
              </a:ext>
            </a:extLst>
          </p:cNvPr>
          <p:cNvSpPr/>
          <p:nvPr/>
        </p:nvSpPr>
        <p:spPr>
          <a:xfrm>
            <a:off x="584002" y="3540236"/>
            <a:ext cx="100856" cy="2455478"/>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4" name="Shape 9">
            <a:extLst>
              <a:ext uri="{FF2B5EF4-FFF2-40B4-BE49-F238E27FC236}">
                <a16:creationId xmlns:a16="http://schemas.microsoft.com/office/drawing/2014/main" id="{9E6C9D56-453B-E041-3D3C-3662E1BB17EC}"/>
              </a:ext>
            </a:extLst>
          </p:cNvPr>
          <p:cNvSpPr/>
          <p:nvPr/>
        </p:nvSpPr>
        <p:spPr>
          <a:xfrm>
            <a:off x="584000" y="3229828"/>
            <a:ext cx="5039393" cy="463494"/>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5" name="Shape 10">
            <a:extLst>
              <a:ext uri="{FF2B5EF4-FFF2-40B4-BE49-F238E27FC236}">
                <a16:creationId xmlns:a16="http://schemas.microsoft.com/office/drawing/2014/main" id="{A51E747E-BC94-984B-04A9-55808608636D}"/>
              </a:ext>
            </a:extLst>
          </p:cNvPr>
          <p:cNvSpPr/>
          <p:nvPr/>
        </p:nvSpPr>
        <p:spPr>
          <a:xfrm>
            <a:off x="589262" y="3229828"/>
            <a:ext cx="99456" cy="463494"/>
          </a:xfrm>
          <a:prstGeom prst="rect">
            <a:avLst/>
          </a:prstGeom>
          <a:solidFill>
            <a:srgbClr val="E8610A"/>
          </a:solidFill>
          <a:ln w="12700">
            <a:solidFill>
              <a:srgbClr val="E861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E603266B-2ADA-250F-4D95-F376B41FD51A}"/>
              </a:ext>
            </a:extLst>
          </p:cNvPr>
          <p:cNvSpPr txBox="1"/>
          <p:nvPr/>
        </p:nvSpPr>
        <p:spPr>
          <a:xfrm>
            <a:off x="688717" y="3326641"/>
            <a:ext cx="4748867" cy="338554"/>
          </a:xfrm>
          <a:prstGeom prst="rect">
            <a:avLst/>
          </a:prstGeom>
          <a:noFill/>
        </p:spPr>
        <p:txBody>
          <a:bodyPr wrap="square">
            <a:spAutoFit/>
          </a:bodyPr>
          <a:lstStyle/>
          <a:p>
            <a:r>
              <a:rPr lang="en-IN" sz="1600" b="1">
                <a:solidFill>
                  <a:schemeClr val="bg1"/>
                </a:solidFill>
              </a:rPr>
              <a:t>Strategy &amp; Organization</a:t>
            </a:r>
            <a:r>
              <a:rPr lang="en-IN" sz="1600">
                <a:solidFill>
                  <a:schemeClr val="bg1"/>
                </a:solidFill>
              </a:rPr>
              <a:t> (Phase 1 – Completed)</a:t>
            </a:r>
          </a:p>
        </p:txBody>
      </p:sp>
      <p:sp>
        <p:nvSpPr>
          <p:cNvPr id="22" name="TextBox 21">
            <a:extLst>
              <a:ext uri="{FF2B5EF4-FFF2-40B4-BE49-F238E27FC236}">
                <a16:creationId xmlns:a16="http://schemas.microsoft.com/office/drawing/2014/main" id="{B6C6ABD8-DAC5-969E-DD2B-1A5EE8FBE82E}"/>
              </a:ext>
            </a:extLst>
          </p:cNvPr>
          <p:cNvSpPr txBox="1"/>
          <p:nvPr/>
        </p:nvSpPr>
        <p:spPr>
          <a:xfrm>
            <a:off x="684858" y="3790135"/>
            <a:ext cx="4837907" cy="2031325"/>
          </a:xfrm>
          <a:prstGeom prst="rect">
            <a:avLst/>
          </a:prstGeom>
          <a:noFill/>
        </p:spPr>
        <p:txBody>
          <a:bodyPr wrap="square">
            <a:spAutoFit/>
          </a:bodyPr>
          <a:lstStyle/>
          <a:p>
            <a:pPr marL="171450" indent="-171450">
              <a:buFont typeface="Arial" panose="020B0604020202020204" pitchFamily="34" charset="0"/>
              <a:buChar char="•"/>
            </a:pPr>
            <a:r>
              <a:rPr lang="en-US" sz="1400"/>
              <a:t>Defined and implemented a unified data strategy for Nova Biomedical’s analytics vision on Microsoft Fabric (Nova Data Lake).</a:t>
            </a:r>
          </a:p>
          <a:p>
            <a:pPr marL="171450" indent="-171450">
              <a:buFont typeface="Arial" panose="020B0604020202020204" pitchFamily="34" charset="0"/>
              <a:buChar char="•"/>
            </a:pPr>
            <a:r>
              <a:rPr lang="en-IN" sz="1400"/>
              <a:t>Migrated legacy systems (AI &amp; Nova) to a centralized platform</a:t>
            </a:r>
          </a:p>
          <a:p>
            <a:pPr marL="171450" indent="-171450">
              <a:buFont typeface="Arial" panose="020B0604020202020204" pitchFamily="34" charset="0"/>
              <a:buChar char="•"/>
            </a:pPr>
            <a:r>
              <a:rPr lang="en-IN" sz="1400"/>
              <a:t>Integrated initial source systems: SAP, BW, SQL Server, </a:t>
            </a:r>
            <a:r>
              <a:rPr lang="en-IN" sz="1400" err="1"/>
              <a:t>JDrive</a:t>
            </a:r>
            <a:r>
              <a:rPr lang="en-IN" sz="1400"/>
              <a:t>, SharePoint</a:t>
            </a:r>
          </a:p>
          <a:p>
            <a:pPr marL="171450" indent="-171450">
              <a:buFont typeface="Arial" panose="020B0604020202020204" pitchFamily="34" charset="0"/>
              <a:buChar char="•"/>
            </a:pPr>
            <a:r>
              <a:rPr lang="en-IN" sz="1400"/>
              <a:t>Migrated legacy reports to the data lake</a:t>
            </a:r>
          </a:p>
          <a:p>
            <a:pPr marL="171450" indent="-171450">
              <a:buFont typeface="Arial" panose="020B0604020202020204" pitchFamily="34" charset="0"/>
              <a:buChar char="•"/>
            </a:pPr>
            <a:r>
              <a:rPr lang="en-IN" sz="1400"/>
              <a:t>Established foundational KPI models and dashboards (Sales, Marketing, Operations)</a:t>
            </a:r>
          </a:p>
        </p:txBody>
      </p:sp>
      <p:sp>
        <p:nvSpPr>
          <p:cNvPr id="23" name="Shape 12">
            <a:extLst>
              <a:ext uri="{FF2B5EF4-FFF2-40B4-BE49-F238E27FC236}">
                <a16:creationId xmlns:a16="http://schemas.microsoft.com/office/drawing/2014/main" id="{E88A7AE2-0D9A-EB53-C883-A59F43D8D5EF}"/>
              </a:ext>
            </a:extLst>
          </p:cNvPr>
          <p:cNvSpPr/>
          <p:nvPr/>
        </p:nvSpPr>
        <p:spPr>
          <a:xfrm>
            <a:off x="6096001" y="3540234"/>
            <a:ext cx="5517262" cy="2455479"/>
          </a:xfrm>
          <a:prstGeom prst="rect">
            <a:avLst/>
          </a:prstGeom>
          <a:solidFill>
            <a:srgbClr val="F4F6F9"/>
          </a:solidFill>
          <a:ln w="12700">
            <a:solidFill>
              <a:srgbClr val="E2E7EF"/>
            </a:solidFill>
            <a:prstDash val="solid"/>
          </a:ln>
          <a:effectLst>
            <a:outerShdw blurRad="38100" dist="127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4" name="Shape 13">
            <a:extLst>
              <a:ext uri="{FF2B5EF4-FFF2-40B4-BE49-F238E27FC236}">
                <a16:creationId xmlns:a16="http://schemas.microsoft.com/office/drawing/2014/main" id="{77EACCF1-9F49-3014-E3F8-74446368A95F}"/>
              </a:ext>
            </a:extLst>
          </p:cNvPr>
          <p:cNvSpPr/>
          <p:nvPr/>
        </p:nvSpPr>
        <p:spPr>
          <a:xfrm>
            <a:off x="6096002" y="3540236"/>
            <a:ext cx="100856" cy="2455478"/>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5" name="Shape 9">
            <a:extLst>
              <a:ext uri="{FF2B5EF4-FFF2-40B4-BE49-F238E27FC236}">
                <a16:creationId xmlns:a16="http://schemas.microsoft.com/office/drawing/2014/main" id="{62A47003-9F8F-E420-D64D-9AC83F49136B}"/>
              </a:ext>
            </a:extLst>
          </p:cNvPr>
          <p:cNvSpPr/>
          <p:nvPr/>
        </p:nvSpPr>
        <p:spPr>
          <a:xfrm>
            <a:off x="6096000" y="3229828"/>
            <a:ext cx="5517262" cy="463494"/>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6" name="Shape 10">
            <a:extLst>
              <a:ext uri="{FF2B5EF4-FFF2-40B4-BE49-F238E27FC236}">
                <a16:creationId xmlns:a16="http://schemas.microsoft.com/office/drawing/2014/main" id="{983080A1-AC18-1031-EE22-DDF39157D807}"/>
              </a:ext>
            </a:extLst>
          </p:cNvPr>
          <p:cNvSpPr/>
          <p:nvPr/>
        </p:nvSpPr>
        <p:spPr>
          <a:xfrm>
            <a:off x="6101262" y="3229828"/>
            <a:ext cx="99456" cy="463494"/>
          </a:xfrm>
          <a:prstGeom prst="rect">
            <a:avLst/>
          </a:prstGeom>
          <a:solidFill>
            <a:srgbClr val="E8610A"/>
          </a:solidFill>
          <a:ln w="12700">
            <a:solidFill>
              <a:srgbClr val="E861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A0E403FF-5408-8ED5-A976-06BCAD62E536}"/>
              </a:ext>
            </a:extLst>
          </p:cNvPr>
          <p:cNvSpPr txBox="1"/>
          <p:nvPr/>
        </p:nvSpPr>
        <p:spPr>
          <a:xfrm>
            <a:off x="6200717" y="3326641"/>
            <a:ext cx="4748867" cy="338554"/>
          </a:xfrm>
          <a:prstGeom prst="rect">
            <a:avLst/>
          </a:prstGeom>
          <a:noFill/>
        </p:spPr>
        <p:txBody>
          <a:bodyPr wrap="square">
            <a:spAutoFit/>
          </a:bodyPr>
          <a:lstStyle/>
          <a:p>
            <a:r>
              <a:rPr lang="en-IN" sz="1600" b="1">
                <a:solidFill>
                  <a:schemeClr val="bg1"/>
                </a:solidFill>
              </a:rPr>
              <a:t>Transformation &amp; Integration</a:t>
            </a:r>
            <a:r>
              <a:rPr lang="en-IN" sz="1600">
                <a:solidFill>
                  <a:schemeClr val="bg1"/>
                </a:solidFill>
              </a:rPr>
              <a:t> (Phase 2 – Active)</a:t>
            </a:r>
          </a:p>
        </p:txBody>
      </p:sp>
      <p:sp>
        <p:nvSpPr>
          <p:cNvPr id="8" name="TextBox 7">
            <a:extLst>
              <a:ext uri="{FF2B5EF4-FFF2-40B4-BE49-F238E27FC236}">
                <a16:creationId xmlns:a16="http://schemas.microsoft.com/office/drawing/2014/main" id="{790AC2B1-EE4C-6EE3-1E14-632B8DA10F31}"/>
              </a:ext>
            </a:extLst>
          </p:cNvPr>
          <p:cNvSpPr txBox="1"/>
          <p:nvPr/>
        </p:nvSpPr>
        <p:spPr>
          <a:xfrm>
            <a:off x="6175177" y="3696297"/>
            <a:ext cx="5326621" cy="2246769"/>
          </a:xfrm>
          <a:prstGeom prst="rect">
            <a:avLst/>
          </a:prstGeom>
          <a:noFill/>
        </p:spPr>
        <p:txBody>
          <a:bodyPr wrap="square">
            <a:spAutoFit/>
          </a:bodyPr>
          <a:lstStyle/>
          <a:p>
            <a:pPr marL="171450" indent="-171450">
              <a:buFont typeface="Arial" panose="020B0604020202020204" pitchFamily="34" charset="0"/>
              <a:buChar char="•"/>
            </a:pPr>
            <a:r>
              <a:rPr lang="en-IN" sz="1400"/>
              <a:t>Integrated multiple source systems: Epicor, NetSuite, Salesforce, SAP</a:t>
            </a:r>
          </a:p>
          <a:p>
            <a:pPr marL="171450" indent="-171450">
              <a:buFont typeface="Arial" panose="020B0604020202020204" pitchFamily="34" charset="0"/>
              <a:buChar char="•"/>
            </a:pPr>
            <a:r>
              <a:rPr lang="en-IN" sz="1400"/>
              <a:t>Built unified data platform with consistent business logic and definitions</a:t>
            </a:r>
          </a:p>
          <a:p>
            <a:pPr marL="171450" indent="-171450">
              <a:buFont typeface="Arial" panose="020B0604020202020204" pitchFamily="34" charset="0"/>
              <a:buChar char="•"/>
            </a:pPr>
            <a:r>
              <a:rPr lang="en-IN" sz="1400"/>
              <a:t>Delivered consolidated outputs: </a:t>
            </a:r>
          </a:p>
          <a:p>
            <a:pPr marL="628650" lvl="1" indent="-171450">
              <a:buFont typeface="Arial" panose="020B0604020202020204" pitchFamily="34" charset="0"/>
              <a:buChar char="•"/>
            </a:pPr>
            <a:r>
              <a:rPr lang="en-IN" sz="1400" b="1"/>
              <a:t>Booking</a:t>
            </a:r>
            <a:r>
              <a:rPr lang="en-IN" sz="1400"/>
              <a:t> – Unified booking model across Legacy AI &amp; Nova (Live)</a:t>
            </a:r>
          </a:p>
          <a:p>
            <a:pPr marL="628650" lvl="1" indent="-171450">
              <a:buFont typeface="Arial" panose="020B0604020202020204" pitchFamily="34" charset="0"/>
              <a:buChar char="•"/>
            </a:pPr>
            <a:r>
              <a:rPr lang="en-IN" sz="1400" b="1"/>
              <a:t>Shipments</a:t>
            </a:r>
            <a:r>
              <a:rPr lang="en-IN" sz="1400"/>
              <a:t> – Centralized shipment &amp; logistics tracking (In Progress)</a:t>
            </a:r>
          </a:p>
          <a:p>
            <a:pPr marL="628650" lvl="1" indent="-171450">
              <a:buFont typeface="Arial" panose="020B0604020202020204" pitchFamily="34" charset="0"/>
              <a:buChar char="•"/>
            </a:pPr>
            <a:r>
              <a:rPr lang="en-IN" sz="1400" b="1"/>
              <a:t>Sustainability</a:t>
            </a:r>
            <a:r>
              <a:rPr lang="en-IN" sz="1400"/>
              <a:t> – Scope 1 &amp; 2 emissions reporting (In Progress)</a:t>
            </a:r>
          </a:p>
          <a:p>
            <a:pPr marL="171450" indent="-171450">
              <a:buFont typeface="Arial" panose="020B0604020202020204" pitchFamily="34" charset="0"/>
              <a:buChar char="•"/>
            </a:pPr>
            <a:r>
              <a:rPr lang="en-IN" sz="1400"/>
              <a:t>Advancing real-time reporting (DirectQuery) and KPI standardization</a:t>
            </a:r>
          </a:p>
        </p:txBody>
      </p:sp>
      <p:sp>
        <p:nvSpPr>
          <p:cNvPr id="29" name="Arrow: Right 28">
            <a:extLst>
              <a:ext uri="{FF2B5EF4-FFF2-40B4-BE49-F238E27FC236}">
                <a16:creationId xmlns:a16="http://schemas.microsoft.com/office/drawing/2014/main" id="{B37374C3-BF71-4151-1D82-7537FB891924}"/>
              </a:ext>
            </a:extLst>
          </p:cNvPr>
          <p:cNvSpPr/>
          <p:nvPr/>
        </p:nvSpPr>
        <p:spPr>
          <a:xfrm>
            <a:off x="5688490" y="4606548"/>
            <a:ext cx="342411" cy="129470"/>
          </a:xfrm>
          <a:prstGeom prst="rightArrow">
            <a:avLst/>
          </a:prstGeom>
          <a:solidFill>
            <a:schemeClr val="tx2">
              <a:lumMod val="50000"/>
              <a:lumOff val="5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AD5FE984-169A-FBD0-E718-90767685F1A3}"/>
              </a:ext>
            </a:extLst>
          </p:cNvPr>
          <p:cNvSpPr txBox="1"/>
          <p:nvPr/>
        </p:nvSpPr>
        <p:spPr>
          <a:xfrm>
            <a:off x="4768083" y="2686243"/>
            <a:ext cx="2695404" cy="369332"/>
          </a:xfrm>
          <a:prstGeom prst="rect">
            <a:avLst/>
          </a:prstGeom>
          <a:noFill/>
        </p:spPr>
        <p:txBody>
          <a:bodyPr wrap="square" rtlCol="0">
            <a:spAutoFit/>
          </a:bodyPr>
          <a:lstStyle/>
          <a:p>
            <a:r>
              <a:rPr lang="en-US" b="1">
                <a:solidFill>
                  <a:schemeClr val="accent5">
                    <a:lumMod val="75000"/>
                  </a:schemeClr>
                </a:solidFill>
              </a:rPr>
              <a:t>Transformation Journey</a:t>
            </a:r>
            <a:endParaRPr lang="en-IN" b="1">
              <a:solidFill>
                <a:schemeClr val="accent5">
                  <a:lumMod val="75000"/>
                </a:schemeClr>
              </a:solidFill>
            </a:endParaRPr>
          </a:p>
        </p:txBody>
      </p:sp>
    </p:spTree>
    <p:extLst>
      <p:ext uri="{BB962C8B-B14F-4D97-AF65-F5344CB8AC3E}">
        <p14:creationId xmlns:p14="http://schemas.microsoft.com/office/powerpoint/2010/main" val="2855769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Rounded Corners 28">
            <a:extLst>
              <a:ext uri="{FF2B5EF4-FFF2-40B4-BE49-F238E27FC236}">
                <a16:creationId xmlns:a16="http://schemas.microsoft.com/office/drawing/2014/main" id="{7615E37A-A9BA-D76B-0569-C362674A65D0}"/>
              </a:ext>
            </a:extLst>
          </p:cNvPr>
          <p:cNvSpPr/>
          <p:nvPr/>
        </p:nvSpPr>
        <p:spPr>
          <a:xfrm>
            <a:off x="2994434" y="880380"/>
            <a:ext cx="8884184" cy="5027705"/>
          </a:xfrm>
          <a:prstGeom prst="roundRect">
            <a:avLst>
              <a:gd name="adj" fmla="val 7941"/>
            </a:avLst>
          </a:prstGeom>
          <a:solidFill>
            <a:schemeClr val="bg1"/>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A090A759-02AD-E646-53F8-A56F583F0439}"/>
              </a:ext>
            </a:extLst>
          </p:cNvPr>
          <p:cNvSpPr/>
          <p:nvPr/>
        </p:nvSpPr>
        <p:spPr>
          <a:xfrm>
            <a:off x="112412" y="1602210"/>
            <a:ext cx="2569742" cy="4245502"/>
          </a:xfrm>
          <a:prstGeom prst="roundRect">
            <a:avLst>
              <a:gd name="adj" fmla="val 7080"/>
            </a:avLst>
          </a:prstGeom>
          <a:solidFill>
            <a:schemeClr val="accent6">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Slide Number Placeholder 3">
            <a:extLst>
              <a:ext uri="{FF2B5EF4-FFF2-40B4-BE49-F238E27FC236}">
                <a16:creationId xmlns:a16="http://schemas.microsoft.com/office/drawing/2014/main" id="{A15A98AA-AEBB-DAC5-F795-D5BF91C7472F}"/>
              </a:ext>
            </a:extLst>
          </p:cNvPr>
          <p:cNvSpPr>
            <a:spLocks noGrp="1"/>
          </p:cNvSpPr>
          <p:nvPr>
            <p:ph type="sldNum" sz="quarter" idx="4"/>
          </p:nvPr>
        </p:nvSpPr>
        <p:spPr/>
        <p:txBody>
          <a:bodyPr/>
          <a:lstStyle/>
          <a:p>
            <a:fld id="{274CC3B9-6596-1243-9665-72A444B9047F}" type="slidenum">
              <a:rPr lang="en-CA" smtClean="0"/>
              <a:pPr/>
              <a:t>3</a:t>
            </a:fld>
            <a:endParaRPr lang="en-CA"/>
          </a:p>
        </p:txBody>
      </p:sp>
      <p:sp>
        <p:nvSpPr>
          <p:cNvPr id="7" name="Title 1">
            <a:extLst>
              <a:ext uri="{FF2B5EF4-FFF2-40B4-BE49-F238E27FC236}">
                <a16:creationId xmlns:a16="http://schemas.microsoft.com/office/drawing/2014/main" id="{70D90FC2-AF3E-8B7B-6FBC-7AB705EB823D}"/>
              </a:ext>
            </a:extLst>
          </p:cNvPr>
          <p:cNvSpPr txBox="1">
            <a:spLocks/>
          </p:cNvSpPr>
          <p:nvPr/>
        </p:nvSpPr>
        <p:spPr>
          <a:xfrm>
            <a:off x="465667" y="81763"/>
            <a:ext cx="11300236" cy="714306"/>
          </a:xfrm>
          <a:prstGeom prst="rect">
            <a:avLst/>
          </a:prstGeom>
        </p:spPr>
        <p:txBody>
          <a:bodyPr vert="horz" lIns="0" tIns="0" rIns="0" bIns="0" rtlCol="0" anchor="ctr">
            <a:normAutofit/>
          </a:bodyPr>
          <a:lstStyle>
            <a:lvl1pPr algn="l" defTabSz="914446" rtl="0" eaLnBrk="1" latinLnBrk="0" hangingPunct="1">
              <a:lnSpc>
                <a:spcPct val="100000"/>
              </a:lnSpc>
              <a:spcBef>
                <a:spcPct val="0"/>
              </a:spcBef>
              <a:buNone/>
              <a:defRPr sz="2400" b="1" kern="1200">
                <a:solidFill>
                  <a:srgbClr val="002060"/>
                </a:solidFill>
                <a:latin typeface="+mn-lt"/>
                <a:ea typeface="Segoe UI Historic" panose="020B0502040204020203" pitchFamily="34" charset="0"/>
                <a:cs typeface="Segoe UI Historic" panose="020B0502040204020203" pitchFamily="34" charset="0"/>
              </a:defRPr>
            </a:lvl1pPr>
          </a:lstStyle>
          <a:p>
            <a:r>
              <a:rPr lang="en-US"/>
              <a:t>Key Projects and What We Delivered</a:t>
            </a:r>
            <a:endParaRPr lang="en-IN"/>
          </a:p>
        </p:txBody>
      </p:sp>
      <p:sp>
        <p:nvSpPr>
          <p:cNvPr id="9" name="TextBox 8">
            <a:extLst>
              <a:ext uri="{FF2B5EF4-FFF2-40B4-BE49-F238E27FC236}">
                <a16:creationId xmlns:a16="http://schemas.microsoft.com/office/drawing/2014/main" id="{99EC2F52-268B-2098-5D1C-227CB7BEB0EE}"/>
              </a:ext>
            </a:extLst>
          </p:cNvPr>
          <p:cNvSpPr txBox="1"/>
          <p:nvPr/>
        </p:nvSpPr>
        <p:spPr>
          <a:xfrm>
            <a:off x="140193" y="1765216"/>
            <a:ext cx="2490731" cy="3600986"/>
          </a:xfrm>
          <a:prstGeom prst="rect">
            <a:avLst/>
          </a:prstGeom>
          <a:noFill/>
        </p:spPr>
        <p:txBody>
          <a:bodyPr wrap="square">
            <a:spAutoFit/>
          </a:bodyPr>
          <a:lstStyle/>
          <a:p>
            <a:pPr algn="just">
              <a:buNone/>
            </a:pPr>
            <a:endParaRPr lang="en-US" sz="1200" b="1"/>
          </a:p>
          <a:p>
            <a:pPr marL="171450" indent="-171450" algn="just">
              <a:buFont typeface="Arial" panose="020B0604020202020204" pitchFamily="34" charset="0"/>
              <a:buChar char="•"/>
            </a:pPr>
            <a:r>
              <a:rPr lang="en-US" sz="1200"/>
              <a:t>Built booking data model (Epicor + NetSuite)</a:t>
            </a:r>
          </a:p>
          <a:p>
            <a:pPr marL="171450" indent="-171450" algn="just">
              <a:buFont typeface="Arial" panose="020B0604020202020204" pitchFamily="34" charset="0"/>
              <a:buChar char="•"/>
            </a:pPr>
            <a:r>
              <a:rPr lang="en-US" sz="1200"/>
              <a:t>Set up Medallion architecture</a:t>
            </a:r>
          </a:p>
          <a:p>
            <a:pPr marL="171450" indent="-171450" algn="just">
              <a:buFont typeface="Arial" panose="020B0604020202020204" pitchFamily="34" charset="0"/>
              <a:buChar char="•"/>
            </a:pPr>
            <a:r>
              <a:rPr lang="en-US" sz="1200"/>
              <a:t>Migrated reports to data lake</a:t>
            </a:r>
          </a:p>
          <a:p>
            <a:pPr marL="171450" indent="-171450" algn="just">
              <a:buFont typeface="Arial" panose="020B0604020202020204" pitchFamily="34" charset="0"/>
              <a:buChar char="•"/>
            </a:pPr>
            <a:r>
              <a:rPr lang="en-US" sz="1200"/>
              <a:t>Created dashboards (Sales, Marketing, Operations)</a:t>
            </a:r>
          </a:p>
          <a:p>
            <a:pPr marL="171450" indent="-171450" algn="just">
              <a:buFont typeface="Arial" panose="020B0604020202020204" pitchFamily="34" charset="0"/>
              <a:buChar char="•"/>
            </a:pPr>
            <a:r>
              <a:rPr lang="en-US" sz="1200"/>
              <a:t>Developed unified models (Salesforce + Epicor) and KPI reports</a:t>
            </a:r>
          </a:p>
          <a:p>
            <a:pPr marL="171450" indent="-171450" algn="just">
              <a:buFont typeface="Arial" panose="020B0604020202020204" pitchFamily="34" charset="0"/>
              <a:buChar char="•"/>
            </a:pPr>
            <a:r>
              <a:rPr lang="en-US" sz="1200"/>
              <a:t>Delivered Daily Flash (assembly, manufacturing, master)</a:t>
            </a:r>
          </a:p>
          <a:p>
            <a:pPr marL="171450" indent="-171450" algn="just">
              <a:buFont typeface="Arial" panose="020B0604020202020204" pitchFamily="34" charset="0"/>
              <a:buChar char="•"/>
            </a:pPr>
            <a:r>
              <a:rPr lang="en-US" sz="1200"/>
              <a:t>Completed platform migration (NOVA → unified workspace)</a:t>
            </a:r>
          </a:p>
          <a:p>
            <a:pPr algn="just"/>
            <a:endParaRPr lang="en-US" sz="1200"/>
          </a:p>
          <a:p>
            <a:r>
              <a:rPr lang="en-US" sz="1200" b="1"/>
              <a:t>Outcome:</a:t>
            </a:r>
            <a:br>
              <a:rPr lang="en-US" sz="1200"/>
            </a:br>
            <a:r>
              <a:rPr lang="en-US" sz="1200"/>
              <a:t>Data and reporting foundation in place, but definitions and booking logic not fully aligned</a:t>
            </a:r>
          </a:p>
        </p:txBody>
      </p:sp>
      <p:sp>
        <p:nvSpPr>
          <p:cNvPr id="12" name="Rectangle: Rounded Corners 11">
            <a:extLst>
              <a:ext uri="{FF2B5EF4-FFF2-40B4-BE49-F238E27FC236}">
                <a16:creationId xmlns:a16="http://schemas.microsoft.com/office/drawing/2014/main" id="{7245B87B-AAFA-4697-EDD5-DB1699C5A35B}"/>
              </a:ext>
            </a:extLst>
          </p:cNvPr>
          <p:cNvSpPr/>
          <p:nvPr/>
        </p:nvSpPr>
        <p:spPr>
          <a:xfrm>
            <a:off x="3243522" y="1431198"/>
            <a:ext cx="1737472" cy="1855087"/>
          </a:xfrm>
          <a:prstGeom prst="roundRect">
            <a:avLst/>
          </a:prstGeom>
          <a:solidFill>
            <a:schemeClr val="tx2">
              <a:lumMod val="10000"/>
              <a:lumOff val="90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3A809CB5-BDCD-8986-81F8-29AE6E1075AE}"/>
              </a:ext>
            </a:extLst>
          </p:cNvPr>
          <p:cNvSpPr/>
          <p:nvPr/>
        </p:nvSpPr>
        <p:spPr>
          <a:xfrm>
            <a:off x="3814911" y="3985236"/>
            <a:ext cx="1872754" cy="1752202"/>
          </a:xfrm>
          <a:prstGeom prst="roundRect">
            <a:avLst/>
          </a:prstGeom>
          <a:solidFill>
            <a:schemeClr val="accent2">
              <a:lumMod val="20000"/>
              <a:lumOff val="80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D836B194-01E7-3BA8-732C-6488CCA45D14}"/>
              </a:ext>
            </a:extLst>
          </p:cNvPr>
          <p:cNvSpPr/>
          <p:nvPr/>
        </p:nvSpPr>
        <p:spPr>
          <a:xfrm>
            <a:off x="5575409" y="1439797"/>
            <a:ext cx="1871453" cy="1795703"/>
          </a:xfrm>
          <a:prstGeom prst="roundRect">
            <a:avLst/>
          </a:prstGeom>
          <a:solidFill>
            <a:schemeClr val="accent3">
              <a:lumMod val="20000"/>
              <a:lumOff val="80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D8A595EC-BA03-9044-B7F8-512F3D8E2D0E}"/>
              </a:ext>
            </a:extLst>
          </p:cNvPr>
          <p:cNvSpPr/>
          <p:nvPr/>
        </p:nvSpPr>
        <p:spPr>
          <a:xfrm>
            <a:off x="7758311" y="1352016"/>
            <a:ext cx="2293305" cy="1830205"/>
          </a:xfrm>
          <a:prstGeom prst="roundRect">
            <a:avLst/>
          </a:prstGeom>
          <a:solidFill>
            <a:srgbClr val="FBC3C4"/>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864FB5F3-B5F4-24C1-31C9-0CA098015AFB}"/>
              </a:ext>
            </a:extLst>
          </p:cNvPr>
          <p:cNvSpPr txBox="1"/>
          <p:nvPr/>
        </p:nvSpPr>
        <p:spPr>
          <a:xfrm>
            <a:off x="3252881" y="1730967"/>
            <a:ext cx="1810974" cy="1200329"/>
          </a:xfrm>
          <a:prstGeom prst="rect">
            <a:avLst/>
          </a:prstGeom>
          <a:noFill/>
        </p:spPr>
        <p:txBody>
          <a:bodyPr wrap="square">
            <a:spAutoFit/>
          </a:bodyPr>
          <a:lstStyle/>
          <a:p>
            <a:pPr>
              <a:buNone/>
            </a:pPr>
            <a:r>
              <a:rPr lang="en-IN" sz="1200" b="1"/>
              <a:t>Dec 2025 – Establishment</a:t>
            </a:r>
          </a:p>
          <a:p>
            <a:pPr marL="171450" indent="-171450">
              <a:buFont typeface="Arial" panose="020B0604020202020204" pitchFamily="34" charset="0"/>
              <a:buChar char="•"/>
            </a:pPr>
            <a:r>
              <a:rPr lang="en-IN" sz="1200"/>
              <a:t>Ingest data from BW, SAP, SQL Server, </a:t>
            </a:r>
            <a:r>
              <a:rPr lang="en-IN" sz="1200" err="1"/>
              <a:t>JDrive</a:t>
            </a:r>
            <a:r>
              <a:rPr lang="en-IN" sz="1200"/>
              <a:t>, SharePoint</a:t>
            </a:r>
          </a:p>
          <a:p>
            <a:endParaRPr lang="en-IN" sz="1200"/>
          </a:p>
          <a:p>
            <a:r>
              <a:rPr lang="en-IN" sz="1200" b="1"/>
              <a:t>Focus:</a:t>
            </a:r>
            <a:r>
              <a:rPr lang="en-IN" sz="1200"/>
              <a:t> Data integration</a:t>
            </a:r>
          </a:p>
        </p:txBody>
      </p:sp>
      <p:sp>
        <p:nvSpPr>
          <p:cNvPr id="20" name="TextBox 19">
            <a:extLst>
              <a:ext uri="{FF2B5EF4-FFF2-40B4-BE49-F238E27FC236}">
                <a16:creationId xmlns:a16="http://schemas.microsoft.com/office/drawing/2014/main" id="{8F2040DA-151B-F973-44CE-E7FC4A47410E}"/>
              </a:ext>
            </a:extLst>
          </p:cNvPr>
          <p:cNvSpPr txBox="1"/>
          <p:nvPr/>
        </p:nvSpPr>
        <p:spPr>
          <a:xfrm>
            <a:off x="3876293" y="4068747"/>
            <a:ext cx="1872753" cy="1569660"/>
          </a:xfrm>
          <a:prstGeom prst="rect">
            <a:avLst/>
          </a:prstGeom>
          <a:noFill/>
        </p:spPr>
        <p:txBody>
          <a:bodyPr wrap="square">
            <a:spAutoFit/>
          </a:bodyPr>
          <a:lstStyle/>
          <a:p>
            <a:pPr>
              <a:buNone/>
            </a:pPr>
            <a:r>
              <a:rPr lang="en-US" sz="1200" b="1"/>
              <a:t>Jan 2026 – Alignment</a:t>
            </a:r>
          </a:p>
          <a:p>
            <a:pPr marL="171450" indent="-171450">
              <a:buFont typeface="Arial" panose="020B0604020202020204" pitchFamily="34" charset="0"/>
              <a:buChar char="•"/>
            </a:pPr>
            <a:r>
              <a:rPr lang="en-US" sz="1200"/>
              <a:t>Product, region, territory, and transaction standardization</a:t>
            </a:r>
          </a:p>
          <a:p>
            <a:endParaRPr lang="en-US" sz="1200"/>
          </a:p>
          <a:p>
            <a:r>
              <a:rPr lang="en-US" sz="1200" b="1"/>
              <a:t>Focus:</a:t>
            </a:r>
            <a:r>
              <a:rPr lang="en-US" sz="1200"/>
              <a:t> Common definitions across systems</a:t>
            </a:r>
          </a:p>
        </p:txBody>
      </p:sp>
      <p:sp>
        <p:nvSpPr>
          <p:cNvPr id="22" name="TextBox 21">
            <a:extLst>
              <a:ext uri="{FF2B5EF4-FFF2-40B4-BE49-F238E27FC236}">
                <a16:creationId xmlns:a16="http://schemas.microsoft.com/office/drawing/2014/main" id="{935B5837-F752-05DE-B1CA-BF9DDE822989}"/>
              </a:ext>
            </a:extLst>
          </p:cNvPr>
          <p:cNvSpPr txBox="1"/>
          <p:nvPr/>
        </p:nvSpPr>
        <p:spPr>
          <a:xfrm>
            <a:off x="5606332" y="1645150"/>
            <a:ext cx="2006252" cy="1384995"/>
          </a:xfrm>
          <a:prstGeom prst="rect">
            <a:avLst/>
          </a:prstGeom>
          <a:noFill/>
        </p:spPr>
        <p:txBody>
          <a:bodyPr wrap="square">
            <a:spAutoFit/>
          </a:bodyPr>
          <a:lstStyle/>
          <a:p>
            <a:pPr>
              <a:buNone/>
            </a:pPr>
            <a:r>
              <a:rPr lang="en-US" sz="1200" b="1"/>
              <a:t>Feb 2026 – Harmonization</a:t>
            </a:r>
          </a:p>
          <a:p>
            <a:pPr marL="171450" indent="-171450">
              <a:buFont typeface="Arial" panose="020B0604020202020204" pitchFamily="34" charset="0"/>
              <a:buChar char="•"/>
            </a:pPr>
            <a:r>
              <a:rPr lang="en-US" sz="1200"/>
              <a:t>Rebuild FP&amp;A models (Databricks)</a:t>
            </a:r>
          </a:p>
          <a:p>
            <a:pPr marL="171450" indent="-171450">
              <a:buFont typeface="Arial" panose="020B0604020202020204" pitchFamily="34" charset="0"/>
              <a:buChar char="•"/>
            </a:pPr>
            <a:r>
              <a:rPr lang="en-US" sz="1200"/>
              <a:t>Create semantic layer</a:t>
            </a:r>
          </a:p>
          <a:p>
            <a:pPr marL="171450" indent="-171450">
              <a:buFont typeface="Arial" panose="020B0604020202020204" pitchFamily="34" charset="0"/>
              <a:buChar char="•"/>
            </a:pPr>
            <a:r>
              <a:rPr lang="en-US" sz="1200"/>
              <a:t>Validation and sign-off</a:t>
            </a:r>
          </a:p>
          <a:p>
            <a:endParaRPr lang="en-US" sz="1200"/>
          </a:p>
          <a:p>
            <a:r>
              <a:rPr lang="en-US" sz="1200" b="1"/>
              <a:t>Focus:</a:t>
            </a:r>
            <a:r>
              <a:rPr lang="en-US" sz="1200"/>
              <a:t> Single data model</a:t>
            </a:r>
          </a:p>
        </p:txBody>
      </p:sp>
      <p:sp>
        <p:nvSpPr>
          <p:cNvPr id="26" name="TextBox 25">
            <a:extLst>
              <a:ext uri="{FF2B5EF4-FFF2-40B4-BE49-F238E27FC236}">
                <a16:creationId xmlns:a16="http://schemas.microsoft.com/office/drawing/2014/main" id="{571FA50B-FD58-647C-94D9-4AD2B2ED20A0}"/>
              </a:ext>
            </a:extLst>
          </p:cNvPr>
          <p:cNvSpPr txBox="1"/>
          <p:nvPr/>
        </p:nvSpPr>
        <p:spPr>
          <a:xfrm>
            <a:off x="7854296" y="1413398"/>
            <a:ext cx="2157498" cy="1754326"/>
          </a:xfrm>
          <a:prstGeom prst="rect">
            <a:avLst/>
          </a:prstGeom>
          <a:noFill/>
        </p:spPr>
        <p:txBody>
          <a:bodyPr wrap="square">
            <a:spAutoFit/>
          </a:bodyPr>
          <a:lstStyle/>
          <a:p>
            <a:pPr>
              <a:buNone/>
            </a:pPr>
            <a:r>
              <a:rPr lang="en-US" sz="1200" b="1"/>
              <a:t>Apr 2026 – Enhancements (R2)</a:t>
            </a:r>
          </a:p>
          <a:p>
            <a:pPr marL="171450" indent="-171450">
              <a:buFont typeface="Arial" panose="020B0604020202020204" pitchFamily="34" charset="0"/>
              <a:buChar char="•"/>
            </a:pPr>
            <a:r>
              <a:rPr lang="en-US" sz="1200"/>
              <a:t>Booking and shipment dashboards</a:t>
            </a:r>
          </a:p>
          <a:p>
            <a:pPr marL="171450" indent="-171450">
              <a:buFont typeface="Arial" panose="020B0604020202020204" pitchFamily="34" charset="0"/>
              <a:buChar char="•"/>
            </a:pPr>
            <a:r>
              <a:rPr lang="en-US" sz="1200"/>
              <a:t>Profitability (standard cost)</a:t>
            </a:r>
          </a:p>
          <a:p>
            <a:pPr marL="171450" indent="-171450">
              <a:buFont typeface="Arial" panose="020B0604020202020204" pitchFamily="34" charset="0"/>
              <a:buChar char="•"/>
            </a:pPr>
            <a:r>
              <a:rPr lang="en-US" sz="1200"/>
              <a:t>Customer segmentation implementation</a:t>
            </a:r>
          </a:p>
          <a:p>
            <a:pPr marL="171450" indent="-171450">
              <a:buFont typeface="Arial" panose="020B0604020202020204" pitchFamily="34" charset="0"/>
              <a:buChar char="•"/>
            </a:pPr>
            <a:r>
              <a:rPr lang="en-US" sz="1200"/>
              <a:t>Sustainability – Reports development</a:t>
            </a:r>
          </a:p>
          <a:p>
            <a:r>
              <a:rPr lang="en-US" sz="1200" b="1"/>
              <a:t>Focus:</a:t>
            </a:r>
            <a:r>
              <a:rPr lang="en-US" sz="1200"/>
              <a:t> Reporting and analysis</a:t>
            </a:r>
          </a:p>
        </p:txBody>
      </p:sp>
      <p:sp>
        <p:nvSpPr>
          <p:cNvPr id="31" name="TextBox 30">
            <a:extLst>
              <a:ext uri="{FF2B5EF4-FFF2-40B4-BE49-F238E27FC236}">
                <a16:creationId xmlns:a16="http://schemas.microsoft.com/office/drawing/2014/main" id="{EB5F231C-EDAD-748F-4CEA-B25BEACA4B54}"/>
              </a:ext>
            </a:extLst>
          </p:cNvPr>
          <p:cNvSpPr txBox="1"/>
          <p:nvPr/>
        </p:nvSpPr>
        <p:spPr>
          <a:xfrm>
            <a:off x="-50884" y="968285"/>
            <a:ext cx="2975838" cy="584775"/>
          </a:xfrm>
          <a:prstGeom prst="rect">
            <a:avLst/>
          </a:prstGeom>
          <a:noFill/>
        </p:spPr>
        <p:txBody>
          <a:bodyPr wrap="square">
            <a:spAutoFit/>
          </a:bodyPr>
          <a:lstStyle/>
          <a:p>
            <a:pPr algn="ctr">
              <a:buNone/>
            </a:pPr>
            <a:r>
              <a:rPr lang="en-US" sz="1600" b="1">
                <a:solidFill>
                  <a:schemeClr val="accent5">
                    <a:lumMod val="75000"/>
                  </a:schemeClr>
                </a:solidFill>
              </a:rPr>
              <a:t>Strategy &amp; Organization</a:t>
            </a:r>
          </a:p>
          <a:p>
            <a:pPr algn="ctr">
              <a:buNone/>
            </a:pPr>
            <a:r>
              <a:rPr lang="en-US" sz="1600" b="1">
                <a:solidFill>
                  <a:schemeClr val="accent5">
                    <a:lumMod val="75000"/>
                  </a:schemeClr>
                </a:solidFill>
              </a:rPr>
              <a:t>Phase 1</a:t>
            </a:r>
          </a:p>
        </p:txBody>
      </p:sp>
      <p:sp>
        <p:nvSpPr>
          <p:cNvPr id="32" name="TextBox 31">
            <a:extLst>
              <a:ext uri="{FF2B5EF4-FFF2-40B4-BE49-F238E27FC236}">
                <a16:creationId xmlns:a16="http://schemas.microsoft.com/office/drawing/2014/main" id="{B9FF6031-8C8A-EE75-C075-2D8B915E6973}"/>
              </a:ext>
            </a:extLst>
          </p:cNvPr>
          <p:cNvSpPr txBox="1"/>
          <p:nvPr/>
        </p:nvSpPr>
        <p:spPr>
          <a:xfrm>
            <a:off x="5584888" y="968285"/>
            <a:ext cx="3585750" cy="338554"/>
          </a:xfrm>
          <a:prstGeom prst="rect">
            <a:avLst/>
          </a:prstGeom>
          <a:noFill/>
        </p:spPr>
        <p:txBody>
          <a:bodyPr wrap="square">
            <a:spAutoFit/>
          </a:bodyPr>
          <a:lstStyle/>
          <a:p>
            <a:pPr algn="just">
              <a:buNone/>
            </a:pPr>
            <a:r>
              <a:rPr lang="en-US" sz="1600" b="1">
                <a:solidFill>
                  <a:schemeClr val="accent5">
                    <a:lumMod val="75000"/>
                  </a:schemeClr>
                </a:solidFill>
              </a:rPr>
              <a:t>Transformation &amp; Integration - Phase 2</a:t>
            </a:r>
          </a:p>
        </p:txBody>
      </p:sp>
      <p:sp>
        <p:nvSpPr>
          <p:cNvPr id="34" name="Arrow: Right 33">
            <a:extLst>
              <a:ext uri="{FF2B5EF4-FFF2-40B4-BE49-F238E27FC236}">
                <a16:creationId xmlns:a16="http://schemas.microsoft.com/office/drawing/2014/main" id="{47A853F7-FE66-5228-DB19-AB75E52C85C5}"/>
              </a:ext>
            </a:extLst>
          </p:cNvPr>
          <p:cNvSpPr/>
          <p:nvPr/>
        </p:nvSpPr>
        <p:spPr>
          <a:xfrm>
            <a:off x="4645727" y="3382067"/>
            <a:ext cx="550001" cy="338555"/>
          </a:xfrm>
          <a:prstGeom prst="rightArrow">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path path="circle">
              <a:fillToRect l="50000" t="50000" r="50000" b="50000"/>
            </a:path>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Arrow: Right 32">
            <a:extLst>
              <a:ext uri="{FF2B5EF4-FFF2-40B4-BE49-F238E27FC236}">
                <a16:creationId xmlns:a16="http://schemas.microsoft.com/office/drawing/2014/main" id="{8B013952-53FA-6284-9234-1AE41ED9B341}"/>
              </a:ext>
            </a:extLst>
          </p:cNvPr>
          <p:cNvSpPr/>
          <p:nvPr/>
        </p:nvSpPr>
        <p:spPr>
          <a:xfrm>
            <a:off x="2697839" y="3386406"/>
            <a:ext cx="323523" cy="338555"/>
          </a:xfrm>
          <a:prstGeom prst="rightArrow">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path path="circle">
              <a:fillToRect l="50000" t="50000" r="50000" b="50000"/>
            </a:path>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Right 35">
            <a:extLst>
              <a:ext uri="{FF2B5EF4-FFF2-40B4-BE49-F238E27FC236}">
                <a16:creationId xmlns:a16="http://schemas.microsoft.com/office/drawing/2014/main" id="{B2963290-DF78-E81E-767B-BB966C27231E}"/>
              </a:ext>
            </a:extLst>
          </p:cNvPr>
          <p:cNvSpPr/>
          <p:nvPr/>
        </p:nvSpPr>
        <p:spPr>
          <a:xfrm>
            <a:off x="7211101" y="3376822"/>
            <a:ext cx="550001" cy="338555"/>
          </a:xfrm>
          <a:prstGeom prst="rightArrow">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path path="circle">
              <a:fillToRect l="50000" t="50000" r="50000" b="50000"/>
            </a:path>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Arrow: Right 36">
            <a:extLst>
              <a:ext uri="{FF2B5EF4-FFF2-40B4-BE49-F238E27FC236}">
                <a16:creationId xmlns:a16="http://schemas.microsoft.com/office/drawing/2014/main" id="{92CAB9F6-102B-BFC4-9634-C90701C58295}"/>
              </a:ext>
            </a:extLst>
          </p:cNvPr>
          <p:cNvSpPr/>
          <p:nvPr/>
        </p:nvSpPr>
        <p:spPr>
          <a:xfrm>
            <a:off x="10089731" y="3375883"/>
            <a:ext cx="583172" cy="395614"/>
          </a:xfrm>
          <a:prstGeom prst="rightArrow">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path path="circle">
              <a:fillToRect l="50000" t="50000" r="50000" b="50000"/>
            </a:path>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4129930A-EDDF-387A-665F-626EE49CEF0D}"/>
              </a:ext>
            </a:extLst>
          </p:cNvPr>
          <p:cNvSpPr/>
          <p:nvPr/>
        </p:nvSpPr>
        <p:spPr>
          <a:xfrm>
            <a:off x="3122996" y="3328041"/>
            <a:ext cx="8726207" cy="454173"/>
          </a:xfrm>
          <a:prstGeom prst="rightArrow">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path path="circle">
              <a:fillToRect l="50000" t="50000" r="50000" b="50000"/>
            </a:path>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7F95D078-11BA-8B52-D6E1-5744CBE44263}"/>
              </a:ext>
            </a:extLst>
          </p:cNvPr>
          <p:cNvSpPr/>
          <p:nvPr/>
        </p:nvSpPr>
        <p:spPr>
          <a:xfrm>
            <a:off x="6177027" y="4017676"/>
            <a:ext cx="2423317" cy="1690296"/>
          </a:xfrm>
          <a:prstGeom prst="roundRect">
            <a:avLst/>
          </a:prstGeom>
          <a:solidFill>
            <a:srgbClr val="C1FDE9"/>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66C784D-3496-EC60-1A30-8FEEBBE2C682}"/>
              </a:ext>
            </a:extLst>
          </p:cNvPr>
          <p:cNvSpPr txBox="1"/>
          <p:nvPr/>
        </p:nvSpPr>
        <p:spPr>
          <a:xfrm>
            <a:off x="6333328" y="4025840"/>
            <a:ext cx="2423311" cy="2123658"/>
          </a:xfrm>
          <a:prstGeom prst="rect">
            <a:avLst/>
          </a:prstGeom>
          <a:noFill/>
        </p:spPr>
        <p:txBody>
          <a:bodyPr wrap="square">
            <a:spAutoFit/>
          </a:bodyPr>
          <a:lstStyle/>
          <a:p>
            <a:pPr>
              <a:buNone/>
            </a:pPr>
            <a:r>
              <a:rPr lang="en-US" sz="1200" b="1"/>
              <a:t>Mar 2026 – Enhancements (R1)</a:t>
            </a:r>
          </a:p>
          <a:p>
            <a:pPr marL="171450" indent="-171450">
              <a:buFont typeface="Arial" panose="020B0604020202020204" pitchFamily="34" charset="0"/>
              <a:buChar char="•"/>
            </a:pPr>
            <a:r>
              <a:rPr lang="en-US" sz="1200"/>
              <a:t>Booking process updates</a:t>
            </a:r>
          </a:p>
          <a:p>
            <a:pPr marL="171450" indent="-171450">
              <a:buFont typeface="Arial" panose="020B0604020202020204" pitchFamily="34" charset="0"/>
              <a:buChar char="•"/>
            </a:pPr>
            <a:r>
              <a:rPr lang="en-US" sz="1200"/>
              <a:t>New data go-live</a:t>
            </a:r>
          </a:p>
          <a:p>
            <a:pPr marL="171450" indent="-171450">
              <a:buFont typeface="Arial" panose="020B0604020202020204" pitchFamily="34" charset="0"/>
              <a:buChar char="•"/>
            </a:pPr>
            <a:r>
              <a:rPr lang="en-US" sz="1200"/>
              <a:t>Historical data extraction</a:t>
            </a:r>
          </a:p>
          <a:p>
            <a:pPr marL="171450" indent="-171450">
              <a:buFont typeface="Arial" panose="020B0604020202020204" pitchFamily="34" charset="0"/>
              <a:buChar char="•"/>
            </a:pPr>
            <a:r>
              <a:rPr lang="en-US" sz="1200"/>
              <a:t>Customer segmentation definition</a:t>
            </a:r>
          </a:p>
          <a:p>
            <a:pPr marL="171450" indent="-171450">
              <a:buFont typeface="Arial" panose="020B0604020202020204" pitchFamily="34" charset="0"/>
              <a:buChar char="•"/>
            </a:pPr>
            <a:r>
              <a:rPr lang="en-US" sz="1200"/>
              <a:t>Sustainability – Design &amp; Development</a:t>
            </a:r>
          </a:p>
          <a:p>
            <a:r>
              <a:rPr lang="en-US" sz="1200" b="1"/>
              <a:t>Focus:</a:t>
            </a:r>
            <a:r>
              <a:rPr lang="en-US" sz="1200"/>
              <a:t> Transition to new system</a:t>
            </a:r>
          </a:p>
          <a:p>
            <a:pPr marL="171450" indent="-171450">
              <a:buFont typeface="Arial" panose="020B0604020202020204" pitchFamily="34" charset="0"/>
              <a:buChar char="•"/>
            </a:pPr>
            <a:endParaRPr lang="en-US" sz="1200"/>
          </a:p>
          <a:p>
            <a:endParaRPr lang="en-US" sz="1200"/>
          </a:p>
        </p:txBody>
      </p:sp>
      <p:cxnSp>
        <p:nvCxnSpPr>
          <p:cNvPr id="19" name="Straight Connector 18">
            <a:extLst>
              <a:ext uri="{FF2B5EF4-FFF2-40B4-BE49-F238E27FC236}">
                <a16:creationId xmlns:a16="http://schemas.microsoft.com/office/drawing/2014/main" id="{72F2BFE4-E090-3558-2E7F-EE5BE63D04C4}"/>
              </a:ext>
            </a:extLst>
          </p:cNvPr>
          <p:cNvCxnSpPr>
            <a:cxnSpLocks/>
            <a:stCxn id="12" idx="2"/>
          </p:cNvCxnSpPr>
          <p:nvPr/>
        </p:nvCxnSpPr>
        <p:spPr>
          <a:xfrm>
            <a:off x="4112258" y="3286285"/>
            <a:ext cx="0" cy="169808"/>
          </a:xfrm>
          <a:prstGeom prst="line">
            <a:avLst/>
          </a:prstGeom>
          <a:ln w="38100"/>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117AA666-25C0-5C28-4694-3AAE0B1278BC}"/>
              </a:ext>
            </a:extLst>
          </p:cNvPr>
          <p:cNvCxnSpPr>
            <a:cxnSpLocks/>
            <a:endCxn id="13" idx="0"/>
          </p:cNvCxnSpPr>
          <p:nvPr/>
        </p:nvCxnSpPr>
        <p:spPr>
          <a:xfrm>
            <a:off x="4751288" y="3666638"/>
            <a:ext cx="0" cy="318598"/>
          </a:xfrm>
          <a:prstGeom prst="line">
            <a:avLst/>
          </a:prstGeom>
          <a:ln w="38100"/>
        </p:spPr>
        <p:style>
          <a:lnRef idx="3">
            <a:schemeClr val="dk1"/>
          </a:lnRef>
          <a:fillRef idx="0">
            <a:schemeClr val="dk1"/>
          </a:fillRef>
          <a:effectRef idx="2">
            <a:schemeClr val="dk1"/>
          </a:effectRef>
          <a:fontRef idx="minor">
            <a:schemeClr val="tx1"/>
          </a:fontRef>
        </p:style>
      </p:cxnSp>
      <p:cxnSp>
        <p:nvCxnSpPr>
          <p:cNvPr id="39" name="Straight Connector 38">
            <a:extLst>
              <a:ext uri="{FF2B5EF4-FFF2-40B4-BE49-F238E27FC236}">
                <a16:creationId xmlns:a16="http://schemas.microsoft.com/office/drawing/2014/main" id="{7D0C0E5C-E646-4BE5-3AD7-073EB6F99D7C}"/>
              </a:ext>
            </a:extLst>
          </p:cNvPr>
          <p:cNvCxnSpPr>
            <a:cxnSpLocks/>
            <a:stCxn id="14" idx="2"/>
          </p:cNvCxnSpPr>
          <p:nvPr/>
        </p:nvCxnSpPr>
        <p:spPr>
          <a:xfrm>
            <a:off x="6511136" y="3235500"/>
            <a:ext cx="2648" cy="205353"/>
          </a:xfrm>
          <a:prstGeom prst="line">
            <a:avLst/>
          </a:prstGeom>
          <a:ln w="38100"/>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93F14AD5-CED3-F752-754A-5A9B918BC4E9}"/>
              </a:ext>
            </a:extLst>
          </p:cNvPr>
          <p:cNvCxnSpPr>
            <a:cxnSpLocks/>
            <a:endCxn id="2" idx="0"/>
          </p:cNvCxnSpPr>
          <p:nvPr/>
        </p:nvCxnSpPr>
        <p:spPr>
          <a:xfrm>
            <a:off x="7388685" y="3671577"/>
            <a:ext cx="1" cy="346099"/>
          </a:xfrm>
          <a:prstGeom prst="line">
            <a:avLst/>
          </a:prstGeom>
          <a:ln w="38100"/>
        </p:spPr>
        <p:style>
          <a:lnRef idx="3">
            <a:schemeClr val="dk1"/>
          </a:lnRef>
          <a:fillRef idx="0">
            <a:schemeClr val="dk1"/>
          </a:fillRef>
          <a:effectRef idx="2">
            <a:schemeClr val="dk1"/>
          </a:effectRef>
          <a:fontRef idx="minor">
            <a:schemeClr val="tx1"/>
          </a:fontRef>
        </p:style>
      </p:cxnSp>
      <p:cxnSp>
        <p:nvCxnSpPr>
          <p:cNvPr id="45" name="Straight Connector 44">
            <a:extLst>
              <a:ext uri="{FF2B5EF4-FFF2-40B4-BE49-F238E27FC236}">
                <a16:creationId xmlns:a16="http://schemas.microsoft.com/office/drawing/2014/main" id="{36CD119A-8008-D163-42A5-9D6C1D6504FD}"/>
              </a:ext>
            </a:extLst>
          </p:cNvPr>
          <p:cNvCxnSpPr>
            <a:cxnSpLocks/>
            <a:stCxn id="16" idx="2"/>
          </p:cNvCxnSpPr>
          <p:nvPr/>
        </p:nvCxnSpPr>
        <p:spPr>
          <a:xfrm>
            <a:off x="8904964" y="3182221"/>
            <a:ext cx="0" cy="266174"/>
          </a:xfrm>
          <a:prstGeom prst="line">
            <a:avLst/>
          </a:prstGeom>
          <a:ln w="38100"/>
        </p:spPr>
        <p:style>
          <a:lnRef idx="3">
            <a:schemeClr val="dk1"/>
          </a:lnRef>
          <a:fillRef idx="0">
            <a:schemeClr val="dk1"/>
          </a:fillRef>
          <a:effectRef idx="2">
            <a:schemeClr val="dk1"/>
          </a:effectRef>
          <a:fontRef idx="minor">
            <a:schemeClr val="tx1"/>
          </a:fontRef>
        </p:style>
      </p:cxnSp>
      <p:sp>
        <p:nvSpPr>
          <p:cNvPr id="17" name="Rectangle: Rounded Corners 16">
            <a:extLst>
              <a:ext uri="{FF2B5EF4-FFF2-40B4-BE49-F238E27FC236}">
                <a16:creationId xmlns:a16="http://schemas.microsoft.com/office/drawing/2014/main" id="{A031ACDA-1203-5568-4F3D-63FD478E5356}"/>
              </a:ext>
            </a:extLst>
          </p:cNvPr>
          <p:cNvSpPr/>
          <p:nvPr/>
        </p:nvSpPr>
        <p:spPr>
          <a:xfrm>
            <a:off x="8948118" y="3948111"/>
            <a:ext cx="2833637" cy="1690296"/>
          </a:xfrm>
          <a:prstGeom prst="roundRect">
            <a:avLst/>
          </a:prstGeom>
          <a:solidFill>
            <a:schemeClr val="accent6">
              <a:lumMod val="40000"/>
              <a:lumOff val="60000"/>
            </a:schemeClr>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3" name="Straight Connector 22">
            <a:extLst>
              <a:ext uri="{FF2B5EF4-FFF2-40B4-BE49-F238E27FC236}">
                <a16:creationId xmlns:a16="http://schemas.microsoft.com/office/drawing/2014/main" id="{6CE4934A-7D7F-CD99-8933-8305F7ED4E71}"/>
              </a:ext>
            </a:extLst>
          </p:cNvPr>
          <p:cNvCxnSpPr>
            <a:cxnSpLocks/>
            <a:endCxn id="17" idx="0"/>
          </p:cNvCxnSpPr>
          <p:nvPr/>
        </p:nvCxnSpPr>
        <p:spPr>
          <a:xfrm>
            <a:off x="10364937" y="3664976"/>
            <a:ext cx="0" cy="283135"/>
          </a:xfrm>
          <a:prstGeom prst="line">
            <a:avLst/>
          </a:prstGeom>
          <a:ln w="38100"/>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E0F8E76F-0E77-8333-71DF-170D38C3D1E4}"/>
              </a:ext>
            </a:extLst>
          </p:cNvPr>
          <p:cNvSpPr txBox="1"/>
          <p:nvPr/>
        </p:nvSpPr>
        <p:spPr>
          <a:xfrm>
            <a:off x="9068919" y="4032422"/>
            <a:ext cx="3038108" cy="1938992"/>
          </a:xfrm>
          <a:prstGeom prst="rect">
            <a:avLst/>
          </a:prstGeom>
          <a:noFill/>
        </p:spPr>
        <p:txBody>
          <a:bodyPr wrap="square">
            <a:spAutoFit/>
          </a:bodyPr>
          <a:lstStyle/>
          <a:p>
            <a:pPr>
              <a:buNone/>
            </a:pPr>
            <a:r>
              <a:rPr lang="en-US" sz="1200" b="1"/>
              <a:t>May 2026 – Enhancements (R3)</a:t>
            </a:r>
          </a:p>
          <a:p>
            <a:r>
              <a:rPr lang="en-US" sz="1200"/>
              <a:t>• Booking &amp; Shipment  Process updates</a:t>
            </a:r>
          </a:p>
          <a:p>
            <a:r>
              <a:rPr lang="en-US" sz="1200"/>
              <a:t>• One Nova Pending Shipment-  Design</a:t>
            </a:r>
          </a:p>
          <a:p>
            <a:r>
              <a:rPr lang="en-US" sz="1200"/>
              <a:t>• Analyzer Installed Base report</a:t>
            </a:r>
          </a:p>
          <a:p>
            <a:r>
              <a:rPr lang="en-US" sz="1200"/>
              <a:t>• Creating Pivotal Semantic Model</a:t>
            </a:r>
          </a:p>
          <a:p>
            <a:r>
              <a:rPr lang="en-US" sz="1200"/>
              <a:t>• Sustainability – Reporting development</a:t>
            </a:r>
          </a:p>
          <a:p>
            <a:r>
              <a:rPr lang="en-US" sz="1200"/>
              <a:t>• Australia State government  – Reporting </a:t>
            </a:r>
            <a:r>
              <a:rPr lang="en-US" sz="1200" b="1"/>
              <a:t>Focus:</a:t>
            </a:r>
            <a:r>
              <a:rPr lang="en-US" sz="1200"/>
              <a:t> Reporting and analysis</a:t>
            </a:r>
          </a:p>
          <a:p>
            <a:pPr marL="171450" indent="-171450">
              <a:buFont typeface="Arial" panose="020B0604020202020204" pitchFamily="34" charset="0"/>
              <a:buChar char="•"/>
            </a:pPr>
            <a:endParaRPr lang="en-US" sz="1200"/>
          </a:p>
          <a:p>
            <a:endParaRPr lang="en-US" sz="1200"/>
          </a:p>
        </p:txBody>
      </p:sp>
    </p:spTree>
    <p:extLst>
      <p:ext uri="{BB962C8B-B14F-4D97-AF65-F5344CB8AC3E}">
        <p14:creationId xmlns:p14="http://schemas.microsoft.com/office/powerpoint/2010/main" val="2880328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31EB6-984C-4E5E-5286-C81F32A97774}"/>
            </a:ext>
          </a:extLst>
        </p:cNvPr>
        <p:cNvGrpSpPr/>
        <p:nvPr/>
      </p:nvGrpSpPr>
      <p:grpSpPr>
        <a:xfrm>
          <a:off x="0" y="0"/>
          <a:ext cx="0" cy="0"/>
          <a:chOff x="0" y="0"/>
          <a:chExt cx="0" cy="0"/>
        </a:xfrm>
      </p:grpSpPr>
      <p:sp>
        <p:nvSpPr>
          <p:cNvPr id="29" name="Rectangle: Rounded Corners 28">
            <a:extLst>
              <a:ext uri="{FF2B5EF4-FFF2-40B4-BE49-F238E27FC236}">
                <a16:creationId xmlns:a16="http://schemas.microsoft.com/office/drawing/2014/main" id="{A7369EB9-5FA2-081A-9DD8-3F3A59FFB13B}"/>
              </a:ext>
            </a:extLst>
          </p:cNvPr>
          <p:cNvSpPr/>
          <p:nvPr/>
        </p:nvSpPr>
        <p:spPr>
          <a:xfrm>
            <a:off x="278452" y="968284"/>
            <a:ext cx="11635096" cy="4921431"/>
          </a:xfrm>
          <a:prstGeom prst="roundRect">
            <a:avLst>
              <a:gd name="adj" fmla="val 7941"/>
            </a:avLst>
          </a:prstGeom>
          <a:solidFill>
            <a:schemeClr val="bg1"/>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Slide Number Placeholder 3">
            <a:extLst>
              <a:ext uri="{FF2B5EF4-FFF2-40B4-BE49-F238E27FC236}">
                <a16:creationId xmlns:a16="http://schemas.microsoft.com/office/drawing/2014/main" id="{9712F073-697D-CD1B-F56C-4CB0D5F52722}"/>
              </a:ext>
            </a:extLst>
          </p:cNvPr>
          <p:cNvSpPr>
            <a:spLocks noGrp="1"/>
          </p:cNvSpPr>
          <p:nvPr>
            <p:ph type="sldNum" sz="quarter" idx="4"/>
          </p:nvPr>
        </p:nvSpPr>
        <p:spPr/>
        <p:txBody>
          <a:bodyPr/>
          <a:lstStyle/>
          <a:p>
            <a:fld id="{274CC3B9-6596-1243-9665-72A444B9047F}" type="slidenum">
              <a:rPr lang="en-CA" smtClean="0"/>
              <a:pPr/>
              <a:t>4</a:t>
            </a:fld>
            <a:endParaRPr lang="en-CA"/>
          </a:p>
        </p:txBody>
      </p:sp>
      <p:sp>
        <p:nvSpPr>
          <p:cNvPr id="7" name="Title 1">
            <a:extLst>
              <a:ext uri="{FF2B5EF4-FFF2-40B4-BE49-F238E27FC236}">
                <a16:creationId xmlns:a16="http://schemas.microsoft.com/office/drawing/2014/main" id="{77D2A6D8-D62B-4A29-014E-11F7637B7351}"/>
              </a:ext>
            </a:extLst>
          </p:cNvPr>
          <p:cNvSpPr txBox="1">
            <a:spLocks/>
          </p:cNvSpPr>
          <p:nvPr/>
        </p:nvSpPr>
        <p:spPr>
          <a:xfrm>
            <a:off x="465667" y="81763"/>
            <a:ext cx="11300236" cy="714306"/>
          </a:xfrm>
          <a:prstGeom prst="rect">
            <a:avLst/>
          </a:prstGeom>
        </p:spPr>
        <p:txBody>
          <a:bodyPr vert="horz" lIns="0" tIns="0" rIns="0" bIns="0" rtlCol="0" anchor="ctr">
            <a:normAutofit/>
          </a:bodyPr>
          <a:lstStyle>
            <a:lvl1pPr algn="l" defTabSz="914446" rtl="0" eaLnBrk="1" latinLnBrk="0" hangingPunct="1">
              <a:lnSpc>
                <a:spcPct val="100000"/>
              </a:lnSpc>
              <a:spcBef>
                <a:spcPct val="0"/>
              </a:spcBef>
              <a:buNone/>
              <a:defRPr sz="2400" b="1" kern="1200">
                <a:solidFill>
                  <a:srgbClr val="002060"/>
                </a:solidFill>
                <a:latin typeface="+mn-lt"/>
                <a:ea typeface="Segoe UI Historic" panose="020B0502040204020203" pitchFamily="34" charset="0"/>
                <a:cs typeface="Segoe UI Historic" panose="020B0502040204020203" pitchFamily="34" charset="0"/>
              </a:defRPr>
            </a:lvl1pPr>
          </a:lstStyle>
          <a:p>
            <a:r>
              <a:rPr lang="en-US"/>
              <a:t>Key Projects and What We Delivered</a:t>
            </a:r>
            <a:endParaRPr lang="en-IN"/>
          </a:p>
        </p:txBody>
      </p:sp>
      <p:sp>
        <p:nvSpPr>
          <p:cNvPr id="32" name="TextBox 31">
            <a:extLst>
              <a:ext uri="{FF2B5EF4-FFF2-40B4-BE49-F238E27FC236}">
                <a16:creationId xmlns:a16="http://schemas.microsoft.com/office/drawing/2014/main" id="{FE216A08-827F-B7EB-FFAE-B86901784812}"/>
              </a:ext>
            </a:extLst>
          </p:cNvPr>
          <p:cNvSpPr txBox="1"/>
          <p:nvPr/>
        </p:nvSpPr>
        <p:spPr>
          <a:xfrm>
            <a:off x="5584888" y="968285"/>
            <a:ext cx="3585750" cy="338554"/>
          </a:xfrm>
          <a:prstGeom prst="rect">
            <a:avLst/>
          </a:prstGeom>
          <a:noFill/>
        </p:spPr>
        <p:txBody>
          <a:bodyPr wrap="square">
            <a:spAutoFit/>
          </a:bodyPr>
          <a:lstStyle/>
          <a:p>
            <a:pPr algn="just">
              <a:buNone/>
            </a:pPr>
            <a:r>
              <a:rPr lang="en-US" sz="1600" b="1">
                <a:solidFill>
                  <a:schemeClr val="accent5">
                    <a:lumMod val="75000"/>
                  </a:schemeClr>
                </a:solidFill>
              </a:rPr>
              <a:t>Transformation &amp; Integration - Phase 2</a:t>
            </a:r>
          </a:p>
        </p:txBody>
      </p:sp>
      <p:sp>
        <p:nvSpPr>
          <p:cNvPr id="34" name="Arrow: Right 33">
            <a:extLst>
              <a:ext uri="{FF2B5EF4-FFF2-40B4-BE49-F238E27FC236}">
                <a16:creationId xmlns:a16="http://schemas.microsoft.com/office/drawing/2014/main" id="{9A4AF382-9F36-28A3-32AA-22806E01BD19}"/>
              </a:ext>
            </a:extLst>
          </p:cNvPr>
          <p:cNvSpPr/>
          <p:nvPr/>
        </p:nvSpPr>
        <p:spPr>
          <a:xfrm>
            <a:off x="4645727" y="3382067"/>
            <a:ext cx="550001" cy="338555"/>
          </a:xfrm>
          <a:prstGeom prst="rightArrow">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path path="circle">
              <a:fillToRect l="50000" t="50000" r="50000" b="50000"/>
            </a:path>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Arrow: Right 35">
            <a:extLst>
              <a:ext uri="{FF2B5EF4-FFF2-40B4-BE49-F238E27FC236}">
                <a16:creationId xmlns:a16="http://schemas.microsoft.com/office/drawing/2014/main" id="{D0E7F32D-6952-F9EF-1090-723CCFB7B0E9}"/>
              </a:ext>
            </a:extLst>
          </p:cNvPr>
          <p:cNvSpPr/>
          <p:nvPr/>
        </p:nvSpPr>
        <p:spPr>
          <a:xfrm>
            <a:off x="7211101" y="3376822"/>
            <a:ext cx="550001" cy="338555"/>
          </a:xfrm>
          <a:prstGeom prst="rightArrow">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path path="circle">
              <a:fillToRect l="50000" t="50000" r="50000" b="50000"/>
            </a:path>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Arrow: Right 36">
            <a:extLst>
              <a:ext uri="{FF2B5EF4-FFF2-40B4-BE49-F238E27FC236}">
                <a16:creationId xmlns:a16="http://schemas.microsoft.com/office/drawing/2014/main" id="{0C722582-BE9E-65F5-88D3-0EEF4FEDDA02}"/>
              </a:ext>
            </a:extLst>
          </p:cNvPr>
          <p:cNvSpPr/>
          <p:nvPr/>
        </p:nvSpPr>
        <p:spPr>
          <a:xfrm>
            <a:off x="10089731" y="3375883"/>
            <a:ext cx="583172" cy="395614"/>
          </a:xfrm>
          <a:prstGeom prst="rightArrow">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path path="circle">
              <a:fillToRect l="50000" t="50000" r="50000" b="50000"/>
            </a:path>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Rounded Corners 29">
            <a:extLst>
              <a:ext uri="{FF2B5EF4-FFF2-40B4-BE49-F238E27FC236}">
                <a16:creationId xmlns:a16="http://schemas.microsoft.com/office/drawing/2014/main" id="{3E9047BA-14F3-86DD-4567-8ECE6CC5D912}"/>
              </a:ext>
            </a:extLst>
          </p:cNvPr>
          <p:cNvSpPr/>
          <p:nvPr/>
        </p:nvSpPr>
        <p:spPr>
          <a:xfrm>
            <a:off x="951355" y="1293385"/>
            <a:ext cx="2128056" cy="1882433"/>
          </a:xfrm>
          <a:prstGeom prst="roundRect">
            <a:avLst/>
          </a:prstGeom>
          <a:solidFill>
            <a:srgbClr val="CDCDFF"/>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8" name="Straight Connector 37">
            <a:extLst>
              <a:ext uri="{FF2B5EF4-FFF2-40B4-BE49-F238E27FC236}">
                <a16:creationId xmlns:a16="http://schemas.microsoft.com/office/drawing/2014/main" id="{B3536121-B2D2-952E-6986-FBC5BC97969C}"/>
              </a:ext>
            </a:extLst>
          </p:cNvPr>
          <p:cNvCxnSpPr>
            <a:cxnSpLocks/>
          </p:cNvCxnSpPr>
          <p:nvPr/>
        </p:nvCxnSpPr>
        <p:spPr>
          <a:xfrm flipV="1">
            <a:off x="1964480" y="3175819"/>
            <a:ext cx="0" cy="253180"/>
          </a:xfrm>
          <a:prstGeom prst="line">
            <a:avLst/>
          </a:prstGeom>
          <a:ln w="38100"/>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C2F343CB-2021-59F2-8CCF-171482C15449}"/>
              </a:ext>
            </a:extLst>
          </p:cNvPr>
          <p:cNvSpPr txBox="1"/>
          <p:nvPr/>
        </p:nvSpPr>
        <p:spPr>
          <a:xfrm>
            <a:off x="939207" y="1357634"/>
            <a:ext cx="2255516" cy="1938992"/>
          </a:xfrm>
          <a:prstGeom prst="rect">
            <a:avLst/>
          </a:prstGeom>
          <a:noFill/>
        </p:spPr>
        <p:txBody>
          <a:bodyPr wrap="square">
            <a:spAutoFit/>
          </a:bodyPr>
          <a:lstStyle/>
          <a:p>
            <a:pPr>
              <a:buNone/>
            </a:pPr>
            <a:r>
              <a:rPr lang="en-US" sz="1200" b="1"/>
              <a:t>June 2026 – Enhancements (R4)</a:t>
            </a:r>
          </a:p>
          <a:p>
            <a:r>
              <a:rPr lang="en-US" sz="1200"/>
              <a:t>• Booking &amp; Shipment  Support</a:t>
            </a:r>
          </a:p>
          <a:p>
            <a:r>
              <a:rPr lang="en-US" sz="1200"/>
              <a:t>• One Nova Pending Shipment- Delivered</a:t>
            </a:r>
          </a:p>
          <a:p>
            <a:r>
              <a:rPr lang="en-US" sz="1200"/>
              <a:t>• Creating Pivotal Semantic Model Delivered</a:t>
            </a:r>
          </a:p>
          <a:p>
            <a:r>
              <a:rPr lang="en-US" sz="1200"/>
              <a:t>• Sustainability – Delivered</a:t>
            </a:r>
          </a:p>
          <a:p>
            <a:r>
              <a:rPr lang="en-US" sz="1200" b="1"/>
              <a:t>Focus:</a:t>
            </a:r>
            <a:r>
              <a:rPr lang="en-US" sz="1200"/>
              <a:t> Reporting and analysis</a:t>
            </a:r>
          </a:p>
          <a:p>
            <a:pPr marL="171450" indent="-171450">
              <a:buFont typeface="Arial" panose="020B0604020202020204" pitchFamily="34" charset="0"/>
              <a:buChar char="•"/>
            </a:pPr>
            <a:endParaRPr lang="en-US" sz="1200"/>
          </a:p>
          <a:p>
            <a:endParaRPr lang="en-US" sz="1200"/>
          </a:p>
        </p:txBody>
      </p:sp>
      <p:sp>
        <p:nvSpPr>
          <p:cNvPr id="6" name="Arrow: Right 5">
            <a:extLst>
              <a:ext uri="{FF2B5EF4-FFF2-40B4-BE49-F238E27FC236}">
                <a16:creationId xmlns:a16="http://schemas.microsoft.com/office/drawing/2014/main" id="{EE64187B-9838-E4CD-88F9-DD07D3773AFC}"/>
              </a:ext>
            </a:extLst>
          </p:cNvPr>
          <p:cNvSpPr/>
          <p:nvPr/>
        </p:nvSpPr>
        <p:spPr>
          <a:xfrm>
            <a:off x="2630354" y="3365772"/>
            <a:ext cx="550001" cy="338555"/>
          </a:xfrm>
          <a:prstGeom prst="rightArrow">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path path="circle">
              <a:fillToRect l="50000" t="50000" r="50000" b="50000"/>
            </a:path>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D30EF9FE-BF4F-7556-9E3A-BABBB661A066}"/>
              </a:ext>
            </a:extLst>
          </p:cNvPr>
          <p:cNvSpPr/>
          <p:nvPr/>
        </p:nvSpPr>
        <p:spPr>
          <a:xfrm>
            <a:off x="648930" y="3328041"/>
            <a:ext cx="11200274" cy="454173"/>
          </a:xfrm>
          <a:prstGeom prst="rightArrow">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path path="circle">
              <a:fillToRect l="50000" t="50000" r="50000" b="50000"/>
            </a:path>
            <a:tileRect/>
          </a:gra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759AE24C-A518-C084-15CA-65BBE6D94931}"/>
              </a:ext>
            </a:extLst>
          </p:cNvPr>
          <p:cNvSpPr/>
          <p:nvPr/>
        </p:nvSpPr>
        <p:spPr>
          <a:xfrm>
            <a:off x="2761351" y="3954429"/>
            <a:ext cx="2423317" cy="1690296"/>
          </a:xfrm>
          <a:prstGeom prst="roundRect">
            <a:avLst/>
          </a:prstGeom>
          <a:solidFill>
            <a:srgbClr val="C1FDE9"/>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45EA0126-2418-AF44-C717-ACF69897BB4D}"/>
              </a:ext>
            </a:extLst>
          </p:cNvPr>
          <p:cNvSpPr txBox="1"/>
          <p:nvPr/>
        </p:nvSpPr>
        <p:spPr>
          <a:xfrm>
            <a:off x="2884440" y="4075065"/>
            <a:ext cx="2423311" cy="1569660"/>
          </a:xfrm>
          <a:prstGeom prst="rect">
            <a:avLst/>
          </a:prstGeom>
          <a:noFill/>
        </p:spPr>
        <p:txBody>
          <a:bodyPr wrap="square">
            <a:spAutoFit/>
          </a:bodyPr>
          <a:lstStyle/>
          <a:p>
            <a:pPr>
              <a:buNone/>
            </a:pPr>
            <a:r>
              <a:rPr lang="en-US" sz="1200" b="1"/>
              <a:t>July 2026 – Enhancements (R5)</a:t>
            </a:r>
          </a:p>
          <a:p>
            <a:pPr marL="171450" indent="-171450">
              <a:buFont typeface="Arial" panose="020B0604020202020204" pitchFamily="34" charset="0"/>
              <a:buChar char="•"/>
            </a:pPr>
            <a:r>
              <a:rPr lang="en-US" sz="1200" err="1"/>
              <a:t>Ecc</a:t>
            </a:r>
            <a:r>
              <a:rPr lang="en-US" sz="1200"/>
              <a:t>  Migration</a:t>
            </a:r>
          </a:p>
          <a:p>
            <a:pPr marL="171450" indent="-171450">
              <a:buFont typeface="Arial" panose="020B0604020202020204" pitchFamily="34" charset="0"/>
              <a:buChar char="•"/>
            </a:pPr>
            <a:r>
              <a:rPr lang="en-US" sz="1200"/>
              <a:t>One Nova Profitability </a:t>
            </a:r>
          </a:p>
          <a:p>
            <a:pPr marL="171450" indent="-171450">
              <a:buFont typeface="Arial" panose="020B0604020202020204" pitchFamily="34" charset="0"/>
              <a:buChar char="•"/>
            </a:pPr>
            <a:r>
              <a:rPr lang="en-US" sz="1200"/>
              <a:t>Historical contracts</a:t>
            </a:r>
          </a:p>
          <a:p>
            <a:pPr marL="171450" indent="-171450">
              <a:buFont typeface="Arial" panose="020B0604020202020204" pitchFamily="34" charset="0"/>
              <a:buChar char="•"/>
            </a:pPr>
            <a:r>
              <a:rPr lang="en-US" sz="1200"/>
              <a:t>One Nova </a:t>
            </a:r>
            <a:r>
              <a:rPr lang="en-US" sz="1200" err="1"/>
              <a:t>openshipments</a:t>
            </a:r>
            <a:endParaRPr lang="en-US" sz="1200"/>
          </a:p>
          <a:p>
            <a:pPr marL="171450" indent="-171450">
              <a:buFont typeface="Arial" panose="020B0604020202020204" pitchFamily="34" charset="0"/>
              <a:buChar char="•"/>
            </a:pPr>
            <a:r>
              <a:rPr lang="en-US" sz="1200"/>
              <a:t>Sales Quota Dashboard</a:t>
            </a:r>
          </a:p>
          <a:p>
            <a:r>
              <a:rPr lang="en-US" sz="1200" b="1"/>
              <a:t>Focus:</a:t>
            </a:r>
            <a:r>
              <a:rPr lang="en-US" sz="1200"/>
              <a:t> Reporting and analysis</a:t>
            </a:r>
          </a:p>
          <a:p>
            <a:endParaRPr lang="en-US" sz="1200"/>
          </a:p>
        </p:txBody>
      </p:sp>
      <p:cxnSp>
        <p:nvCxnSpPr>
          <p:cNvPr id="47" name="Straight Connector 46">
            <a:extLst>
              <a:ext uri="{FF2B5EF4-FFF2-40B4-BE49-F238E27FC236}">
                <a16:creationId xmlns:a16="http://schemas.microsoft.com/office/drawing/2014/main" id="{ED680E26-38C0-FEC9-3726-886C50CAA547}"/>
              </a:ext>
            </a:extLst>
          </p:cNvPr>
          <p:cNvCxnSpPr>
            <a:cxnSpLocks/>
            <a:endCxn id="43" idx="0"/>
          </p:cNvCxnSpPr>
          <p:nvPr/>
        </p:nvCxnSpPr>
        <p:spPr>
          <a:xfrm>
            <a:off x="3973009" y="3608330"/>
            <a:ext cx="1" cy="346099"/>
          </a:xfrm>
          <a:prstGeom prst="line">
            <a:avLst/>
          </a:prstGeom>
          <a:ln w="3810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605539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C7A9-261C-2960-C085-01DBD9D55D79}"/>
            </a:ext>
          </a:extLst>
        </p:cNvPr>
        <p:cNvGrpSpPr/>
        <p:nvPr/>
      </p:nvGrpSpPr>
      <p:grpSpPr>
        <a:xfrm>
          <a:off x="0" y="0"/>
          <a:ext cx="0" cy="0"/>
          <a:chOff x="0" y="0"/>
          <a:chExt cx="0" cy="0"/>
        </a:xfrm>
      </p:grpSpPr>
      <p:cxnSp>
        <p:nvCxnSpPr>
          <p:cNvPr id="9" name="Straight Arrow Connector 8">
            <a:extLst>
              <a:ext uri="{FF2B5EF4-FFF2-40B4-BE49-F238E27FC236}">
                <a16:creationId xmlns:a16="http://schemas.microsoft.com/office/drawing/2014/main" id="{5EEA5880-D051-FD6E-985B-CC21CFC90897}"/>
              </a:ext>
            </a:extLst>
          </p:cNvPr>
          <p:cNvCxnSpPr>
            <a:cxnSpLocks/>
          </p:cNvCxnSpPr>
          <p:nvPr/>
        </p:nvCxnSpPr>
        <p:spPr>
          <a:xfrm>
            <a:off x="4235244" y="1867986"/>
            <a:ext cx="0" cy="15610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0F347B56-CB08-03C0-970D-BF4F5FF6A8FB}"/>
              </a:ext>
            </a:extLst>
          </p:cNvPr>
          <p:cNvSpPr>
            <a:spLocks noGrp="1"/>
          </p:cNvSpPr>
          <p:nvPr>
            <p:ph type="title"/>
          </p:nvPr>
        </p:nvSpPr>
        <p:spPr/>
        <p:txBody>
          <a:bodyPr>
            <a:normAutofit/>
          </a:bodyPr>
          <a:lstStyle/>
          <a:p>
            <a:r>
              <a:rPr lang="en-IN"/>
              <a:t>Team Structure &amp; Escalation Model</a:t>
            </a:r>
          </a:p>
        </p:txBody>
      </p:sp>
      <p:sp>
        <p:nvSpPr>
          <p:cNvPr id="4" name="Slide Number Placeholder 3">
            <a:extLst>
              <a:ext uri="{FF2B5EF4-FFF2-40B4-BE49-F238E27FC236}">
                <a16:creationId xmlns:a16="http://schemas.microsoft.com/office/drawing/2014/main" id="{79D1089F-DD0B-74EA-DE03-88F6CF812BC4}"/>
              </a:ext>
            </a:extLst>
          </p:cNvPr>
          <p:cNvSpPr>
            <a:spLocks noGrp="1"/>
          </p:cNvSpPr>
          <p:nvPr>
            <p:ph type="sldNum" sz="quarter" idx="4"/>
          </p:nvPr>
        </p:nvSpPr>
        <p:spPr/>
        <p:txBody>
          <a:bodyPr/>
          <a:lstStyle/>
          <a:p>
            <a:fld id="{274CC3B9-6596-1243-9665-72A444B9047F}" type="slidenum">
              <a:rPr lang="en-CA" smtClean="0"/>
              <a:pPr/>
              <a:t>5</a:t>
            </a:fld>
            <a:endParaRPr lang="en-CA"/>
          </a:p>
        </p:txBody>
      </p:sp>
      <p:sp>
        <p:nvSpPr>
          <p:cNvPr id="11" name="Content Placeholder 2">
            <a:extLst>
              <a:ext uri="{FF2B5EF4-FFF2-40B4-BE49-F238E27FC236}">
                <a16:creationId xmlns:a16="http://schemas.microsoft.com/office/drawing/2014/main" id="{C8E0EC14-8D22-91B1-5B3B-416FA9C73B3E}"/>
              </a:ext>
            </a:extLst>
          </p:cNvPr>
          <p:cNvSpPr>
            <a:spLocks noGrp="1"/>
          </p:cNvSpPr>
          <p:nvPr>
            <p:ph idx="1"/>
          </p:nvPr>
        </p:nvSpPr>
        <p:spPr>
          <a:xfrm>
            <a:off x="9048496" y="948094"/>
            <a:ext cx="1660419" cy="249299"/>
          </a:xfrm>
          <a:noFill/>
        </p:spPr>
        <p:txBody>
          <a:bodyPr wrap="square">
            <a:spAutoFit/>
          </a:bodyPr>
          <a:lstStyle/>
          <a:p>
            <a:pPr marL="0" defTabSz="914400">
              <a:buNone/>
            </a:pPr>
            <a:r>
              <a:rPr lang="en-US" sz="1800" b="1">
                <a:solidFill>
                  <a:schemeClr val="accent5">
                    <a:lumMod val="75000"/>
                  </a:schemeClr>
                </a:solidFill>
              </a:rPr>
              <a:t>Escalation Model </a:t>
            </a:r>
          </a:p>
        </p:txBody>
      </p:sp>
      <p:graphicFrame>
        <p:nvGraphicFramePr>
          <p:cNvPr id="13" name="Diagram 12">
            <a:extLst>
              <a:ext uri="{FF2B5EF4-FFF2-40B4-BE49-F238E27FC236}">
                <a16:creationId xmlns:a16="http://schemas.microsoft.com/office/drawing/2014/main" id="{F30E3736-32A2-1BF2-6AD9-64B5F6C8AEF4}"/>
              </a:ext>
            </a:extLst>
          </p:cNvPr>
          <p:cNvGraphicFramePr/>
          <p:nvPr/>
        </p:nvGraphicFramePr>
        <p:xfrm>
          <a:off x="8849314" y="2011170"/>
          <a:ext cx="2058787"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TextBox 14">
            <a:extLst>
              <a:ext uri="{FF2B5EF4-FFF2-40B4-BE49-F238E27FC236}">
                <a16:creationId xmlns:a16="http://schemas.microsoft.com/office/drawing/2014/main" id="{A4B8EAC1-C20B-6B43-C1AE-51AE4AFA4603}"/>
              </a:ext>
            </a:extLst>
          </p:cNvPr>
          <p:cNvSpPr txBox="1"/>
          <p:nvPr/>
        </p:nvSpPr>
        <p:spPr>
          <a:xfrm>
            <a:off x="8588758" y="1311707"/>
            <a:ext cx="2579897" cy="646331"/>
          </a:xfrm>
          <a:prstGeom prst="rect">
            <a:avLst/>
          </a:prstGeom>
          <a:noFill/>
        </p:spPr>
        <p:txBody>
          <a:bodyPr wrap="square">
            <a:spAutoFit/>
          </a:bodyPr>
          <a:lstStyle/>
          <a:p>
            <a:pPr algn="ctr"/>
            <a:r>
              <a:rPr lang="en-US" sz="1200">
                <a:ea typeface="+mn-lt"/>
                <a:cs typeface="+mn-lt"/>
              </a:rPr>
              <a:t>Routed through the client and project </a:t>
            </a:r>
            <a:br>
              <a:rPr lang="en-US" sz="1200">
                <a:ea typeface="+mn-lt"/>
                <a:cs typeface="+mn-lt"/>
              </a:rPr>
            </a:br>
            <a:r>
              <a:rPr lang="en-US" sz="1200">
                <a:ea typeface="+mn-lt"/>
                <a:cs typeface="+mn-lt"/>
              </a:rPr>
              <a:t>leadership teams for review and action</a:t>
            </a:r>
            <a:endParaRPr lang="en-IN" sz="1200"/>
          </a:p>
        </p:txBody>
      </p:sp>
      <p:sp>
        <p:nvSpPr>
          <p:cNvPr id="14" name="Content Placeholder 2">
            <a:extLst>
              <a:ext uri="{FF2B5EF4-FFF2-40B4-BE49-F238E27FC236}">
                <a16:creationId xmlns:a16="http://schemas.microsoft.com/office/drawing/2014/main" id="{B19B81A5-29EA-EF37-22FD-3247ED97F076}"/>
              </a:ext>
            </a:extLst>
          </p:cNvPr>
          <p:cNvSpPr txBox="1">
            <a:spLocks/>
          </p:cNvSpPr>
          <p:nvPr/>
        </p:nvSpPr>
        <p:spPr>
          <a:xfrm>
            <a:off x="3330060" y="817412"/>
            <a:ext cx="1660420" cy="369332"/>
          </a:xfrm>
          <a:prstGeom prst="rect">
            <a:avLst/>
          </a:prstGeom>
          <a:noFill/>
        </p:spPr>
        <p:txBody>
          <a:bodyPr wrap="square">
            <a:spAutoFit/>
          </a:bodyPr>
          <a:lstStyle>
            <a:defPPr>
              <a:defRPr lang="en-US"/>
            </a:defPPr>
            <a:lvl1pPr>
              <a:buNone/>
              <a:defRPr b="1">
                <a:solidFill>
                  <a:schemeClr val="accent5">
                    <a:lumMod val="75000"/>
                  </a:schemeClr>
                </a:solidFill>
              </a:defRPr>
            </a:lvl1pPr>
            <a:lvl2pPr marL="361968" indent="-180984" algn="l" defTabSz="914446" rtl="0" eaLnBrk="1" latinLnBrk="0" hangingPunct="1">
              <a:lnSpc>
                <a:spcPct val="90000"/>
              </a:lnSpc>
              <a:spcBef>
                <a:spcPts val="500"/>
              </a:spcBef>
              <a:buClr>
                <a:schemeClr val="accent5"/>
              </a:buClr>
              <a:buSzPct val="80000"/>
              <a:buFont typeface="Wingdings" panose="05000000000000000000" pitchFamily="2" charset="2"/>
              <a:buChar char="§"/>
              <a:defRPr sz="1600" b="0" i="0" kern="1200">
                <a:solidFill>
                  <a:schemeClr val="tx1"/>
                </a:solidFill>
                <a:latin typeface="+mn-lt"/>
                <a:ea typeface="+mn-ea"/>
                <a:cs typeface="+mn-cs"/>
              </a:defRPr>
            </a:lvl2pPr>
            <a:lvl3pPr marL="542952" indent="-180984" algn="l" defTabSz="914446" rtl="0" eaLnBrk="1" latinLnBrk="0" hangingPunct="1">
              <a:lnSpc>
                <a:spcPct val="90000"/>
              </a:lnSpc>
              <a:spcBef>
                <a:spcPts val="500"/>
              </a:spcBef>
              <a:buClr>
                <a:schemeClr val="accent5"/>
              </a:buClr>
              <a:buFont typeface="Arial" panose="020B0604020202020204" pitchFamily="34" charset="0"/>
              <a:buChar char="•"/>
              <a:defRPr sz="1600" b="0" i="0" kern="1200">
                <a:solidFill>
                  <a:schemeClr val="tx1"/>
                </a:solidFill>
                <a:latin typeface="+mn-lt"/>
                <a:ea typeface="+mn-ea"/>
                <a:cs typeface="+mn-cs"/>
              </a:defRPr>
            </a:lvl3pPr>
            <a:lvl4pPr marL="714411" indent="-171459" algn="l" defTabSz="914446" rtl="0" eaLnBrk="1" latinLnBrk="0" hangingPunct="1">
              <a:lnSpc>
                <a:spcPct val="90000"/>
              </a:lnSpc>
              <a:spcBef>
                <a:spcPts val="500"/>
              </a:spcBef>
              <a:buClr>
                <a:schemeClr val="accent5"/>
              </a:buClr>
              <a:buSzPct val="70000"/>
              <a:buFont typeface="Wingdings" panose="05000000000000000000" pitchFamily="2" charset="2"/>
              <a:buChar char="§"/>
              <a:defRPr sz="1600" b="0" i="0" kern="1200">
                <a:solidFill>
                  <a:schemeClr val="tx1"/>
                </a:solidFill>
                <a:latin typeface="+mn-lt"/>
                <a:ea typeface="+mn-ea"/>
                <a:cs typeface="+mn-cs"/>
              </a:defRPr>
            </a:lvl4pPr>
            <a:lvl5pPr marL="895395" indent="-180984" algn="l" defTabSz="914446" rtl="0" eaLnBrk="1" latinLnBrk="0" hangingPunct="1">
              <a:lnSpc>
                <a:spcPct val="90000"/>
              </a:lnSpc>
              <a:spcBef>
                <a:spcPts val="500"/>
              </a:spcBef>
              <a:buClr>
                <a:schemeClr val="accent5"/>
              </a:buClr>
              <a:buFont typeface="Calibri" panose="020F0502020204030204" pitchFamily="34" charset="0"/>
              <a:buChar char="‐"/>
              <a:defRPr sz="1600" b="0" i="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Team Structure</a:t>
            </a:r>
          </a:p>
        </p:txBody>
      </p:sp>
      <p:sp>
        <p:nvSpPr>
          <p:cNvPr id="16" name="Rectangle: Rounded Corners 15">
            <a:extLst>
              <a:ext uri="{FF2B5EF4-FFF2-40B4-BE49-F238E27FC236}">
                <a16:creationId xmlns:a16="http://schemas.microsoft.com/office/drawing/2014/main" id="{2C162F43-7BFD-2AE8-59BB-2A22C19E875C}"/>
              </a:ext>
            </a:extLst>
          </p:cNvPr>
          <p:cNvSpPr/>
          <p:nvPr/>
        </p:nvSpPr>
        <p:spPr>
          <a:xfrm>
            <a:off x="1283899" y="3712151"/>
            <a:ext cx="2772697" cy="1956619"/>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B30A012D-A654-9E1F-DC16-081A436B60A2}"/>
              </a:ext>
            </a:extLst>
          </p:cNvPr>
          <p:cNvSpPr/>
          <p:nvPr/>
        </p:nvSpPr>
        <p:spPr>
          <a:xfrm>
            <a:off x="4523628" y="3712150"/>
            <a:ext cx="2772697" cy="1956619"/>
          </a:xfrm>
          <a:prstGeom prst="round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6AF54AA0-96B1-273E-E162-2808AF94B4B6}"/>
              </a:ext>
            </a:extLst>
          </p:cNvPr>
          <p:cNvSpPr txBox="1"/>
          <p:nvPr/>
        </p:nvSpPr>
        <p:spPr>
          <a:xfrm>
            <a:off x="1475628" y="3712150"/>
            <a:ext cx="2462981" cy="369332"/>
          </a:xfrm>
          <a:prstGeom prst="rect">
            <a:avLst/>
          </a:prstGeom>
          <a:noFill/>
        </p:spPr>
        <p:txBody>
          <a:bodyPr wrap="square">
            <a:spAutoFit/>
          </a:bodyPr>
          <a:lstStyle/>
          <a:p>
            <a:r>
              <a:rPr lang="en-IN" b="1">
                <a:solidFill>
                  <a:schemeClr val="accent5">
                    <a:lumMod val="75000"/>
                  </a:schemeClr>
                </a:solidFill>
              </a:rPr>
              <a:t>DP - Management Team</a:t>
            </a:r>
          </a:p>
        </p:txBody>
      </p:sp>
      <p:sp>
        <p:nvSpPr>
          <p:cNvPr id="19" name="TextBox 18">
            <a:extLst>
              <a:ext uri="{FF2B5EF4-FFF2-40B4-BE49-F238E27FC236}">
                <a16:creationId xmlns:a16="http://schemas.microsoft.com/office/drawing/2014/main" id="{6E688A21-6379-4529-8A22-7AF6D81E9A0B}"/>
              </a:ext>
            </a:extLst>
          </p:cNvPr>
          <p:cNvSpPr txBox="1"/>
          <p:nvPr/>
        </p:nvSpPr>
        <p:spPr>
          <a:xfrm>
            <a:off x="4833344" y="3694147"/>
            <a:ext cx="2462981" cy="369332"/>
          </a:xfrm>
          <a:prstGeom prst="rect">
            <a:avLst/>
          </a:prstGeom>
          <a:noFill/>
        </p:spPr>
        <p:txBody>
          <a:bodyPr wrap="square">
            <a:spAutoFit/>
          </a:bodyPr>
          <a:lstStyle/>
          <a:p>
            <a:r>
              <a:rPr lang="en-IN" b="1">
                <a:solidFill>
                  <a:schemeClr val="accent5">
                    <a:lumMod val="75000"/>
                  </a:schemeClr>
                </a:solidFill>
              </a:rPr>
              <a:t>DP - Technical Team</a:t>
            </a:r>
          </a:p>
        </p:txBody>
      </p:sp>
      <p:sp>
        <p:nvSpPr>
          <p:cNvPr id="20" name="Rectangle: Rounded Corners 19">
            <a:extLst>
              <a:ext uri="{FF2B5EF4-FFF2-40B4-BE49-F238E27FC236}">
                <a16:creationId xmlns:a16="http://schemas.microsoft.com/office/drawing/2014/main" id="{74D0C664-C71C-285F-5996-363AD19745BA}"/>
              </a:ext>
            </a:extLst>
          </p:cNvPr>
          <p:cNvSpPr/>
          <p:nvPr/>
        </p:nvSpPr>
        <p:spPr>
          <a:xfrm>
            <a:off x="1475628" y="4269662"/>
            <a:ext cx="2261420" cy="41347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93AFE685-287D-EC43-25E9-AA2C4F80F517}"/>
              </a:ext>
            </a:extLst>
          </p:cNvPr>
          <p:cNvSpPr/>
          <p:nvPr/>
        </p:nvSpPr>
        <p:spPr>
          <a:xfrm>
            <a:off x="1475628" y="4963253"/>
            <a:ext cx="2261420" cy="41347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3BD454D7-4207-38D8-D62B-24A67BDC0956}"/>
              </a:ext>
            </a:extLst>
          </p:cNvPr>
          <p:cNvSpPr/>
          <p:nvPr/>
        </p:nvSpPr>
        <p:spPr>
          <a:xfrm>
            <a:off x="4678484" y="4136236"/>
            <a:ext cx="2462981" cy="13752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9D827A5C-C613-13D6-687F-920397E59406}"/>
              </a:ext>
            </a:extLst>
          </p:cNvPr>
          <p:cNvSpPr txBox="1"/>
          <p:nvPr/>
        </p:nvSpPr>
        <p:spPr>
          <a:xfrm>
            <a:off x="1525888" y="4238125"/>
            <a:ext cx="1877961" cy="461665"/>
          </a:xfrm>
          <a:prstGeom prst="rect">
            <a:avLst/>
          </a:prstGeom>
          <a:noFill/>
        </p:spPr>
        <p:txBody>
          <a:bodyPr wrap="square">
            <a:spAutoFit/>
          </a:bodyPr>
          <a:lstStyle/>
          <a:p>
            <a:pPr>
              <a:buNone/>
            </a:pPr>
            <a:r>
              <a:rPr lang="en-IN" sz="1200" b="1"/>
              <a:t>Program Manager</a:t>
            </a:r>
          </a:p>
          <a:p>
            <a:pPr marL="171450" indent="-171450">
              <a:buFont typeface="Arial" panose="020B0604020202020204" pitchFamily="34" charset="0"/>
              <a:buChar char="•"/>
            </a:pPr>
            <a:r>
              <a:rPr lang="en-IN" sz="1200"/>
              <a:t>Jennifer Easwaramurthi</a:t>
            </a:r>
          </a:p>
        </p:txBody>
      </p:sp>
      <p:sp>
        <p:nvSpPr>
          <p:cNvPr id="24" name="TextBox 23">
            <a:extLst>
              <a:ext uri="{FF2B5EF4-FFF2-40B4-BE49-F238E27FC236}">
                <a16:creationId xmlns:a16="http://schemas.microsoft.com/office/drawing/2014/main" id="{56BA77F4-3FA7-C55F-9E95-8709CC8A0096}"/>
              </a:ext>
            </a:extLst>
          </p:cNvPr>
          <p:cNvSpPr txBox="1"/>
          <p:nvPr/>
        </p:nvSpPr>
        <p:spPr>
          <a:xfrm>
            <a:off x="1506353" y="4939157"/>
            <a:ext cx="2199970" cy="461665"/>
          </a:xfrm>
          <a:prstGeom prst="rect">
            <a:avLst/>
          </a:prstGeom>
          <a:noFill/>
        </p:spPr>
        <p:txBody>
          <a:bodyPr wrap="square">
            <a:spAutoFit/>
          </a:bodyPr>
          <a:lstStyle/>
          <a:p>
            <a:pPr>
              <a:buNone/>
            </a:pPr>
            <a:r>
              <a:rPr lang="en-IN" sz="1200" b="1"/>
              <a:t>Delivery Manager</a:t>
            </a:r>
          </a:p>
          <a:p>
            <a:pPr marL="171450" indent="-171450">
              <a:buFont typeface="Arial" panose="020B0604020202020204" pitchFamily="34" charset="0"/>
              <a:buChar char="•"/>
            </a:pPr>
            <a:r>
              <a:rPr lang="en-IN" sz="1200"/>
              <a:t>Dhamodaran Rameshbabu</a:t>
            </a:r>
          </a:p>
        </p:txBody>
      </p:sp>
      <p:sp>
        <p:nvSpPr>
          <p:cNvPr id="25" name="TextBox 24">
            <a:extLst>
              <a:ext uri="{FF2B5EF4-FFF2-40B4-BE49-F238E27FC236}">
                <a16:creationId xmlns:a16="http://schemas.microsoft.com/office/drawing/2014/main" id="{97BD0EB8-3EAA-2ED0-1946-F20CF5E7CADE}"/>
              </a:ext>
            </a:extLst>
          </p:cNvPr>
          <p:cNvSpPr txBox="1"/>
          <p:nvPr/>
        </p:nvSpPr>
        <p:spPr>
          <a:xfrm>
            <a:off x="5015238" y="4200493"/>
            <a:ext cx="1789471" cy="1015663"/>
          </a:xfrm>
          <a:prstGeom prst="rect">
            <a:avLst/>
          </a:prstGeom>
          <a:noFill/>
        </p:spPr>
        <p:txBody>
          <a:bodyPr wrap="square" lIns="91440" tIns="45720" rIns="91440" bIns="45720" anchor="t">
            <a:spAutoFit/>
          </a:bodyPr>
          <a:lstStyle/>
          <a:p>
            <a:pPr>
              <a:buNone/>
            </a:pPr>
            <a:r>
              <a:rPr lang="en-IN" sz="1200" b="1"/>
              <a:t>Data Engineers</a:t>
            </a:r>
          </a:p>
          <a:p>
            <a:pPr marL="171450" indent="-171450">
              <a:buFont typeface="Arial" panose="020B0604020202020204" pitchFamily="34" charset="0"/>
              <a:buChar char="•"/>
            </a:pPr>
            <a:r>
              <a:rPr lang="en-IN" sz="1200"/>
              <a:t>Thenmozhi </a:t>
            </a:r>
          </a:p>
          <a:p>
            <a:pPr marL="171450" indent="-171450">
              <a:buFont typeface="Arial" panose="020B0604020202020204" pitchFamily="34" charset="0"/>
              <a:buChar char="•"/>
            </a:pPr>
            <a:r>
              <a:rPr lang="en-IN" sz="1200" err="1"/>
              <a:t>Subbarayudu</a:t>
            </a:r>
            <a:r>
              <a:rPr lang="en-IN" sz="1200"/>
              <a:t> </a:t>
            </a:r>
            <a:endParaRPr lang="en-IN" sz="1200">
              <a:ea typeface="Calibri"/>
              <a:cs typeface="Calibri"/>
            </a:endParaRPr>
          </a:p>
          <a:p>
            <a:pPr marL="171450" indent="-171450">
              <a:buFont typeface="Arial" panose="020B0604020202020204" pitchFamily="34" charset="0"/>
              <a:buChar char="•"/>
            </a:pPr>
            <a:r>
              <a:rPr lang="en-IN" sz="1200" err="1"/>
              <a:t>Devasenathipathy</a:t>
            </a:r>
            <a:r>
              <a:rPr lang="en-IN" sz="1200"/>
              <a:t> </a:t>
            </a:r>
            <a:endParaRPr lang="en-IN" sz="1200">
              <a:ea typeface="Calibri"/>
              <a:cs typeface="Calibri"/>
            </a:endParaRPr>
          </a:p>
          <a:p>
            <a:pPr marL="171450" indent="-171450">
              <a:buFont typeface="Arial" panose="020B0604020202020204" pitchFamily="34" charset="0"/>
              <a:buChar char="•"/>
            </a:pPr>
            <a:r>
              <a:rPr lang="en-IN" sz="1200"/>
              <a:t>Abirami</a:t>
            </a:r>
          </a:p>
        </p:txBody>
      </p:sp>
      <p:sp>
        <p:nvSpPr>
          <p:cNvPr id="3" name="Rectangle: Rounded Corners 2">
            <a:extLst>
              <a:ext uri="{FF2B5EF4-FFF2-40B4-BE49-F238E27FC236}">
                <a16:creationId xmlns:a16="http://schemas.microsoft.com/office/drawing/2014/main" id="{5350747D-4D14-2B7D-C785-45F5B8CBB662}"/>
              </a:ext>
            </a:extLst>
          </p:cNvPr>
          <p:cNvSpPr/>
          <p:nvPr/>
        </p:nvSpPr>
        <p:spPr>
          <a:xfrm>
            <a:off x="1354612" y="1415702"/>
            <a:ext cx="5933768" cy="452284"/>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302697F2-7CC1-30F2-A6E6-07B62A26221B}"/>
              </a:ext>
            </a:extLst>
          </p:cNvPr>
          <p:cNvSpPr/>
          <p:nvPr/>
        </p:nvSpPr>
        <p:spPr>
          <a:xfrm>
            <a:off x="3099837" y="2148103"/>
            <a:ext cx="2343766" cy="892554"/>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C3B2C27-262F-AA7F-26D6-31B96129E641}"/>
              </a:ext>
            </a:extLst>
          </p:cNvPr>
          <p:cNvSpPr txBox="1"/>
          <p:nvPr/>
        </p:nvSpPr>
        <p:spPr>
          <a:xfrm>
            <a:off x="3090005" y="1457178"/>
            <a:ext cx="2462981" cy="369332"/>
          </a:xfrm>
          <a:prstGeom prst="rect">
            <a:avLst/>
          </a:prstGeom>
          <a:noFill/>
        </p:spPr>
        <p:txBody>
          <a:bodyPr wrap="square">
            <a:spAutoFit/>
          </a:bodyPr>
          <a:lstStyle/>
          <a:p>
            <a:r>
              <a:rPr lang="en-IN" b="1">
                <a:solidFill>
                  <a:schemeClr val="accent5">
                    <a:lumMod val="75000"/>
                  </a:schemeClr>
                </a:solidFill>
              </a:rPr>
              <a:t>Nova Biomedical - Team</a:t>
            </a:r>
          </a:p>
        </p:txBody>
      </p:sp>
      <p:sp>
        <p:nvSpPr>
          <p:cNvPr id="7" name="Rectangle: Rounded Corners 6">
            <a:extLst>
              <a:ext uri="{FF2B5EF4-FFF2-40B4-BE49-F238E27FC236}">
                <a16:creationId xmlns:a16="http://schemas.microsoft.com/office/drawing/2014/main" id="{B38A7BDF-B0DC-AF53-B5C8-E4AA712EFF87}"/>
              </a:ext>
            </a:extLst>
          </p:cNvPr>
          <p:cNvSpPr/>
          <p:nvPr/>
        </p:nvSpPr>
        <p:spPr>
          <a:xfrm>
            <a:off x="3342571" y="2285006"/>
            <a:ext cx="1858297" cy="6225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652571A-911C-E8D8-7ACD-E361F8B5995A}"/>
              </a:ext>
            </a:extLst>
          </p:cNvPr>
          <p:cNvSpPr txBox="1"/>
          <p:nvPr/>
        </p:nvSpPr>
        <p:spPr>
          <a:xfrm>
            <a:off x="3539213" y="2343253"/>
            <a:ext cx="1536905" cy="461665"/>
          </a:xfrm>
          <a:prstGeom prst="rect">
            <a:avLst/>
          </a:prstGeom>
          <a:noFill/>
        </p:spPr>
        <p:txBody>
          <a:bodyPr wrap="square">
            <a:spAutoFit/>
          </a:bodyPr>
          <a:lstStyle/>
          <a:p>
            <a:pPr>
              <a:buNone/>
            </a:pPr>
            <a:r>
              <a:rPr lang="en-IN" sz="1200" b="1"/>
              <a:t>Head of Data and AI</a:t>
            </a:r>
          </a:p>
          <a:p>
            <a:pPr marL="171450" indent="-171450">
              <a:buFont typeface="Arial" panose="020B0604020202020204" pitchFamily="34" charset="0"/>
              <a:buChar char="•"/>
            </a:pPr>
            <a:r>
              <a:rPr lang="en-IN" sz="1200"/>
              <a:t>Jay Jantz</a:t>
            </a:r>
          </a:p>
        </p:txBody>
      </p:sp>
      <p:cxnSp>
        <p:nvCxnSpPr>
          <p:cNvPr id="35" name="Straight Connector 34">
            <a:extLst>
              <a:ext uri="{FF2B5EF4-FFF2-40B4-BE49-F238E27FC236}">
                <a16:creationId xmlns:a16="http://schemas.microsoft.com/office/drawing/2014/main" id="{6D3253CC-A1A7-07B3-12C7-FED889957E60}"/>
              </a:ext>
            </a:extLst>
          </p:cNvPr>
          <p:cNvCxnSpPr/>
          <p:nvPr/>
        </p:nvCxnSpPr>
        <p:spPr>
          <a:xfrm>
            <a:off x="2585882" y="3429000"/>
            <a:ext cx="3298723" cy="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6468E1D7-273F-FF83-B023-EDD075AFF97B}"/>
              </a:ext>
            </a:extLst>
          </p:cNvPr>
          <p:cNvCxnSpPr>
            <a:cxnSpLocks/>
          </p:cNvCxnSpPr>
          <p:nvPr/>
        </p:nvCxnSpPr>
        <p:spPr>
          <a:xfrm>
            <a:off x="5884605" y="3429000"/>
            <a:ext cx="0" cy="2206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9DE94FD-0BF6-0B3D-B289-CF50EE33E136}"/>
              </a:ext>
            </a:extLst>
          </p:cNvPr>
          <p:cNvCxnSpPr>
            <a:cxnSpLocks/>
          </p:cNvCxnSpPr>
          <p:nvPr/>
        </p:nvCxnSpPr>
        <p:spPr>
          <a:xfrm>
            <a:off x="2585882" y="3429000"/>
            <a:ext cx="0" cy="2206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6611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98E75-6DD3-27EC-18FC-5679330EBF1E}"/>
              </a:ext>
            </a:extLst>
          </p:cNvPr>
          <p:cNvSpPr>
            <a:spLocks noGrp="1"/>
          </p:cNvSpPr>
          <p:nvPr>
            <p:ph type="title"/>
          </p:nvPr>
        </p:nvSpPr>
        <p:spPr/>
        <p:txBody>
          <a:bodyPr/>
          <a:lstStyle/>
          <a:p>
            <a:r>
              <a:rPr lang="en-IN"/>
              <a:t>Monitoring &amp; Governance Capabilities</a:t>
            </a:r>
          </a:p>
        </p:txBody>
      </p:sp>
      <p:sp>
        <p:nvSpPr>
          <p:cNvPr id="4" name="Slide Number Placeholder 3">
            <a:extLst>
              <a:ext uri="{FF2B5EF4-FFF2-40B4-BE49-F238E27FC236}">
                <a16:creationId xmlns:a16="http://schemas.microsoft.com/office/drawing/2014/main" id="{CB12D841-7FCB-1CB8-87A2-BEEBAB1B726C}"/>
              </a:ext>
            </a:extLst>
          </p:cNvPr>
          <p:cNvSpPr>
            <a:spLocks noGrp="1"/>
          </p:cNvSpPr>
          <p:nvPr>
            <p:ph type="sldNum" sz="quarter" idx="4"/>
          </p:nvPr>
        </p:nvSpPr>
        <p:spPr/>
        <p:txBody>
          <a:bodyPr/>
          <a:lstStyle/>
          <a:p>
            <a:fld id="{274CC3B9-6596-1243-9665-72A444B9047F}" type="slidenum">
              <a:rPr lang="en-CA" smtClean="0"/>
              <a:pPr/>
              <a:t>6</a:t>
            </a:fld>
            <a:endParaRPr lang="en-CA"/>
          </a:p>
        </p:txBody>
      </p:sp>
      <p:sp>
        <p:nvSpPr>
          <p:cNvPr id="3" name="Shape 12">
            <a:extLst>
              <a:ext uri="{FF2B5EF4-FFF2-40B4-BE49-F238E27FC236}">
                <a16:creationId xmlns:a16="http://schemas.microsoft.com/office/drawing/2014/main" id="{15F9C7DD-0BEA-0AB8-CBB1-4DFF54D03C61}"/>
              </a:ext>
            </a:extLst>
          </p:cNvPr>
          <p:cNvSpPr/>
          <p:nvPr/>
        </p:nvSpPr>
        <p:spPr>
          <a:xfrm>
            <a:off x="465668" y="1408598"/>
            <a:ext cx="5039393" cy="4494342"/>
          </a:xfrm>
          <a:prstGeom prst="rect">
            <a:avLst/>
          </a:prstGeom>
          <a:solidFill>
            <a:srgbClr val="F4F6F9"/>
          </a:solidFill>
          <a:ln w="12700">
            <a:solidFill>
              <a:srgbClr val="E2E7EF"/>
            </a:solidFill>
            <a:prstDash val="solid"/>
          </a:ln>
          <a:effectLst>
            <a:outerShdw blurRad="38100" dist="127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5" name="Shape 13">
            <a:extLst>
              <a:ext uri="{FF2B5EF4-FFF2-40B4-BE49-F238E27FC236}">
                <a16:creationId xmlns:a16="http://schemas.microsoft.com/office/drawing/2014/main" id="{836F54EB-01FB-7FE9-3937-28722D0A4185}"/>
              </a:ext>
            </a:extLst>
          </p:cNvPr>
          <p:cNvSpPr/>
          <p:nvPr/>
        </p:nvSpPr>
        <p:spPr>
          <a:xfrm>
            <a:off x="465668" y="1408599"/>
            <a:ext cx="104717" cy="4494341"/>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7" name="Shape 9">
            <a:extLst>
              <a:ext uri="{FF2B5EF4-FFF2-40B4-BE49-F238E27FC236}">
                <a16:creationId xmlns:a16="http://schemas.microsoft.com/office/drawing/2014/main" id="{9D3F704C-F215-51EB-664D-6A1410049D1C}"/>
              </a:ext>
            </a:extLst>
          </p:cNvPr>
          <p:cNvSpPr/>
          <p:nvPr/>
        </p:nvSpPr>
        <p:spPr>
          <a:xfrm>
            <a:off x="465667" y="1098192"/>
            <a:ext cx="5039393" cy="463494"/>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9" name="Shape 10">
            <a:extLst>
              <a:ext uri="{FF2B5EF4-FFF2-40B4-BE49-F238E27FC236}">
                <a16:creationId xmlns:a16="http://schemas.microsoft.com/office/drawing/2014/main" id="{686FBBD9-4E8E-3A0A-823F-2F15654A357C}"/>
              </a:ext>
            </a:extLst>
          </p:cNvPr>
          <p:cNvSpPr/>
          <p:nvPr/>
        </p:nvSpPr>
        <p:spPr>
          <a:xfrm>
            <a:off x="470929" y="1098192"/>
            <a:ext cx="99456" cy="463494"/>
          </a:xfrm>
          <a:prstGeom prst="rect">
            <a:avLst/>
          </a:prstGeom>
          <a:solidFill>
            <a:srgbClr val="E8610A"/>
          </a:solidFill>
          <a:ln w="12700">
            <a:solidFill>
              <a:srgbClr val="E861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E4B503D1-0BD1-7378-FE41-29FDF5176DF7}"/>
              </a:ext>
            </a:extLst>
          </p:cNvPr>
          <p:cNvSpPr txBox="1"/>
          <p:nvPr/>
        </p:nvSpPr>
        <p:spPr>
          <a:xfrm>
            <a:off x="570385" y="1195005"/>
            <a:ext cx="3696816" cy="338554"/>
          </a:xfrm>
          <a:prstGeom prst="rect">
            <a:avLst/>
          </a:prstGeom>
          <a:noFill/>
        </p:spPr>
        <p:txBody>
          <a:bodyPr wrap="square">
            <a:spAutoFit/>
          </a:bodyPr>
          <a:lstStyle/>
          <a:p>
            <a:r>
              <a:rPr lang="en-US" sz="1600" b="1">
                <a:solidFill>
                  <a:schemeClr val="bg1"/>
                </a:solidFill>
              </a:rPr>
              <a:t>1. Pipeline Monitoring (Daily Operations)</a:t>
            </a:r>
            <a:endParaRPr lang="en-IN" sz="1600">
              <a:solidFill>
                <a:schemeClr val="bg1"/>
              </a:solidFill>
            </a:endParaRPr>
          </a:p>
        </p:txBody>
      </p:sp>
      <p:sp>
        <p:nvSpPr>
          <p:cNvPr id="6" name="TextBox 5">
            <a:extLst>
              <a:ext uri="{FF2B5EF4-FFF2-40B4-BE49-F238E27FC236}">
                <a16:creationId xmlns:a16="http://schemas.microsoft.com/office/drawing/2014/main" id="{730901F3-E496-779D-DA9D-AB595BF94666}"/>
              </a:ext>
            </a:extLst>
          </p:cNvPr>
          <p:cNvSpPr txBox="1"/>
          <p:nvPr/>
        </p:nvSpPr>
        <p:spPr>
          <a:xfrm>
            <a:off x="642713" y="1663750"/>
            <a:ext cx="4794717" cy="3785652"/>
          </a:xfrm>
          <a:prstGeom prst="rect">
            <a:avLst/>
          </a:prstGeom>
          <a:noFill/>
        </p:spPr>
        <p:txBody>
          <a:bodyPr wrap="square">
            <a:spAutoFit/>
          </a:bodyPr>
          <a:lstStyle/>
          <a:p>
            <a:pPr marL="171450" indent="-171450">
              <a:buFont typeface="Arial" panose="020B0604020202020204" pitchFamily="34" charset="0"/>
              <a:buChar char="•"/>
            </a:pPr>
            <a:r>
              <a:rPr lang="en-US" sz="1200" b="1"/>
              <a:t>Dedicated monitoring ownership</a:t>
            </a:r>
            <a:r>
              <a:rPr lang="en-US" sz="1200"/>
              <a:t> assigned for all critical data pipelines </a:t>
            </a:r>
          </a:p>
          <a:p>
            <a:pPr marL="171450" indent="-171450">
              <a:buFont typeface="Arial" panose="020B0604020202020204" pitchFamily="34" charset="0"/>
              <a:buChar char="•"/>
            </a:pPr>
            <a:r>
              <a:rPr lang="en-US" sz="1200"/>
              <a:t>Continuous </a:t>
            </a:r>
            <a:r>
              <a:rPr lang="en-US" sz="1200" b="1"/>
              <a:t>daily monitoring of pipeline executions</a:t>
            </a:r>
            <a:r>
              <a:rPr lang="en-US" sz="1200"/>
              <a:t> across environments</a:t>
            </a:r>
          </a:p>
          <a:p>
            <a:pPr marL="171450" indent="-171450">
              <a:buFont typeface="Arial" panose="020B0604020202020204" pitchFamily="34" charset="0"/>
              <a:buChar char="•"/>
            </a:pPr>
            <a:endParaRPr lang="en-US" sz="1200"/>
          </a:p>
          <a:p>
            <a:r>
              <a:rPr lang="en-US" sz="1200" b="1"/>
              <a:t>Monitoring includes:</a:t>
            </a:r>
          </a:p>
          <a:p>
            <a:pPr marL="171450" indent="-171450">
              <a:buFont typeface="Arial" panose="020B0604020202020204" pitchFamily="34" charset="0"/>
              <a:buChar char="•"/>
            </a:pPr>
            <a:r>
              <a:rPr lang="en-US" sz="1200"/>
              <a:t>Pipeline execution status (Success / Failure) </a:t>
            </a:r>
          </a:p>
          <a:p>
            <a:pPr marL="171450" indent="-171450">
              <a:buFont typeface="Arial" panose="020B0604020202020204" pitchFamily="34" charset="0"/>
              <a:buChar char="•"/>
            </a:pPr>
            <a:r>
              <a:rPr lang="en-US" sz="1200"/>
              <a:t>Data refresh completion and timeliness </a:t>
            </a:r>
          </a:p>
          <a:p>
            <a:pPr marL="171450" indent="-171450">
              <a:buFont typeface="Arial" panose="020B0604020202020204" pitchFamily="34" charset="0"/>
              <a:buChar char="•"/>
            </a:pPr>
            <a:r>
              <a:rPr lang="en-US" sz="1200"/>
              <a:t>Identification of: </a:t>
            </a:r>
          </a:p>
          <a:p>
            <a:pPr marL="628650" lvl="1" indent="-171450">
              <a:buFont typeface="Arial" panose="020B0604020202020204" pitchFamily="34" charset="0"/>
              <a:buChar char="•"/>
            </a:pPr>
            <a:r>
              <a:rPr lang="en-US" sz="1200"/>
              <a:t>Failed runs </a:t>
            </a:r>
          </a:p>
          <a:p>
            <a:pPr marL="628650" lvl="1" indent="-171450">
              <a:buFont typeface="Arial" panose="020B0604020202020204" pitchFamily="34" charset="0"/>
              <a:buChar char="•"/>
            </a:pPr>
            <a:r>
              <a:rPr lang="en-US" sz="1200"/>
              <a:t>Delayed executions </a:t>
            </a:r>
          </a:p>
          <a:p>
            <a:pPr marL="628650" lvl="1" indent="-171450">
              <a:buFont typeface="Arial" panose="020B0604020202020204" pitchFamily="34" charset="0"/>
              <a:buChar char="•"/>
            </a:pPr>
            <a:r>
              <a:rPr lang="en-US" sz="1200"/>
              <a:t>Partial data loads</a:t>
            </a:r>
            <a:br>
              <a:rPr lang="en-US" sz="1200"/>
            </a:br>
            <a:endParaRPr lang="en-US" sz="1200"/>
          </a:p>
          <a:p>
            <a:r>
              <a:rPr lang="en-US" sz="1200" b="1"/>
              <a:t>Operational Activities:</a:t>
            </a:r>
          </a:p>
          <a:p>
            <a:pPr marL="171450" indent="-171450">
              <a:buFont typeface="Arial" panose="020B0604020202020204" pitchFamily="34" charset="0"/>
              <a:buChar char="•"/>
            </a:pPr>
            <a:r>
              <a:rPr lang="en-US" sz="1200"/>
              <a:t>Daily validation of critical datasets before reporting usage </a:t>
            </a:r>
          </a:p>
          <a:p>
            <a:pPr marL="171450" indent="-171450">
              <a:buFont typeface="Arial" panose="020B0604020202020204" pitchFamily="34" charset="0"/>
              <a:buChar char="•"/>
            </a:pPr>
            <a:r>
              <a:rPr lang="en-US" sz="1200"/>
              <a:t>Immediate triaging and assignment of issues </a:t>
            </a:r>
          </a:p>
          <a:p>
            <a:pPr marL="171450" indent="-171450">
              <a:buFont typeface="Arial" panose="020B0604020202020204" pitchFamily="34" charset="0"/>
              <a:buChar char="•"/>
            </a:pPr>
            <a:r>
              <a:rPr lang="en-US" sz="1200"/>
              <a:t>Coordination with development team for quick fixes </a:t>
            </a:r>
          </a:p>
          <a:p>
            <a:endParaRPr lang="en-US" sz="1200"/>
          </a:p>
          <a:p>
            <a:r>
              <a:rPr lang="en-US" sz="1200"/>
              <a:t>👉 </a:t>
            </a:r>
            <a:r>
              <a:rPr lang="en-US" sz="1200" b="1"/>
              <a:t>Outcome:</a:t>
            </a:r>
            <a:br>
              <a:rPr lang="en-US" sz="1200"/>
            </a:br>
            <a:r>
              <a:rPr lang="en-US" sz="1200"/>
              <a:t>Ensures </a:t>
            </a:r>
            <a:r>
              <a:rPr lang="en-US" sz="1200" b="1"/>
              <a:t>high data availability, reliability, and quick turnaround for issue resolution</a:t>
            </a:r>
            <a:r>
              <a:rPr lang="en-US" sz="1200"/>
              <a:t>, minimizing impact on business reporting</a:t>
            </a:r>
          </a:p>
        </p:txBody>
      </p:sp>
      <p:sp>
        <p:nvSpPr>
          <p:cNvPr id="16" name="Shape 12">
            <a:extLst>
              <a:ext uri="{FF2B5EF4-FFF2-40B4-BE49-F238E27FC236}">
                <a16:creationId xmlns:a16="http://schemas.microsoft.com/office/drawing/2014/main" id="{04B85EE8-B2B7-EE68-6DB3-F017FDBB687C}"/>
              </a:ext>
            </a:extLst>
          </p:cNvPr>
          <p:cNvSpPr/>
          <p:nvPr/>
        </p:nvSpPr>
        <p:spPr>
          <a:xfrm>
            <a:off x="6026303" y="1626058"/>
            <a:ext cx="5420897" cy="4332051"/>
          </a:xfrm>
          <a:prstGeom prst="rect">
            <a:avLst/>
          </a:prstGeom>
          <a:solidFill>
            <a:srgbClr val="F4F6F9"/>
          </a:solidFill>
          <a:ln w="12700">
            <a:solidFill>
              <a:srgbClr val="E2E7EF"/>
            </a:solidFill>
            <a:prstDash val="solid"/>
          </a:ln>
          <a:effectLst>
            <a:outerShdw blurRad="38100" dist="127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7" name="Shape 13">
            <a:extLst>
              <a:ext uri="{FF2B5EF4-FFF2-40B4-BE49-F238E27FC236}">
                <a16:creationId xmlns:a16="http://schemas.microsoft.com/office/drawing/2014/main" id="{E4720374-C87C-330B-CDFA-4D8E116CEA82}"/>
              </a:ext>
            </a:extLst>
          </p:cNvPr>
          <p:cNvSpPr/>
          <p:nvPr/>
        </p:nvSpPr>
        <p:spPr>
          <a:xfrm>
            <a:off x="6026305" y="1463767"/>
            <a:ext cx="131844" cy="4494343"/>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8" name="Shape 9">
            <a:extLst>
              <a:ext uri="{FF2B5EF4-FFF2-40B4-BE49-F238E27FC236}">
                <a16:creationId xmlns:a16="http://schemas.microsoft.com/office/drawing/2014/main" id="{989D7517-A98C-F24E-6B4F-56AF081A9BE5}"/>
              </a:ext>
            </a:extLst>
          </p:cNvPr>
          <p:cNvSpPr/>
          <p:nvPr/>
        </p:nvSpPr>
        <p:spPr>
          <a:xfrm>
            <a:off x="6026305" y="1153361"/>
            <a:ext cx="5420896" cy="463494"/>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9" name="Shape 10">
            <a:extLst>
              <a:ext uri="{FF2B5EF4-FFF2-40B4-BE49-F238E27FC236}">
                <a16:creationId xmlns:a16="http://schemas.microsoft.com/office/drawing/2014/main" id="{600DF1D5-DCC0-AB33-A4E5-5F628CB076DE}"/>
              </a:ext>
            </a:extLst>
          </p:cNvPr>
          <p:cNvSpPr/>
          <p:nvPr/>
        </p:nvSpPr>
        <p:spPr>
          <a:xfrm>
            <a:off x="6040031" y="1153361"/>
            <a:ext cx="99456" cy="463494"/>
          </a:xfrm>
          <a:prstGeom prst="rect">
            <a:avLst/>
          </a:prstGeom>
          <a:solidFill>
            <a:srgbClr val="E8610A"/>
          </a:solidFill>
          <a:ln w="12700">
            <a:solidFill>
              <a:srgbClr val="E861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143A6196-4176-02F7-CA07-D7D2EAC019A5}"/>
              </a:ext>
            </a:extLst>
          </p:cNvPr>
          <p:cNvSpPr txBox="1"/>
          <p:nvPr/>
        </p:nvSpPr>
        <p:spPr>
          <a:xfrm>
            <a:off x="6128390" y="1186837"/>
            <a:ext cx="5420897" cy="338554"/>
          </a:xfrm>
          <a:prstGeom prst="rect">
            <a:avLst/>
          </a:prstGeom>
          <a:noFill/>
        </p:spPr>
        <p:txBody>
          <a:bodyPr wrap="square">
            <a:spAutoFit/>
          </a:bodyPr>
          <a:lstStyle/>
          <a:p>
            <a:pPr>
              <a:buNone/>
            </a:pPr>
            <a:r>
              <a:rPr lang="en-IN" sz="1600" b="1">
                <a:solidFill>
                  <a:schemeClr val="bg1"/>
                </a:solidFill>
              </a:rPr>
              <a:t>2. Automated Event-Based Monitoring (Activator Framework)</a:t>
            </a:r>
          </a:p>
        </p:txBody>
      </p:sp>
      <p:sp>
        <p:nvSpPr>
          <p:cNvPr id="8" name="TextBox 7">
            <a:extLst>
              <a:ext uri="{FF2B5EF4-FFF2-40B4-BE49-F238E27FC236}">
                <a16:creationId xmlns:a16="http://schemas.microsoft.com/office/drawing/2014/main" id="{18DEEB19-31BD-DB19-D78E-19115E8FD145}"/>
              </a:ext>
            </a:extLst>
          </p:cNvPr>
          <p:cNvSpPr txBox="1"/>
          <p:nvPr/>
        </p:nvSpPr>
        <p:spPr>
          <a:xfrm>
            <a:off x="6306675" y="1655774"/>
            <a:ext cx="5064328" cy="4154984"/>
          </a:xfrm>
          <a:prstGeom prst="rect">
            <a:avLst/>
          </a:prstGeom>
          <a:noFill/>
        </p:spPr>
        <p:txBody>
          <a:bodyPr wrap="square">
            <a:spAutoFit/>
          </a:bodyPr>
          <a:lstStyle/>
          <a:p>
            <a:pPr marL="171450" indent="-171450">
              <a:buFont typeface="Arial" panose="020B0604020202020204" pitchFamily="34" charset="0"/>
              <a:buChar char="•"/>
            </a:pPr>
            <a:r>
              <a:rPr lang="en-US" sz="1200"/>
              <a:t>Implemented </a:t>
            </a:r>
            <a:r>
              <a:rPr lang="en-US" sz="1200" b="1"/>
              <a:t>event-driven monitoring using Activator framework</a:t>
            </a:r>
            <a:r>
              <a:rPr lang="en-US" sz="1200"/>
              <a:t> </a:t>
            </a:r>
          </a:p>
          <a:p>
            <a:pPr marL="171450" indent="-171450">
              <a:buFont typeface="Arial" panose="020B0604020202020204" pitchFamily="34" charset="0"/>
              <a:buChar char="•"/>
            </a:pPr>
            <a:r>
              <a:rPr lang="en-US" sz="1200"/>
              <a:t>Configured rules to continuously monitor pipeline behavior </a:t>
            </a:r>
          </a:p>
          <a:p>
            <a:endParaRPr lang="en-US" sz="1200"/>
          </a:p>
          <a:p>
            <a:r>
              <a:rPr lang="en-US" sz="1200" b="1"/>
              <a:t>Automated Detection Covers:</a:t>
            </a:r>
          </a:p>
          <a:p>
            <a:pPr marL="171450" indent="-171450">
              <a:buFont typeface="Arial" panose="020B0604020202020204" pitchFamily="34" charset="0"/>
              <a:buChar char="•"/>
            </a:pPr>
            <a:r>
              <a:rPr lang="en-US" sz="1200"/>
              <a:t>Pipeline failures </a:t>
            </a:r>
          </a:p>
          <a:p>
            <a:pPr marL="171450" indent="-171450">
              <a:buFont typeface="Arial" panose="020B0604020202020204" pitchFamily="34" charset="0"/>
              <a:buChar char="•"/>
            </a:pPr>
            <a:r>
              <a:rPr lang="en-US" sz="1200"/>
              <a:t>Data delays or missing loads </a:t>
            </a:r>
          </a:p>
          <a:p>
            <a:pPr marL="171450" indent="-171450">
              <a:buFont typeface="Arial" panose="020B0604020202020204" pitchFamily="34" charset="0"/>
              <a:buChar char="•"/>
            </a:pPr>
            <a:r>
              <a:rPr lang="en-US" sz="1200"/>
              <a:t>Execution anomalies and unexpected patterns</a:t>
            </a:r>
          </a:p>
          <a:p>
            <a:endParaRPr lang="en-US" sz="1200"/>
          </a:p>
          <a:p>
            <a:r>
              <a:rPr lang="en-US" sz="1200" b="1"/>
              <a:t>Trigger-Based Actions:</a:t>
            </a:r>
          </a:p>
          <a:p>
            <a:pPr marL="171450" indent="-171450">
              <a:buFont typeface="Arial" panose="020B0604020202020204" pitchFamily="34" charset="0"/>
              <a:buChar char="•"/>
            </a:pPr>
            <a:r>
              <a:rPr lang="en-US" sz="1200"/>
              <a:t>Automatic alerts based on predefined conditions </a:t>
            </a:r>
          </a:p>
          <a:p>
            <a:pPr marL="171450" indent="-171450">
              <a:buFont typeface="Arial" panose="020B0604020202020204" pitchFamily="34" charset="0"/>
              <a:buChar char="•"/>
            </a:pPr>
            <a:r>
              <a:rPr lang="en-US" sz="1200"/>
              <a:t>Notification for: </a:t>
            </a:r>
          </a:p>
          <a:p>
            <a:pPr marL="628650" lvl="1" indent="-171450">
              <a:buFont typeface="Arial" panose="020B0604020202020204" pitchFamily="34" charset="0"/>
              <a:buChar char="•"/>
            </a:pPr>
            <a:r>
              <a:rPr lang="en-US" sz="1200"/>
              <a:t>Failed jobs </a:t>
            </a:r>
          </a:p>
          <a:p>
            <a:pPr marL="628650" lvl="1" indent="-171450">
              <a:buFont typeface="Arial" panose="020B0604020202020204" pitchFamily="34" charset="0"/>
              <a:buChar char="•"/>
            </a:pPr>
            <a:r>
              <a:rPr lang="en-US" sz="1200"/>
              <a:t>SLA breaches </a:t>
            </a:r>
          </a:p>
          <a:p>
            <a:pPr marL="171450" indent="-171450">
              <a:buFont typeface="Arial" panose="020B0604020202020204" pitchFamily="34" charset="0"/>
              <a:buChar char="•"/>
            </a:pPr>
            <a:r>
              <a:rPr lang="en-US" sz="1200"/>
              <a:t>Enables proactive intervention before business impact </a:t>
            </a:r>
          </a:p>
          <a:p>
            <a:endParaRPr lang="en-US" sz="1200"/>
          </a:p>
          <a:p>
            <a:r>
              <a:rPr lang="en-US" sz="1200" b="1"/>
              <a:t>Advanced Capability:</a:t>
            </a:r>
          </a:p>
          <a:p>
            <a:r>
              <a:rPr lang="en-US" sz="1200"/>
              <a:t>Transition from </a:t>
            </a:r>
            <a:r>
              <a:rPr lang="en-US" sz="1200" b="1"/>
              <a:t>manual checks → intelligent event-driven monitoring</a:t>
            </a:r>
            <a:r>
              <a:rPr lang="en-US" sz="1200"/>
              <a:t> </a:t>
            </a:r>
          </a:p>
          <a:p>
            <a:r>
              <a:rPr lang="en-US" sz="1200"/>
              <a:t>Supports near </a:t>
            </a:r>
            <a:r>
              <a:rPr lang="en-US" sz="1200" b="1"/>
              <a:t>real-time observability of pipelines</a:t>
            </a:r>
            <a:r>
              <a:rPr lang="en-US" sz="1200"/>
              <a:t> </a:t>
            </a:r>
          </a:p>
          <a:p>
            <a:endParaRPr lang="en-US" sz="1200"/>
          </a:p>
          <a:p>
            <a:r>
              <a:rPr lang="en-US" sz="1200"/>
              <a:t>👉 </a:t>
            </a:r>
            <a:r>
              <a:rPr lang="en-US" sz="1200" b="1"/>
              <a:t>Outcome:</a:t>
            </a:r>
            <a:br>
              <a:rPr lang="en-US" sz="1200"/>
            </a:br>
            <a:r>
              <a:rPr lang="en-US" sz="1200"/>
              <a:t>Enables </a:t>
            </a:r>
            <a:r>
              <a:rPr lang="en-US" sz="1200" b="1"/>
              <a:t>proactive, real-time issue detection and faster response</a:t>
            </a:r>
            <a:r>
              <a:rPr lang="en-US" sz="1200"/>
              <a:t>, reducing dependency on manual monitoring and improving operational efficiency</a:t>
            </a:r>
          </a:p>
        </p:txBody>
      </p:sp>
      <p:sp>
        <p:nvSpPr>
          <p:cNvPr id="10" name="Arrow: Right 9">
            <a:extLst>
              <a:ext uri="{FF2B5EF4-FFF2-40B4-BE49-F238E27FC236}">
                <a16:creationId xmlns:a16="http://schemas.microsoft.com/office/drawing/2014/main" id="{FCB6EB7F-15E4-2540-CA26-BCC1C04CC97E}"/>
              </a:ext>
            </a:extLst>
          </p:cNvPr>
          <p:cNvSpPr/>
          <p:nvPr/>
        </p:nvSpPr>
        <p:spPr>
          <a:xfrm>
            <a:off x="5616261" y="3613111"/>
            <a:ext cx="342411" cy="129470"/>
          </a:xfrm>
          <a:prstGeom prst="rightArrow">
            <a:avLst/>
          </a:prstGeom>
          <a:solidFill>
            <a:schemeClr val="tx2">
              <a:lumMod val="50000"/>
              <a:lumOff val="5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04478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12">
            <a:extLst>
              <a:ext uri="{FF2B5EF4-FFF2-40B4-BE49-F238E27FC236}">
                <a16:creationId xmlns:a16="http://schemas.microsoft.com/office/drawing/2014/main" id="{84CB8A56-4B49-A8AA-64F8-CE080C66B04E}"/>
              </a:ext>
            </a:extLst>
          </p:cNvPr>
          <p:cNvSpPr/>
          <p:nvPr/>
        </p:nvSpPr>
        <p:spPr>
          <a:xfrm>
            <a:off x="8081058" y="2318299"/>
            <a:ext cx="3274771" cy="2356846"/>
          </a:xfrm>
          <a:prstGeom prst="rect">
            <a:avLst/>
          </a:prstGeom>
          <a:solidFill>
            <a:srgbClr val="F4F6F9"/>
          </a:solidFill>
          <a:ln w="12700">
            <a:solidFill>
              <a:srgbClr val="E2E7EF"/>
            </a:solidFill>
            <a:prstDash val="solid"/>
          </a:ln>
          <a:effectLst>
            <a:outerShdw blurRad="38100" dist="127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2" name="Shape 13">
            <a:extLst>
              <a:ext uri="{FF2B5EF4-FFF2-40B4-BE49-F238E27FC236}">
                <a16:creationId xmlns:a16="http://schemas.microsoft.com/office/drawing/2014/main" id="{C9A808DB-A628-F17C-5732-81BEB2F0DB76}"/>
              </a:ext>
            </a:extLst>
          </p:cNvPr>
          <p:cNvSpPr/>
          <p:nvPr/>
        </p:nvSpPr>
        <p:spPr>
          <a:xfrm>
            <a:off x="8081058" y="2318300"/>
            <a:ext cx="111186" cy="2356843"/>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FC9244-6A06-A8FE-2A68-991B68440771}"/>
              </a:ext>
            </a:extLst>
          </p:cNvPr>
          <p:cNvSpPr>
            <a:spLocks noGrp="1"/>
          </p:cNvSpPr>
          <p:nvPr>
            <p:ph type="title"/>
          </p:nvPr>
        </p:nvSpPr>
        <p:spPr>
          <a:xfrm>
            <a:off x="465667" y="87470"/>
            <a:ext cx="11300236" cy="714306"/>
          </a:xfrm>
        </p:spPr>
        <p:txBody>
          <a:bodyPr/>
          <a:lstStyle/>
          <a:p>
            <a:r>
              <a:rPr lang="en-US"/>
              <a:t>Engagement Model - How We Operate</a:t>
            </a:r>
            <a:endParaRPr lang="en-IN"/>
          </a:p>
        </p:txBody>
      </p:sp>
      <p:sp>
        <p:nvSpPr>
          <p:cNvPr id="4" name="Slide Number Placeholder 3">
            <a:extLst>
              <a:ext uri="{FF2B5EF4-FFF2-40B4-BE49-F238E27FC236}">
                <a16:creationId xmlns:a16="http://schemas.microsoft.com/office/drawing/2014/main" id="{E2648386-5079-4B4C-61FD-0A1C973FB935}"/>
              </a:ext>
            </a:extLst>
          </p:cNvPr>
          <p:cNvSpPr>
            <a:spLocks noGrp="1"/>
          </p:cNvSpPr>
          <p:nvPr>
            <p:ph type="sldNum" sz="quarter" idx="4"/>
          </p:nvPr>
        </p:nvSpPr>
        <p:spPr/>
        <p:txBody>
          <a:bodyPr/>
          <a:lstStyle/>
          <a:p>
            <a:fld id="{274CC3B9-6596-1243-9665-72A444B9047F}" type="slidenum">
              <a:rPr lang="en-CA" smtClean="0"/>
              <a:pPr/>
              <a:t>7</a:t>
            </a:fld>
            <a:endParaRPr lang="en-CA"/>
          </a:p>
        </p:txBody>
      </p:sp>
      <p:sp>
        <p:nvSpPr>
          <p:cNvPr id="3" name="Shape 12">
            <a:extLst>
              <a:ext uri="{FF2B5EF4-FFF2-40B4-BE49-F238E27FC236}">
                <a16:creationId xmlns:a16="http://schemas.microsoft.com/office/drawing/2014/main" id="{6BA2A805-462B-33D3-01B7-D15851CF49A5}"/>
              </a:ext>
            </a:extLst>
          </p:cNvPr>
          <p:cNvSpPr/>
          <p:nvPr/>
        </p:nvSpPr>
        <p:spPr>
          <a:xfrm>
            <a:off x="711475" y="2305951"/>
            <a:ext cx="3274771" cy="2356846"/>
          </a:xfrm>
          <a:prstGeom prst="rect">
            <a:avLst/>
          </a:prstGeom>
          <a:solidFill>
            <a:srgbClr val="F4F6F9"/>
          </a:solidFill>
          <a:ln w="12700">
            <a:solidFill>
              <a:srgbClr val="E2E7EF"/>
            </a:solidFill>
            <a:prstDash val="solid"/>
          </a:ln>
          <a:effectLst>
            <a:outerShdw blurRad="38100" dist="127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5" name="Shape 13">
            <a:extLst>
              <a:ext uri="{FF2B5EF4-FFF2-40B4-BE49-F238E27FC236}">
                <a16:creationId xmlns:a16="http://schemas.microsoft.com/office/drawing/2014/main" id="{9530E872-C0D2-CC49-3424-C95DE2692E2B}"/>
              </a:ext>
            </a:extLst>
          </p:cNvPr>
          <p:cNvSpPr/>
          <p:nvPr/>
        </p:nvSpPr>
        <p:spPr>
          <a:xfrm>
            <a:off x="711475" y="2305952"/>
            <a:ext cx="111186" cy="2356843"/>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7" name="Shape 9">
            <a:extLst>
              <a:ext uri="{FF2B5EF4-FFF2-40B4-BE49-F238E27FC236}">
                <a16:creationId xmlns:a16="http://schemas.microsoft.com/office/drawing/2014/main" id="{3E3BA5BD-11B7-3347-D93C-86427AA0D954}"/>
              </a:ext>
            </a:extLst>
          </p:cNvPr>
          <p:cNvSpPr/>
          <p:nvPr/>
        </p:nvSpPr>
        <p:spPr>
          <a:xfrm>
            <a:off x="711474" y="1995546"/>
            <a:ext cx="3274771" cy="463494"/>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9" name="Shape 10">
            <a:extLst>
              <a:ext uri="{FF2B5EF4-FFF2-40B4-BE49-F238E27FC236}">
                <a16:creationId xmlns:a16="http://schemas.microsoft.com/office/drawing/2014/main" id="{2553EB43-EF82-08FA-37A2-D86D268547F7}"/>
              </a:ext>
            </a:extLst>
          </p:cNvPr>
          <p:cNvSpPr/>
          <p:nvPr/>
        </p:nvSpPr>
        <p:spPr>
          <a:xfrm>
            <a:off x="716736" y="1995546"/>
            <a:ext cx="99456" cy="463494"/>
          </a:xfrm>
          <a:prstGeom prst="rect">
            <a:avLst/>
          </a:prstGeom>
          <a:solidFill>
            <a:srgbClr val="E8610A"/>
          </a:solidFill>
          <a:ln w="12700">
            <a:solidFill>
              <a:srgbClr val="E861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3EF692B-D26C-645B-78DF-BDDFDF75FEEE}"/>
              </a:ext>
            </a:extLst>
          </p:cNvPr>
          <p:cNvSpPr txBox="1"/>
          <p:nvPr/>
        </p:nvSpPr>
        <p:spPr>
          <a:xfrm>
            <a:off x="967901" y="2644505"/>
            <a:ext cx="2923310" cy="1938992"/>
          </a:xfrm>
          <a:prstGeom prst="rect">
            <a:avLst/>
          </a:prstGeom>
          <a:noFill/>
        </p:spPr>
        <p:txBody>
          <a:bodyPr wrap="square">
            <a:spAutoFit/>
          </a:bodyPr>
          <a:lstStyle/>
          <a:p>
            <a:pPr marL="171450" indent="-171450">
              <a:buFont typeface="Arial" panose="020B0604020202020204" pitchFamily="34" charset="0"/>
              <a:buChar char="•"/>
            </a:pPr>
            <a:r>
              <a:rPr lang="en-US" sz="1200"/>
              <a:t>All incoming requests are </a:t>
            </a:r>
            <a:r>
              <a:rPr lang="en-US" sz="1200" b="1"/>
              <a:t>first documented in OneNote</a:t>
            </a:r>
            <a:r>
              <a:rPr lang="en-US" sz="1200"/>
              <a:t> with: </a:t>
            </a:r>
          </a:p>
          <a:p>
            <a:pPr marL="742950" lvl="1" indent="-285750">
              <a:buFont typeface="Arial" panose="020B0604020202020204" pitchFamily="34" charset="0"/>
              <a:buChar char="•"/>
            </a:pPr>
            <a:r>
              <a:rPr lang="en-US" sz="1200"/>
              <a:t>Business requirement </a:t>
            </a:r>
          </a:p>
          <a:p>
            <a:pPr marL="742950" lvl="1" indent="-285750">
              <a:buFont typeface="Arial" panose="020B0604020202020204" pitchFamily="34" charset="0"/>
              <a:buChar char="•"/>
            </a:pPr>
            <a:r>
              <a:rPr lang="en-US" sz="1200"/>
              <a:t>Context and expected outcome </a:t>
            </a:r>
          </a:p>
          <a:p>
            <a:pPr marL="285750" indent="-285750">
              <a:buFont typeface="Arial" panose="020B0604020202020204" pitchFamily="34" charset="0"/>
              <a:buChar char="•"/>
            </a:pPr>
            <a:r>
              <a:rPr lang="en-US" sz="1200"/>
              <a:t>Requests are then logged into a </a:t>
            </a:r>
            <a:r>
              <a:rPr lang="en-US" sz="1200" b="1"/>
              <a:t>Delivery Tracker (detailed task sheet)</a:t>
            </a:r>
            <a:r>
              <a:rPr lang="en-US" sz="1200"/>
              <a:t>: </a:t>
            </a:r>
          </a:p>
          <a:p>
            <a:pPr marL="742950" lvl="1" indent="-285750">
              <a:buFont typeface="Arial" panose="020B0604020202020204" pitchFamily="34" charset="0"/>
              <a:buChar char="•"/>
            </a:pPr>
            <a:r>
              <a:rPr lang="en-US" sz="1200"/>
              <a:t>Task ID, Owner, Priority, Timeline, Effort </a:t>
            </a:r>
          </a:p>
          <a:p>
            <a:pPr marL="285750" indent="-285750">
              <a:buFont typeface="Arial" panose="020B0604020202020204" pitchFamily="34" charset="0"/>
              <a:buChar char="•"/>
            </a:pPr>
            <a:r>
              <a:rPr lang="en-US" sz="1200"/>
              <a:t>Tasks are </a:t>
            </a:r>
            <a:r>
              <a:rPr lang="en-US" sz="1200" b="1"/>
              <a:t>prioritized (High / Medium / Low)</a:t>
            </a:r>
            <a:r>
              <a:rPr lang="en-US" sz="1200"/>
              <a:t> and assigned accordingly</a:t>
            </a:r>
          </a:p>
        </p:txBody>
      </p:sp>
      <p:sp>
        <p:nvSpPr>
          <p:cNvPr id="13" name="TextBox 12">
            <a:extLst>
              <a:ext uri="{FF2B5EF4-FFF2-40B4-BE49-F238E27FC236}">
                <a16:creationId xmlns:a16="http://schemas.microsoft.com/office/drawing/2014/main" id="{65D80156-F5FA-E859-DC88-CDACB63DB7E8}"/>
              </a:ext>
            </a:extLst>
          </p:cNvPr>
          <p:cNvSpPr txBox="1"/>
          <p:nvPr/>
        </p:nvSpPr>
        <p:spPr>
          <a:xfrm>
            <a:off x="915336" y="2035528"/>
            <a:ext cx="2270318" cy="338554"/>
          </a:xfrm>
          <a:prstGeom prst="rect">
            <a:avLst/>
          </a:prstGeom>
          <a:noFill/>
        </p:spPr>
        <p:txBody>
          <a:bodyPr wrap="square">
            <a:spAutoFit/>
          </a:bodyPr>
          <a:lstStyle/>
          <a:p>
            <a:r>
              <a:rPr lang="en-US" sz="1600" b="1">
                <a:solidFill>
                  <a:schemeClr val="bg1"/>
                </a:solidFill>
              </a:rPr>
              <a:t>Work Intake Process</a:t>
            </a:r>
            <a:endParaRPr lang="en-IN" sz="1600">
              <a:solidFill>
                <a:schemeClr val="bg1"/>
              </a:solidFill>
            </a:endParaRPr>
          </a:p>
        </p:txBody>
      </p:sp>
      <p:sp>
        <p:nvSpPr>
          <p:cNvPr id="14" name="Shape 12">
            <a:extLst>
              <a:ext uri="{FF2B5EF4-FFF2-40B4-BE49-F238E27FC236}">
                <a16:creationId xmlns:a16="http://schemas.microsoft.com/office/drawing/2014/main" id="{8EC04280-D281-84F5-37BD-BA7B4D23C88B}"/>
              </a:ext>
            </a:extLst>
          </p:cNvPr>
          <p:cNvSpPr/>
          <p:nvPr/>
        </p:nvSpPr>
        <p:spPr>
          <a:xfrm>
            <a:off x="4396268" y="2171509"/>
            <a:ext cx="3274770" cy="2491286"/>
          </a:xfrm>
          <a:prstGeom prst="rect">
            <a:avLst/>
          </a:prstGeom>
          <a:solidFill>
            <a:srgbClr val="F4F6F9"/>
          </a:solidFill>
          <a:ln w="12700">
            <a:solidFill>
              <a:srgbClr val="E2E7EF"/>
            </a:solidFill>
            <a:prstDash val="solid"/>
          </a:ln>
          <a:effectLst>
            <a:outerShdw blurRad="38100" dist="127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8D61109B-2379-DBEE-C220-F6FBB0F2FC9E}"/>
              </a:ext>
            </a:extLst>
          </p:cNvPr>
          <p:cNvSpPr/>
          <p:nvPr/>
        </p:nvSpPr>
        <p:spPr>
          <a:xfrm>
            <a:off x="4396267" y="2171510"/>
            <a:ext cx="106347" cy="2491285"/>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6" name="Shape 9">
            <a:extLst>
              <a:ext uri="{FF2B5EF4-FFF2-40B4-BE49-F238E27FC236}">
                <a16:creationId xmlns:a16="http://schemas.microsoft.com/office/drawing/2014/main" id="{407A6E92-B790-AF83-59FF-0533B4D36E4F}"/>
              </a:ext>
            </a:extLst>
          </p:cNvPr>
          <p:cNvSpPr/>
          <p:nvPr/>
        </p:nvSpPr>
        <p:spPr>
          <a:xfrm>
            <a:off x="4396266" y="2008005"/>
            <a:ext cx="3274771" cy="500087"/>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17" name="Shape 10">
            <a:extLst>
              <a:ext uri="{FF2B5EF4-FFF2-40B4-BE49-F238E27FC236}">
                <a16:creationId xmlns:a16="http://schemas.microsoft.com/office/drawing/2014/main" id="{B5852C35-ED4C-7865-035B-6AF0E5EC15D3}"/>
              </a:ext>
            </a:extLst>
          </p:cNvPr>
          <p:cNvSpPr/>
          <p:nvPr/>
        </p:nvSpPr>
        <p:spPr>
          <a:xfrm>
            <a:off x="4401528" y="2008005"/>
            <a:ext cx="101086" cy="500088"/>
          </a:xfrm>
          <a:prstGeom prst="rect">
            <a:avLst/>
          </a:prstGeom>
          <a:solidFill>
            <a:srgbClr val="E8610A"/>
          </a:solidFill>
          <a:ln w="12700">
            <a:solidFill>
              <a:srgbClr val="E861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90CE9AE8-B89C-74BE-B207-64DBE6895E63}"/>
              </a:ext>
            </a:extLst>
          </p:cNvPr>
          <p:cNvSpPr txBox="1"/>
          <p:nvPr/>
        </p:nvSpPr>
        <p:spPr>
          <a:xfrm>
            <a:off x="4545434" y="2641059"/>
            <a:ext cx="3082783" cy="1754326"/>
          </a:xfrm>
          <a:prstGeom prst="rect">
            <a:avLst/>
          </a:prstGeom>
          <a:noFill/>
        </p:spPr>
        <p:txBody>
          <a:bodyPr wrap="square">
            <a:spAutoFit/>
          </a:bodyPr>
          <a:lstStyle/>
          <a:p>
            <a:pPr marL="171450" indent="-171450">
              <a:buFont typeface="Arial" panose="020B0604020202020204" pitchFamily="34" charset="0"/>
              <a:buChar char="•"/>
            </a:pPr>
            <a:r>
              <a:rPr lang="en-US" sz="1200"/>
              <a:t>All tasks are tracked in a </a:t>
            </a:r>
            <a:r>
              <a:rPr lang="en-US" sz="1200" b="1"/>
              <a:t>Central Delivery Tracker sheet</a:t>
            </a:r>
            <a:r>
              <a:rPr lang="en-US" sz="1200"/>
              <a:t> </a:t>
            </a:r>
          </a:p>
          <a:p>
            <a:pPr marL="285750" indent="-285750">
              <a:buFont typeface="Arial" panose="020B0604020202020204" pitchFamily="34" charset="0"/>
              <a:buChar char="•"/>
            </a:pPr>
            <a:r>
              <a:rPr lang="en-US" sz="1200"/>
              <a:t>Each task includes: </a:t>
            </a:r>
          </a:p>
          <a:p>
            <a:pPr marL="742950" lvl="1" indent="-285750">
              <a:buFont typeface="Arial" panose="020B0604020202020204" pitchFamily="34" charset="0"/>
              <a:buChar char="•"/>
            </a:pPr>
            <a:r>
              <a:rPr lang="en-US" sz="1200"/>
              <a:t>Owner &amp; support team </a:t>
            </a:r>
          </a:p>
          <a:p>
            <a:pPr marL="742950" lvl="1" indent="-285750">
              <a:buFont typeface="Arial" panose="020B0604020202020204" pitchFamily="34" charset="0"/>
              <a:buChar char="•"/>
            </a:pPr>
            <a:r>
              <a:rPr lang="en-US" sz="1200"/>
              <a:t>Start &amp; due dates </a:t>
            </a:r>
          </a:p>
          <a:p>
            <a:pPr marL="742950" lvl="1" indent="-285750">
              <a:buFont typeface="Arial" panose="020B0604020202020204" pitchFamily="34" charset="0"/>
              <a:buChar char="•"/>
            </a:pPr>
            <a:r>
              <a:rPr lang="en-US" sz="1200"/>
              <a:t>Effort estimation </a:t>
            </a:r>
          </a:p>
          <a:p>
            <a:pPr marL="742950" lvl="1" indent="-285750">
              <a:buFont typeface="Arial" panose="020B0604020202020204" pitchFamily="34" charset="0"/>
              <a:buChar char="•"/>
            </a:pPr>
            <a:r>
              <a:rPr lang="en-US" sz="1200"/>
              <a:t>Status (Completed / In Progress / Not Started / On Hold) </a:t>
            </a:r>
          </a:p>
          <a:p>
            <a:pPr marL="742950" lvl="1" indent="-285750">
              <a:buFont typeface="Arial" panose="020B0604020202020204" pitchFamily="34" charset="0"/>
              <a:buChar char="•"/>
            </a:pPr>
            <a:r>
              <a:rPr lang="en-US" sz="1200"/>
              <a:t>Dependencies &amp; comments</a:t>
            </a:r>
          </a:p>
        </p:txBody>
      </p:sp>
      <p:sp>
        <p:nvSpPr>
          <p:cNvPr id="19" name="TextBox 18">
            <a:extLst>
              <a:ext uri="{FF2B5EF4-FFF2-40B4-BE49-F238E27FC236}">
                <a16:creationId xmlns:a16="http://schemas.microsoft.com/office/drawing/2014/main" id="{84092F41-26B0-6D57-2E2F-A6D2E671EDCA}"/>
              </a:ext>
            </a:extLst>
          </p:cNvPr>
          <p:cNvSpPr txBox="1"/>
          <p:nvPr/>
        </p:nvSpPr>
        <p:spPr>
          <a:xfrm>
            <a:off x="4683290" y="2055506"/>
            <a:ext cx="2879990" cy="338554"/>
          </a:xfrm>
          <a:prstGeom prst="rect">
            <a:avLst/>
          </a:prstGeom>
          <a:noFill/>
        </p:spPr>
        <p:txBody>
          <a:bodyPr wrap="square">
            <a:spAutoFit/>
          </a:bodyPr>
          <a:lstStyle/>
          <a:p>
            <a:r>
              <a:rPr lang="en-US" sz="1600" b="1">
                <a:solidFill>
                  <a:schemeClr val="bg1"/>
                </a:solidFill>
              </a:rPr>
              <a:t>Delivery Tracking &amp; Execution</a:t>
            </a:r>
            <a:endParaRPr lang="en-IN" sz="1600">
              <a:solidFill>
                <a:schemeClr val="bg1"/>
              </a:solidFill>
            </a:endParaRPr>
          </a:p>
        </p:txBody>
      </p:sp>
      <p:sp>
        <p:nvSpPr>
          <p:cNvPr id="22" name="Shape 9">
            <a:extLst>
              <a:ext uri="{FF2B5EF4-FFF2-40B4-BE49-F238E27FC236}">
                <a16:creationId xmlns:a16="http://schemas.microsoft.com/office/drawing/2014/main" id="{6C776BEC-39AC-C030-8E18-C78FCCA4FB18}"/>
              </a:ext>
            </a:extLst>
          </p:cNvPr>
          <p:cNvSpPr/>
          <p:nvPr/>
        </p:nvSpPr>
        <p:spPr>
          <a:xfrm>
            <a:off x="8081058" y="2008005"/>
            <a:ext cx="3274771" cy="463494"/>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3" name="Shape 10">
            <a:extLst>
              <a:ext uri="{FF2B5EF4-FFF2-40B4-BE49-F238E27FC236}">
                <a16:creationId xmlns:a16="http://schemas.microsoft.com/office/drawing/2014/main" id="{861BFD2F-606F-84FE-AC0C-847B3EFCFDB3}"/>
              </a:ext>
            </a:extLst>
          </p:cNvPr>
          <p:cNvSpPr/>
          <p:nvPr/>
        </p:nvSpPr>
        <p:spPr>
          <a:xfrm>
            <a:off x="8086320" y="2008005"/>
            <a:ext cx="99456" cy="463494"/>
          </a:xfrm>
          <a:prstGeom prst="rect">
            <a:avLst/>
          </a:prstGeom>
          <a:solidFill>
            <a:srgbClr val="E8610A"/>
          </a:solidFill>
          <a:ln w="12700">
            <a:solidFill>
              <a:srgbClr val="E861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7E669B19-F4D7-07A3-74A9-877C79B82A6F}"/>
              </a:ext>
            </a:extLst>
          </p:cNvPr>
          <p:cNvSpPr txBox="1"/>
          <p:nvPr/>
        </p:nvSpPr>
        <p:spPr>
          <a:xfrm>
            <a:off x="8278451" y="2070366"/>
            <a:ext cx="2685575" cy="338554"/>
          </a:xfrm>
          <a:prstGeom prst="rect">
            <a:avLst/>
          </a:prstGeom>
          <a:noFill/>
        </p:spPr>
        <p:txBody>
          <a:bodyPr wrap="square">
            <a:spAutoFit/>
          </a:bodyPr>
          <a:lstStyle/>
          <a:p>
            <a:r>
              <a:rPr lang="en-US" sz="1600" b="1" kern="1200">
                <a:solidFill>
                  <a:schemeClr val="bg1"/>
                </a:solidFill>
                <a:effectLst/>
                <a:latin typeface="Calibri" panose="020F0502020204030204" pitchFamily="34" charset="0"/>
                <a:ea typeface="+mn-ea"/>
                <a:cs typeface="+mn-cs"/>
              </a:rPr>
              <a:t>Issue Tracking &amp; Resolution</a:t>
            </a:r>
          </a:p>
        </p:txBody>
      </p:sp>
      <p:sp>
        <p:nvSpPr>
          <p:cNvPr id="10" name="TextBox 9">
            <a:extLst>
              <a:ext uri="{FF2B5EF4-FFF2-40B4-BE49-F238E27FC236}">
                <a16:creationId xmlns:a16="http://schemas.microsoft.com/office/drawing/2014/main" id="{3702A674-6FCE-A262-D19E-F45B16D92AFA}"/>
              </a:ext>
            </a:extLst>
          </p:cNvPr>
          <p:cNvSpPr txBox="1"/>
          <p:nvPr/>
        </p:nvSpPr>
        <p:spPr>
          <a:xfrm>
            <a:off x="8278451" y="2595810"/>
            <a:ext cx="2845843" cy="1754326"/>
          </a:xfrm>
          <a:prstGeom prst="rect">
            <a:avLst/>
          </a:prstGeom>
          <a:noFill/>
        </p:spPr>
        <p:txBody>
          <a:bodyPr wrap="square">
            <a:spAutoFit/>
          </a:bodyPr>
          <a:lstStyle/>
          <a:p>
            <a:pPr marL="285750" indent="-285750">
              <a:buFont typeface="Arial" panose="020B0604020202020204" pitchFamily="34" charset="0"/>
              <a:buChar char="•"/>
            </a:pPr>
            <a:r>
              <a:rPr lang="en-US" sz="1200"/>
              <a:t>Dedicated </a:t>
            </a:r>
            <a:r>
              <a:rPr lang="en-US" sz="1200" b="1"/>
              <a:t>Issue Tracker maintained for all blockers</a:t>
            </a:r>
            <a:r>
              <a:rPr lang="en-US" sz="1200"/>
              <a:t> </a:t>
            </a:r>
          </a:p>
          <a:p>
            <a:pPr marL="285750" indent="-285750">
              <a:buFont typeface="Arial" panose="020B0604020202020204" pitchFamily="34" charset="0"/>
              <a:buChar char="•"/>
            </a:pPr>
            <a:r>
              <a:rPr lang="en-US" sz="1200"/>
              <a:t>Each issue captures: </a:t>
            </a:r>
          </a:p>
          <a:p>
            <a:pPr marL="742950" lvl="1" indent="-285750">
              <a:buFont typeface="Arial" panose="020B0604020202020204" pitchFamily="34" charset="0"/>
              <a:buChar char="•"/>
            </a:pPr>
            <a:r>
              <a:rPr lang="en-US" sz="1200"/>
              <a:t>Description of problem </a:t>
            </a:r>
          </a:p>
          <a:p>
            <a:pPr marL="742950" lvl="1" indent="-285750">
              <a:buFont typeface="Arial" panose="020B0604020202020204" pitchFamily="34" charset="0"/>
              <a:buChar char="•"/>
            </a:pPr>
            <a:r>
              <a:rPr lang="en-US" sz="1200"/>
              <a:t>Priority &amp; deadline </a:t>
            </a:r>
          </a:p>
          <a:p>
            <a:pPr marL="742950" lvl="1" indent="-285750">
              <a:buFont typeface="Arial" panose="020B0604020202020204" pitchFamily="34" charset="0"/>
              <a:buChar char="•"/>
            </a:pPr>
            <a:r>
              <a:rPr lang="en-US" sz="1200"/>
              <a:t>Assigned owner </a:t>
            </a:r>
          </a:p>
          <a:p>
            <a:pPr marL="742950" lvl="1" indent="-285750">
              <a:buFont typeface="Arial" panose="020B0604020202020204" pitchFamily="34" charset="0"/>
              <a:buChar char="•"/>
            </a:pPr>
            <a:r>
              <a:rPr lang="en-US" sz="1200"/>
              <a:t>Execution type (e.g., Dataflow issue) </a:t>
            </a:r>
          </a:p>
          <a:p>
            <a:pPr marL="742950" lvl="1" indent="-285750">
              <a:buFont typeface="Arial" panose="020B0604020202020204" pitchFamily="34" charset="0"/>
              <a:buChar char="•"/>
            </a:pPr>
            <a:r>
              <a:rPr lang="en-US" sz="1200"/>
              <a:t>Root cause &amp; resolution steps</a:t>
            </a:r>
          </a:p>
        </p:txBody>
      </p:sp>
      <p:sp>
        <p:nvSpPr>
          <p:cNvPr id="24" name="Arrow: Circular 23">
            <a:extLst>
              <a:ext uri="{FF2B5EF4-FFF2-40B4-BE49-F238E27FC236}">
                <a16:creationId xmlns:a16="http://schemas.microsoft.com/office/drawing/2014/main" id="{922E5E15-3597-7150-4F71-D65023B3B534}"/>
              </a:ext>
            </a:extLst>
          </p:cNvPr>
          <p:cNvSpPr/>
          <p:nvPr/>
        </p:nvSpPr>
        <p:spPr>
          <a:xfrm>
            <a:off x="2633175" y="987241"/>
            <a:ext cx="2879991" cy="2847078"/>
          </a:xfrm>
          <a:prstGeom prst="circularArrow">
            <a:avLst>
              <a:gd name="adj1" fmla="val 2678"/>
              <a:gd name="adj2" fmla="val 325871"/>
              <a:gd name="adj3" fmla="val 19498618"/>
              <a:gd name="adj4" fmla="val 12575511"/>
              <a:gd name="adj5" fmla="val 3124"/>
            </a:avLst>
          </a:prstGeom>
          <a:solidFill>
            <a:schemeClr val="accent3">
              <a:lumMod val="60000"/>
              <a:lumOff val="40000"/>
            </a:schemeClr>
          </a:solidFill>
          <a:effectLst>
            <a:outerShdw blurRad="63500" sx="102000" sy="102000" algn="ctr" rotWithShape="0">
              <a:prstClr val="black">
                <a:alpha val="40000"/>
              </a:prstClr>
            </a:outerShdw>
          </a:effectLst>
        </p:spPr>
        <p:style>
          <a:lnRef idx="0">
            <a:schemeClr val="lt1">
              <a:hueOff val="0"/>
              <a:satOff val="0"/>
              <a:lumOff val="0"/>
              <a:alphaOff val="0"/>
            </a:schemeClr>
          </a:lnRef>
          <a:fillRef idx="3">
            <a:schemeClr val="accent3">
              <a:hueOff val="-10834521"/>
              <a:satOff val="-16297"/>
              <a:lumOff val="35883"/>
              <a:alphaOff val="0"/>
            </a:schemeClr>
          </a:fillRef>
          <a:effectRef idx="2">
            <a:schemeClr val="accent3">
              <a:hueOff val="-10834521"/>
              <a:satOff val="-16297"/>
              <a:lumOff val="35883"/>
              <a:alphaOff val="0"/>
            </a:schemeClr>
          </a:effectRef>
          <a:fontRef idx="minor">
            <a:schemeClr val="lt1"/>
          </a:fontRef>
        </p:style>
        <p:txBody>
          <a:bodyPr/>
          <a:lstStyle/>
          <a:p>
            <a:endParaRPr lang="en-US"/>
          </a:p>
        </p:txBody>
      </p:sp>
      <p:sp>
        <p:nvSpPr>
          <p:cNvPr id="26" name="Shape 25">
            <a:extLst>
              <a:ext uri="{FF2B5EF4-FFF2-40B4-BE49-F238E27FC236}">
                <a16:creationId xmlns:a16="http://schemas.microsoft.com/office/drawing/2014/main" id="{370950C0-C4F7-1D69-C1F1-34C4DE2323FE}"/>
              </a:ext>
            </a:extLst>
          </p:cNvPr>
          <p:cNvSpPr/>
          <p:nvPr/>
        </p:nvSpPr>
        <p:spPr>
          <a:xfrm>
            <a:off x="6473590" y="2781793"/>
            <a:ext cx="2879991" cy="2920917"/>
          </a:xfrm>
          <a:prstGeom prst="leftCircularArrow">
            <a:avLst>
              <a:gd name="adj1" fmla="val 2993"/>
              <a:gd name="adj2" fmla="val 366939"/>
              <a:gd name="adj3" fmla="val 2142450"/>
              <a:gd name="adj4" fmla="val 9024489"/>
              <a:gd name="adj5" fmla="val 3492"/>
            </a:avLst>
          </a:prstGeom>
          <a:solidFill>
            <a:schemeClr val="accent3">
              <a:lumMod val="40000"/>
              <a:lumOff val="60000"/>
            </a:schemeClr>
          </a:solidFill>
          <a:effectLst>
            <a:outerShdw blurRad="63500" sx="102000" sy="102000" algn="ctr" rotWithShape="0">
              <a:prstClr val="black">
                <a:alpha val="40000"/>
              </a:prstClr>
            </a:outerShdw>
          </a:effectLst>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380503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FF6785D-1B2F-318C-9254-55ECA33F8275}"/>
              </a:ext>
            </a:extLst>
          </p:cNvPr>
          <p:cNvSpPr/>
          <p:nvPr/>
        </p:nvSpPr>
        <p:spPr>
          <a:xfrm>
            <a:off x="593550" y="1578564"/>
            <a:ext cx="4902181" cy="1439764"/>
          </a:xfrm>
          <a:prstGeom prst="roundRect">
            <a:avLst/>
          </a:prstGeom>
          <a:solidFill>
            <a:schemeClr val="accent3">
              <a:lumMod val="20000"/>
              <a:lumOff val="8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0F795A44-7A82-3A3F-931A-E9BE3F73C9DB}"/>
              </a:ext>
            </a:extLst>
          </p:cNvPr>
          <p:cNvSpPr/>
          <p:nvPr/>
        </p:nvSpPr>
        <p:spPr>
          <a:xfrm>
            <a:off x="485452" y="889580"/>
            <a:ext cx="11136277" cy="460314"/>
          </a:xfrm>
          <a:prstGeom prst="roundRect">
            <a:avLst/>
          </a:prstGeom>
          <a:solidFill>
            <a:schemeClr val="bg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Slide Number Placeholder 3">
            <a:extLst>
              <a:ext uri="{FF2B5EF4-FFF2-40B4-BE49-F238E27FC236}">
                <a16:creationId xmlns:a16="http://schemas.microsoft.com/office/drawing/2014/main" id="{C59024B0-D684-676F-8A3D-07CA3AF42BDA}"/>
              </a:ext>
            </a:extLst>
          </p:cNvPr>
          <p:cNvSpPr>
            <a:spLocks noGrp="1"/>
          </p:cNvSpPr>
          <p:nvPr>
            <p:ph type="sldNum" sz="quarter" idx="4"/>
          </p:nvPr>
        </p:nvSpPr>
        <p:spPr/>
        <p:txBody>
          <a:bodyPr/>
          <a:lstStyle/>
          <a:p>
            <a:fld id="{274CC3B9-6596-1243-9665-72A444B9047F}" type="slidenum">
              <a:rPr lang="en-CA" smtClean="0"/>
              <a:pPr/>
              <a:t>8</a:t>
            </a:fld>
            <a:endParaRPr lang="en-CA"/>
          </a:p>
        </p:txBody>
      </p:sp>
      <p:sp>
        <p:nvSpPr>
          <p:cNvPr id="9" name="Title 8">
            <a:extLst>
              <a:ext uri="{FF2B5EF4-FFF2-40B4-BE49-F238E27FC236}">
                <a16:creationId xmlns:a16="http://schemas.microsoft.com/office/drawing/2014/main" id="{BBFC082C-CCFC-C196-01F3-2FC8DA132FA3}"/>
              </a:ext>
            </a:extLst>
          </p:cNvPr>
          <p:cNvSpPr>
            <a:spLocks noGrp="1"/>
          </p:cNvSpPr>
          <p:nvPr>
            <p:ph type="title"/>
          </p:nvPr>
        </p:nvSpPr>
        <p:spPr/>
        <p:txBody>
          <a:bodyPr/>
          <a:lstStyle/>
          <a:p>
            <a:r>
              <a:rPr lang="en-US"/>
              <a:t>AI Nova Biomedical Knowledge Agent</a:t>
            </a:r>
            <a:endParaRPr lang="en-IN"/>
          </a:p>
        </p:txBody>
      </p:sp>
      <p:sp>
        <p:nvSpPr>
          <p:cNvPr id="11" name="TextBox 10">
            <a:extLst>
              <a:ext uri="{FF2B5EF4-FFF2-40B4-BE49-F238E27FC236}">
                <a16:creationId xmlns:a16="http://schemas.microsoft.com/office/drawing/2014/main" id="{CD4BCF1B-A51A-25E9-4F2B-40F44107CE83}"/>
              </a:ext>
            </a:extLst>
          </p:cNvPr>
          <p:cNvSpPr txBox="1"/>
          <p:nvPr/>
        </p:nvSpPr>
        <p:spPr>
          <a:xfrm>
            <a:off x="465667" y="900262"/>
            <a:ext cx="11136277" cy="461665"/>
          </a:xfrm>
          <a:prstGeom prst="rect">
            <a:avLst/>
          </a:prstGeom>
          <a:noFill/>
          <a:effectLst>
            <a:outerShdw blurRad="63500" sx="102000" sy="102000" algn="ctr" rotWithShape="0">
              <a:prstClr val="black">
                <a:alpha val="40000"/>
              </a:prstClr>
            </a:outerShdw>
          </a:effectLst>
        </p:spPr>
        <p:txBody>
          <a:bodyPr wrap="square">
            <a:spAutoFit/>
          </a:bodyPr>
          <a:lstStyle/>
          <a:p>
            <a:r>
              <a:rPr lang="en-US" sz="1200"/>
              <a:t>Implemented an AI-driven knowledge agent that transforms project documentation and issue history into a searchable system to accelerate onboarding, streamline delivery, and ensure seamless knowledge transition</a:t>
            </a:r>
            <a:endParaRPr lang="en-IN" sz="1200"/>
          </a:p>
        </p:txBody>
      </p:sp>
      <p:sp>
        <p:nvSpPr>
          <p:cNvPr id="10" name="Freeform: Shape 9">
            <a:extLst>
              <a:ext uri="{FF2B5EF4-FFF2-40B4-BE49-F238E27FC236}">
                <a16:creationId xmlns:a16="http://schemas.microsoft.com/office/drawing/2014/main" id="{B2941D0D-4434-EB7D-81C5-EE5AC6B05BA9}"/>
              </a:ext>
            </a:extLst>
          </p:cNvPr>
          <p:cNvSpPr/>
          <p:nvPr/>
        </p:nvSpPr>
        <p:spPr>
          <a:xfrm>
            <a:off x="9959756" y="2397587"/>
            <a:ext cx="1762002" cy="1152064"/>
          </a:xfrm>
          <a:prstGeom prst="roundRect">
            <a:avLst/>
          </a:pr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43110" tIns="36760" rIns="43110" bIns="36760" numCol="1" spcCol="1270" anchor="ctr" anchorCtr="0">
            <a:noAutofit/>
          </a:bodyPr>
          <a:lstStyle/>
          <a:p>
            <a:pPr marL="0" lvl="0" indent="0" algn="ctr" defTabSz="444500">
              <a:lnSpc>
                <a:spcPct val="90000"/>
              </a:lnSpc>
              <a:spcBef>
                <a:spcPct val="0"/>
              </a:spcBef>
              <a:spcAft>
                <a:spcPct val="35000"/>
              </a:spcAft>
              <a:buNone/>
            </a:pPr>
            <a:r>
              <a:rPr lang="en-US" sz="1100" b="1" i="0" kern="1200" baseline="0"/>
              <a:t>Accelerates onboarding</a:t>
            </a:r>
            <a:r>
              <a:rPr lang="en-US" sz="1100" kern="1200"/>
              <a:t> </a:t>
            </a:r>
            <a:r>
              <a:rPr lang="en-US" sz="1100" b="0" i="0" kern="1200" baseline="0"/>
              <a:t>→ New members can quickly understand systems without repeated KT </a:t>
            </a:r>
            <a:endParaRPr lang="en-IN" sz="1100" kern="1200"/>
          </a:p>
        </p:txBody>
      </p:sp>
      <p:sp>
        <p:nvSpPr>
          <p:cNvPr id="12" name="Freeform: Shape 11">
            <a:extLst>
              <a:ext uri="{FF2B5EF4-FFF2-40B4-BE49-F238E27FC236}">
                <a16:creationId xmlns:a16="http://schemas.microsoft.com/office/drawing/2014/main" id="{203D3A09-129E-0DC1-AA62-CC9385BE0C2E}"/>
              </a:ext>
            </a:extLst>
          </p:cNvPr>
          <p:cNvSpPr/>
          <p:nvPr/>
        </p:nvSpPr>
        <p:spPr>
          <a:xfrm>
            <a:off x="9992483" y="4074428"/>
            <a:ext cx="1762002" cy="1152064"/>
          </a:xfrm>
          <a:prstGeom prst="roundRect">
            <a:avLst/>
          </a:prstGeom>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43110" tIns="36760" rIns="43110" bIns="36760" numCol="1" spcCol="1270" anchor="ctr" anchorCtr="0">
            <a:noAutofit/>
          </a:bodyPr>
          <a:lstStyle/>
          <a:p>
            <a:pPr marL="0" lvl="0" indent="0" algn="ctr" defTabSz="444500">
              <a:lnSpc>
                <a:spcPct val="90000"/>
              </a:lnSpc>
              <a:spcBef>
                <a:spcPct val="0"/>
              </a:spcBef>
              <a:spcAft>
                <a:spcPct val="35000"/>
              </a:spcAft>
              <a:buNone/>
            </a:pPr>
            <a:r>
              <a:rPr lang="en-US" sz="1100" b="1" i="0" kern="1200" baseline="0"/>
              <a:t>Improves delivery efficiency</a:t>
            </a:r>
            <a:r>
              <a:rPr lang="en-US" sz="1100" kern="1200"/>
              <a:t> </a:t>
            </a:r>
            <a:r>
              <a:rPr lang="en-US" sz="1100" b="0" i="0" kern="1200" baseline="0"/>
              <a:t>→ Faster issue resolution using past solutions and documented knowledge </a:t>
            </a:r>
            <a:endParaRPr lang="en-IN" sz="1100" kern="1200"/>
          </a:p>
        </p:txBody>
      </p:sp>
      <p:sp>
        <p:nvSpPr>
          <p:cNvPr id="16" name="Freeform: Shape 15">
            <a:extLst>
              <a:ext uri="{FF2B5EF4-FFF2-40B4-BE49-F238E27FC236}">
                <a16:creationId xmlns:a16="http://schemas.microsoft.com/office/drawing/2014/main" id="{D823CCD4-76DF-E091-3971-CB3AC227B2AA}"/>
              </a:ext>
            </a:extLst>
          </p:cNvPr>
          <p:cNvSpPr/>
          <p:nvPr/>
        </p:nvSpPr>
        <p:spPr>
          <a:xfrm>
            <a:off x="8094920" y="4843835"/>
            <a:ext cx="1762002" cy="1152064"/>
          </a:xfrm>
          <a:prstGeom prst="roundRect">
            <a:avLst/>
          </a:pr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43110" tIns="36760" rIns="43110" bIns="36760" numCol="1" spcCol="1270" anchor="ctr" anchorCtr="0">
            <a:noAutofit/>
          </a:bodyPr>
          <a:lstStyle/>
          <a:p>
            <a:pPr marL="0" lvl="0" indent="0" algn="ctr" defTabSz="444500">
              <a:lnSpc>
                <a:spcPct val="90000"/>
              </a:lnSpc>
              <a:spcBef>
                <a:spcPct val="0"/>
              </a:spcBef>
              <a:spcAft>
                <a:spcPct val="35000"/>
              </a:spcAft>
              <a:buNone/>
            </a:pPr>
            <a:r>
              <a:rPr lang="en-US" sz="1100" b="1" i="0" kern="1200" baseline="0"/>
              <a:t>Ensures consistency in execution</a:t>
            </a:r>
            <a:r>
              <a:rPr lang="en-US" sz="1100" kern="1200"/>
              <a:t> </a:t>
            </a:r>
            <a:r>
              <a:rPr lang="en-US" sz="1100" b="0" i="0" kern="1200" baseline="0"/>
              <a:t>→ Standardized understanding of data and processes across the team </a:t>
            </a:r>
            <a:endParaRPr lang="en-IN" sz="1100" kern="1200"/>
          </a:p>
        </p:txBody>
      </p:sp>
      <p:sp>
        <p:nvSpPr>
          <p:cNvPr id="18" name="Freeform: Shape 17">
            <a:extLst>
              <a:ext uri="{FF2B5EF4-FFF2-40B4-BE49-F238E27FC236}">
                <a16:creationId xmlns:a16="http://schemas.microsoft.com/office/drawing/2014/main" id="{B609CA53-4787-804C-0497-0C2E0FBE25E6}"/>
              </a:ext>
            </a:extLst>
          </p:cNvPr>
          <p:cNvSpPr/>
          <p:nvPr/>
        </p:nvSpPr>
        <p:spPr>
          <a:xfrm>
            <a:off x="8094920" y="1723355"/>
            <a:ext cx="1762002" cy="1152064"/>
          </a:xfrm>
          <a:prstGeom prst="roundRect">
            <a:avLst/>
          </a:pr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43110" tIns="36760" rIns="43110" bIns="36760" numCol="1" spcCol="1270" anchor="ctr" anchorCtr="0">
            <a:noAutofit/>
          </a:bodyPr>
          <a:lstStyle/>
          <a:p>
            <a:pPr marL="0" lvl="0" indent="0" algn="ctr" defTabSz="444500">
              <a:lnSpc>
                <a:spcPct val="90000"/>
              </a:lnSpc>
              <a:spcBef>
                <a:spcPct val="0"/>
              </a:spcBef>
              <a:spcAft>
                <a:spcPct val="35000"/>
              </a:spcAft>
              <a:buNone/>
            </a:pPr>
            <a:r>
              <a:rPr lang="en-US" sz="1100" b="1" i="0" kern="1200" baseline="0"/>
              <a:t>Supports seamless transition</a:t>
            </a:r>
            <a:r>
              <a:rPr lang="en-US" sz="1100" kern="1200"/>
              <a:t> </a:t>
            </a:r>
            <a:r>
              <a:rPr lang="en-US" sz="1100" b="0" i="0" kern="1200" baseline="0"/>
              <a:t>→ Knowledge is retained and accessible, reducing dependency on individuals </a:t>
            </a:r>
            <a:endParaRPr lang="en-IN" sz="1100" kern="1200"/>
          </a:p>
        </p:txBody>
      </p:sp>
      <p:sp>
        <p:nvSpPr>
          <p:cNvPr id="20" name="Freeform: Shape 19">
            <a:extLst>
              <a:ext uri="{FF2B5EF4-FFF2-40B4-BE49-F238E27FC236}">
                <a16:creationId xmlns:a16="http://schemas.microsoft.com/office/drawing/2014/main" id="{73F9A7D0-6CFD-AC5A-5B9E-7F7DA25424A1}"/>
              </a:ext>
            </a:extLst>
          </p:cNvPr>
          <p:cNvSpPr/>
          <p:nvPr/>
        </p:nvSpPr>
        <p:spPr>
          <a:xfrm>
            <a:off x="8094920" y="3313676"/>
            <a:ext cx="1762002" cy="1152064"/>
          </a:xfrm>
          <a:prstGeom prst="roundRect">
            <a:avLst/>
          </a:prstGeom>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43110" tIns="36760" rIns="43110" bIns="36760" numCol="1" spcCol="1270" anchor="ctr" anchorCtr="0">
            <a:noAutofit/>
          </a:bodyPr>
          <a:lstStyle/>
          <a:p>
            <a:pPr marL="0" lvl="0" indent="0" algn="ctr" defTabSz="444500">
              <a:lnSpc>
                <a:spcPct val="90000"/>
              </a:lnSpc>
              <a:spcBef>
                <a:spcPct val="0"/>
              </a:spcBef>
              <a:spcAft>
                <a:spcPct val="35000"/>
              </a:spcAft>
              <a:buNone/>
            </a:pPr>
            <a:r>
              <a:rPr lang="en-US" sz="1100" b="1" i="0" kern="1200" baseline="0"/>
              <a:t>Enables scalable operations</a:t>
            </a:r>
            <a:r>
              <a:rPr lang="en-US" sz="1100" kern="1200"/>
              <a:t> </a:t>
            </a:r>
            <a:r>
              <a:rPr lang="en-US" sz="1100" b="0" i="0" kern="1200" baseline="0"/>
              <a:t>→ Team can grow without losing context or slowing down delivery </a:t>
            </a:r>
            <a:endParaRPr lang="en-IN" sz="1100" kern="1200"/>
          </a:p>
        </p:txBody>
      </p:sp>
      <p:sp>
        <p:nvSpPr>
          <p:cNvPr id="15" name="TextBox 14">
            <a:extLst>
              <a:ext uri="{FF2B5EF4-FFF2-40B4-BE49-F238E27FC236}">
                <a16:creationId xmlns:a16="http://schemas.microsoft.com/office/drawing/2014/main" id="{F0894D7D-B358-99EB-4F26-BC20A81B929F}"/>
              </a:ext>
            </a:extLst>
          </p:cNvPr>
          <p:cNvSpPr txBox="1"/>
          <p:nvPr/>
        </p:nvSpPr>
        <p:spPr>
          <a:xfrm>
            <a:off x="9593783" y="1397129"/>
            <a:ext cx="968470" cy="369332"/>
          </a:xfrm>
          <a:prstGeom prst="rect">
            <a:avLst/>
          </a:prstGeom>
          <a:noFill/>
        </p:spPr>
        <p:txBody>
          <a:bodyPr wrap="none" rtlCol="0">
            <a:spAutoFit/>
          </a:bodyPr>
          <a:lstStyle/>
          <a:p>
            <a:r>
              <a:rPr lang="en-IN" b="1">
                <a:solidFill>
                  <a:schemeClr val="accent5">
                    <a:lumMod val="75000"/>
                  </a:schemeClr>
                </a:solidFill>
              </a:rPr>
              <a:t>Benefits</a:t>
            </a:r>
          </a:p>
        </p:txBody>
      </p:sp>
      <p:sp>
        <p:nvSpPr>
          <p:cNvPr id="17" name="TextBox 16">
            <a:extLst>
              <a:ext uri="{FF2B5EF4-FFF2-40B4-BE49-F238E27FC236}">
                <a16:creationId xmlns:a16="http://schemas.microsoft.com/office/drawing/2014/main" id="{84425C55-E553-B1ED-257C-3AB6FB99900E}"/>
              </a:ext>
            </a:extLst>
          </p:cNvPr>
          <p:cNvSpPr txBox="1"/>
          <p:nvPr/>
        </p:nvSpPr>
        <p:spPr>
          <a:xfrm>
            <a:off x="772475" y="1771540"/>
            <a:ext cx="4219403" cy="1015663"/>
          </a:xfrm>
          <a:prstGeom prst="rect">
            <a:avLst/>
          </a:prstGeom>
          <a:noFill/>
        </p:spPr>
        <p:txBody>
          <a:bodyPr wrap="square">
            <a:spAutoFit/>
          </a:bodyPr>
          <a:lstStyle/>
          <a:p>
            <a:r>
              <a:rPr lang="en-US" sz="1200"/>
              <a:t>Created a </a:t>
            </a:r>
            <a:r>
              <a:rPr lang="en-US" sz="1200" b="1"/>
              <a:t>dedicated ChatGPT workspace for the project</a:t>
            </a:r>
          </a:p>
          <a:p>
            <a:endParaRPr lang="en-US" sz="1200"/>
          </a:p>
          <a:p>
            <a:r>
              <a:rPr lang="en-US" sz="1200"/>
              <a:t>Configured it to: </a:t>
            </a:r>
          </a:p>
          <a:p>
            <a:pPr marL="742950" lvl="1" indent="-285750">
              <a:buFont typeface="Arial" panose="020B0604020202020204" pitchFamily="34" charset="0"/>
              <a:buChar char="•"/>
            </a:pPr>
            <a:r>
              <a:rPr lang="en-US" sz="1200"/>
              <a:t>Use project documentation as knowledge source </a:t>
            </a:r>
          </a:p>
          <a:p>
            <a:pPr marL="742950" lvl="1" indent="-285750">
              <a:buFont typeface="Arial" panose="020B0604020202020204" pitchFamily="34" charset="0"/>
              <a:buChar char="•"/>
            </a:pPr>
            <a:r>
              <a:rPr lang="en-US" sz="1200"/>
              <a:t>Support query-based access </a:t>
            </a:r>
          </a:p>
        </p:txBody>
      </p:sp>
      <p:sp>
        <p:nvSpPr>
          <p:cNvPr id="21" name="Shape 12">
            <a:extLst>
              <a:ext uri="{FF2B5EF4-FFF2-40B4-BE49-F238E27FC236}">
                <a16:creationId xmlns:a16="http://schemas.microsoft.com/office/drawing/2014/main" id="{B423C98F-5B05-2212-7D4F-FC181CF894D9}"/>
              </a:ext>
            </a:extLst>
          </p:cNvPr>
          <p:cNvSpPr/>
          <p:nvPr/>
        </p:nvSpPr>
        <p:spPr>
          <a:xfrm>
            <a:off x="485453" y="3469923"/>
            <a:ext cx="3347687" cy="2086498"/>
          </a:xfrm>
          <a:prstGeom prst="rect">
            <a:avLst/>
          </a:prstGeom>
          <a:solidFill>
            <a:srgbClr val="F4F6F9"/>
          </a:solidFill>
          <a:ln w="12700">
            <a:solidFill>
              <a:srgbClr val="E2E7EF"/>
            </a:solidFill>
            <a:prstDash val="solid"/>
          </a:ln>
          <a:effectLst>
            <a:outerShdw blurRad="38100" dist="127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2" name="Shape 13">
            <a:extLst>
              <a:ext uri="{FF2B5EF4-FFF2-40B4-BE49-F238E27FC236}">
                <a16:creationId xmlns:a16="http://schemas.microsoft.com/office/drawing/2014/main" id="{8A72D5D1-634B-B2B2-3E7E-A541E794D517}"/>
              </a:ext>
            </a:extLst>
          </p:cNvPr>
          <p:cNvSpPr/>
          <p:nvPr/>
        </p:nvSpPr>
        <p:spPr>
          <a:xfrm>
            <a:off x="485452" y="3469924"/>
            <a:ext cx="111607" cy="2086497"/>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3" name="Shape 9">
            <a:extLst>
              <a:ext uri="{FF2B5EF4-FFF2-40B4-BE49-F238E27FC236}">
                <a16:creationId xmlns:a16="http://schemas.microsoft.com/office/drawing/2014/main" id="{F3BB6914-3505-F418-4490-55D9564FB1C1}"/>
              </a:ext>
            </a:extLst>
          </p:cNvPr>
          <p:cNvSpPr/>
          <p:nvPr/>
        </p:nvSpPr>
        <p:spPr>
          <a:xfrm>
            <a:off x="485452" y="3306418"/>
            <a:ext cx="3367606" cy="500087"/>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4" name="Shape 10">
            <a:extLst>
              <a:ext uri="{FF2B5EF4-FFF2-40B4-BE49-F238E27FC236}">
                <a16:creationId xmlns:a16="http://schemas.microsoft.com/office/drawing/2014/main" id="{EFE5C6BF-4C46-5F48-D638-3952169F374A}"/>
              </a:ext>
            </a:extLst>
          </p:cNvPr>
          <p:cNvSpPr/>
          <p:nvPr/>
        </p:nvSpPr>
        <p:spPr>
          <a:xfrm>
            <a:off x="480881" y="3306418"/>
            <a:ext cx="110918" cy="500088"/>
          </a:xfrm>
          <a:prstGeom prst="rect">
            <a:avLst/>
          </a:prstGeom>
          <a:solidFill>
            <a:srgbClr val="E8610A"/>
          </a:solidFill>
          <a:ln w="12700">
            <a:solidFill>
              <a:srgbClr val="E861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FDDED586-AC93-6CBB-5844-D21A3B350314}"/>
              </a:ext>
            </a:extLst>
          </p:cNvPr>
          <p:cNvSpPr txBox="1"/>
          <p:nvPr/>
        </p:nvSpPr>
        <p:spPr>
          <a:xfrm>
            <a:off x="772475" y="3353919"/>
            <a:ext cx="2879990" cy="338554"/>
          </a:xfrm>
          <a:prstGeom prst="rect">
            <a:avLst/>
          </a:prstGeom>
          <a:noFill/>
        </p:spPr>
        <p:txBody>
          <a:bodyPr wrap="square">
            <a:spAutoFit/>
          </a:bodyPr>
          <a:lstStyle/>
          <a:p>
            <a:pPr>
              <a:buNone/>
            </a:pPr>
            <a:r>
              <a:rPr lang="en-US" sz="1600" b="1">
                <a:solidFill>
                  <a:schemeClr val="bg1"/>
                </a:solidFill>
              </a:rPr>
              <a:t>Query-Based Knowledge Access</a:t>
            </a:r>
          </a:p>
        </p:txBody>
      </p:sp>
      <p:sp>
        <p:nvSpPr>
          <p:cNvPr id="19" name="TextBox 18">
            <a:extLst>
              <a:ext uri="{FF2B5EF4-FFF2-40B4-BE49-F238E27FC236}">
                <a16:creationId xmlns:a16="http://schemas.microsoft.com/office/drawing/2014/main" id="{9FEC225D-5129-3BB1-A000-4281F6C15AE9}"/>
              </a:ext>
            </a:extLst>
          </p:cNvPr>
          <p:cNvSpPr txBox="1"/>
          <p:nvPr/>
        </p:nvSpPr>
        <p:spPr>
          <a:xfrm>
            <a:off x="677089" y="3970010"/>
            <a:ext cx="2975376" cy="1200329"/>
          </a:xfrm>
          <a:prstGeom prst="rect">
            <a:avLst/>
          </a:prstGeom>
          <a:noFill/>
        </p:spPr>
        <p:txBody>
          <a:bodyPr wrap="square">
            <a:spAutoFit/>
          </a:bodyPr>
          <a:lstStyle/>
          <a:p>
            <a:r>
              <a:rPr lang="en-US" sz="1200"/>
              <a:t>Enabled team to: </a:t>
            </a:r>
          </a:p>
          <a:p>
            <a:pPr marL="742950" lvl="1" indent="-285750">
              <a:buFont typeface="Arial" panose="020B0604020202020204" pitchFamily="34" charset="0"/>
              <a:buChar char="•"/>
            </a:pPr>
            <a:r>
              <a:rPr lang="en-US" sz="1200"/>
              <a:t>Ask questions on: </a:t>
            </a:r>
          </a:p>
          <a:p>
            <a:pPr marL="1143000" lvl="2" indent="-228600">
              <a:buFont typeface="Arial" panose="020B0604020202020204" pitchFamily="34" charset="0"/>
              <a:buChar char="•"/>
            </a:pPr>
            <a:r>
              <a:rPr lang="en-US" sz="1200"/>
              <a:t>Data flows </a:t>
            </a:r>
          </a:p>
          <a:p>
            <a:pPr marL="1143000" lvl="2" indent="-228600">
              <a:buFont typeface="Arial" panose="020B0604020202020204" pitchFamily="34" charset="0"/>
              <a:buChar char="•"/>
            </a:pPr>
            <a:r>
              <a:rPr lang="en-US" sz="1200"/>
              <a:t>Transformations </a:t>
            </a:r>
          </a:p>
          <a:p>
            <a:pPr marL="742950" lvl="1" indent="-285750">
              <a:buFont typeface="Arial" panose="020B0604020202020204" pitchFamily="34" charset="0"/>
              <a:buChar char="•"/>
            </a:pPr>
            <a:r>
              <a:rPr lang="en-US" sz="1200"/>
              <a:t>Get </a:t>
            </a:r>
            <a:r>
              <a:rPr lang="en-US" sz="1200" b="1"/>
              <a:t>instant contextual answers</a:t>
            </a:r>
            <a:r>
              <a:rPr lang="en-US" sz="1200"/>
              <a:t> </a:t>
            </a:r>
          </a:p>
          <a:p>
            <a:pPr marL="1143000" lvl="2" indent="-228600">
              <a:buFont typeface="Arial" panose="020B0604020202020204" pitchFamily="34" charset="0"/>
              <a:buChar char="•"/>
            </a:pPr>
            <a:r>
              <a:rPr lang="en-US" sz="1200"/>
              <a:t>Issue fixes </a:t>
            </a:r>
          </a:p>
        </p:txBody>
      </p:sp>
      <p:sp>
        <p:nvSpPr>
          <p:cNvPr id="27" name="Shape 12">
            <a:extLst>
              <a:ext uri="{FF2B5EF4-FFF2-40B4-BE49-F238E27FC236}">
                <a16:creationId xmlns:a16="http://schemas.microsoft.com/office/drawing/2014/main" id="{398ACDE7-8348-8845-5A51-547103892B1B}"/>
              </a:ext>
            </a:extLst>
          </p:cNvPr>
          <p:cNvSpPr/>
          <p:nvPr/>
        </p:nvSpPr>
        <p:spPr>
          <a:xfrm>
            <a:off x="3968702" y="3469922"/>
            <a:ext cx="3925624" cy="2086500"/>
          </a:xfrm>
          <a:prstGeom prst="rect">
            <a:avLst/>
          </a:prstGeom>
          <a:solidFill>
            <a:srgbClr val="F4F6F9"/>
          </a:solidFill>
          <a:ln w="12700">
            <a:solidFill>
              <a:srgbClr val="E2E7EF"/>
            </a:solidFill>
            <a:prstDash val="solid"/>
          </a:ln>
          <a:effectLst>
            <a:outerShdw blurRad="38100" dist="12700" dir="8100000" algn="bl" rotWithShape="0">
              <a:srgbClr val="000000">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8" name="Shape 13">
            <a:extLst>
              <a:ext uri="{FF2B5EF4-FFF2-40B4-BE49-F238E27FC236}">
                <a16:creationId xmlns:a16="http://schemas.microsoft.com/office/drawing/2014/main" id="{170C76CF-D0BF-4079-D4BD-E50232C441AF}"/>
              </a:ext>
            </a:extLst>
          </p:cNvPr>
          <p:cNvSpPr/>
          <p:nvPr/>
        </p:nvSpPr>
        <p:spPr>
          <a:xfrm>
            <a:off x="3968701" y="3469923"/>
            <a:ext cx="106347" cy="2086499"/>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29" name="Shape 9">
            <a:extLst>
              <a:ext uri="{FF2B5EF4-FFF2-40B4-BE49-F238E27FC236}">
                <a16:creationId xmlns:a16="http://schemas.microsoft.com/office/drawing/2014/main" id="{FFEDB22A-7CC1-4655-CDD1-5B2901B50649}"/>
              </a:ext>
            </a:extLst>
          </p:cNvPr>
          <p:cNvSpPr/>
          <p:nvPr/>
        </p:nvSpPr>
        <p:spPr>
          <a:xfrm>
            <a:off x="3968701" y="3306418"/>
            <a:ext cx="3925624" cy="500087"/>
          </a:xfrm>
          <a:prstGeom prst="rect">
            <a:avLst/>
          </a:prstGeom>
          <a:solidFill>
            <a:srgbClr val="0D1F3C"/>
          </a:solidFill>
          <a:ln w="12700">
            <a:solidFill>
              <a:srgbClr val="0D1F3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30" name="Shape 10">
            <a:extLst>
              <a:ext uri="{FF2B5EF4-FFF2-40B4-BE49-F238E27FC236}">
                <a16:creationId xmlns:a16="http://schemas.microsoft.com/office/drawing/2014/main" id="{3F3D1B1E-2292-221A-909A-4B92805D5FA1}"/>
              </a:ext>
            </a:extLst>
          </p:cNvPr>
          <p:cNvSpPr/>
          <p:nvPr/>
        </p:nvSpPr>
        <p:spPr>
          <a:xfrm>
            <a:off x="3973962" y="3306418"/>
            <a:ext cx="101086" cy="500088"/>
          </a:xfrm>
          <a:prstGeom prst="rect">
            <a:avLst/>
          </a:prstGeom>
          <a:solidFill>
            <a:srgbClr val="E8610A"/>
          </a:solidFill>
          <a:ln w="12700">
            <a:solidFill>
              <a:srgbClr val="E8610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F3F3F"/>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46597AC9-07F1-C3C2-8562-37243B96892D}"/>
              </a:ext>
            </a:extLst>
          </p:cNvPr>
          <p:cNvSpPr txBox="1"/>
          <p:nvPr/>
        </p:nvSpPr>
        <p:spPr>
          <a:xfrm>
            <a:off x="4255724" y="3353919"/>
            <a:ext cx="2879990" cy="338554"/>
          </a:xfrm>
          <a:prstGeom prst="rect">
            <a:avLst/>
          </a:prstGeom>
          <a:noFill/>
        </p:spPr>
        <p:txBody>
          <a:bodyPr wrap="square">
            <a:spAutoFit/>
          </a:bodyPr>
          <a:lstStyle/>
          <a:p>
            <a:pPr>
              <a:buNone/>
            </a:pPr>
            <a:r>
              <a:rPr lang="en-US" sz="1600" b="1">
                <a:solidFill>
                  <a:schemeClr val="bg1"/>
                </a:solidFill>
              </a:rPr>
              <a:t>How it Helps</a:t>
            </a:r>
          </a:p>
        </p:txBody>
      </p:sp>
      <p:sp>
        <p:nvSpPr>
          <p:cNvPr id="13" name="TextBox 12">
            <a:extLst>
              <a:ext uri="{FF2B5EF4-FFF2-40B4-BE49-F238E27FC236}">
                <a16:creationId xmlns:a16="http://schemas.microsoft.com/office/drawing/2014/main" id="{2B3085A0-278F-3E68-5AFC-FD8E086BF40F}"/>
              </a:ext>
            </a:extLst>
          </p:cNvPr>
          <p:cNvSpPr txBox="1"/>
          <p:nvPr/>
        </p:nvSpPr>
        <p:spPr>
          <a:xfrm>
            <a:off x="4146793" y="3829273"/>
            <a:ext cx="3747532" cy="1754326"/>
          </a:xfrm>
          <a:prstGeom prst="rect">
            <a:avLst/>
          </a:prstGeom>
          <a:noFill/>
        </p:spPr>
        <p:txBody>
          <a:bodyPr wrap="square">
            <a:spAutoFit/>
          </a:bodyPr>
          <a:lstStyle/>
          <a:p>
            <a:r>
              <a:rPr lang="en-US" sz="1200"/>
              <a:t>Used as a </a:t>
            </a:r>
            <a:r>
              <a:rPr lang="en-US" sz="1200" b="1"/>
              <a:t>central knowledge access layer</a:t>
            </a:r>
            <a:r>
              <a:rPr lang="en-US" sz="1200"/>
              <a:t> for the project </a:t>
            </a:r>
          </a:p>
          <a:p>
            <a:r>
              <a:rPr lang="en-US" sz="1200"/>
              <a:t>Provides instant access to: </a:t>
            </a:r>
          </a:p>
          <a:p>
            <a:endParaRPr lang="en-US" sz="1200"/>
          </a:p>
          <a:p>
            <a:pPr marL="742950" lvl="1" indent="-285750">
              <a:buFont typeface="Arial" panose="020B0604020202020204" pitchFamily="34" charset="0"/>
              <a:buChar char="•"/>
            </a:pPr>
            <a:r>
              <a:rPr lang="en-US" sz="1200"/>
              <a:t>Data Flow Diagram </a:t>
            </a:r>
          </a:p>
          <a:p>
            <a:pPr marL="742950" lvl="1" indent="-285750">
              <a:buFont typeface="Arial" panose="020B0604020202020204" pitchFamily="34" charset="0"/>
              <a:buChar char="•"/>
            </a:pPr>
            <a:r>
              <a:rPr lang="en-US" sz="1200"/>
              <a:t>Process Flow Diagram</a:t>
            </a:r>
          </a:p>
          <a:p>
            <a:pPr marL="742950" lvl="1" indent="-285750">
              <a:buFont typeface="Arial" panose="020B0604020202020204" pitchFamily="34" charset="0"/>
              <a:buChar char="•"/>
            </a:pPr>
            <a:r>
              <a:rPr lang="en-US" sz="1200"/>
              <a:t>Mapping Design sheet</a:t>
            </a:r>
          </a:p>
          <a:p>
            <a:pPr marL="742950" lvl="1" indent="-285750">
              <a:buFont typeface="Arial" panose="020B0604020202020204" pitchFamily="34" charset="0"/>
              <a:buChar char="•"/>
            </a:pPr>
            <a:r>
              <a:rPr lang="en-US" sz="1200"/>
              <a:t>Issue history and resolutions</a:t>
            </a:r>
          </a:p>
          <a:p>
            <a:pPr lvl="1"/>
            <a:endParaRPr lang="en-US" sz="1200"/>
          </a:p>
          <a:p>
            <a:r>
              <a:rPr lang="en-US" sz="1200"/>
              <a:t>Enables query-based interaction with project knowledge</a:t>
            </a:r>
          </a:p>
        </p:txBody>
      </p:sp>
    </p:spTree>
    <p:extLst>
      <p:ext uri="{BB962C8B-B14F-4D97-AF65-F5344CB8AC3E}">
        <p14:creationId xmlns:p14="http://schemas.microsoft.com/office/powerpoint/2010/main" val="1069549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BDC4A-125A-F088-0CD9-9C9F107E0B88}"/>
              </a:ext>
            </a:extLst>
          </p:cNvPr>
          <p:cNvSpPr>
            <a:spLocks noGrp="1"/>
          </p:cNvSpPr>
          <p:nvPr>
            <p:ph type="title"/>
          </p:nvPr>
        </p:nvSpPr>
        <p:spPr/>
        <p:txBody>
          <a:bodyPr>
            <a:noAutofit/>
          </a:bodyPr>
          <a:lstStyle/>
          <a:p>
            <a:r>
              <a:rPr lang="en-IN" sz="2400" dirty="0">
                <a:ea typeface="Segoe UI Historic"/>
                <a:cs typeface="Segoe UI Historic"/>
              </a:rPr>
              <a:t>Weekly Status Report – Nova Biomedical</a:t>
            </a:r>
            <a:br>
              <a:rPr lang="en-IN" sz="1800" dirty="0"/>
            </a:br>
            <a:r>
              <a:rPr lang="en-IN" sz="1400" dirty="0">
                <a:ea typeface="Segoe UI Historic"/>
                <a:cs typeface="Segoe UI Historic"/>
              </a:rPr>
              <a:t>Management Report : | Week of August 31– September 04, 2026</a:t>
            </a:r>
          </a:p>
        </p:txBody>
      </p:sp>
      <p:sp>
        <p:nvSpPr>
          <p:cNvPr id="4" name="Slide Number Placeholder 3">
            <a:extLst>
              <a:ext uri="{FF2B5EF4-FFF2-40B4-BE49-F238E27FC236}">
                <a16:creationId xmlns:a16="http://schemas.microsoft.com/office/drawing/2014/main" id="{8BF12638-2D68-57DF-8493-191BD68B1585}"/>
              </a:ext>
            </a:extLst>
          </p:cNvPr>
          <p:cNvSpPr>
            <a:spLocks noGrp="1"/>
          </p:cNvSpPr>
          <p:nvPr>
            <p:ph type="sldNum" sz="quarter" idx="4"/>
          </p:nvPr>
        </p:nvSpPr>
        <p:spPr/>
        <p:txBody>
          <a:bodyPr/>
          <a:lstStyle/>
          <a:p>
            <a:fld id="{274CC3B9-6596-1243-9665-72A444B9047F}" type="slidenum">
              <a:rPr lang="en-CA" smtClean="0"/>
              <a:pPr/>
              <a:t>9</a:t>
            </a:fld>
            <a:endParaRPr lang="en-CA"/>
          </a:p>
        </p:txBody>
      </p:sp>
      <p:graphicFrame>
        <p:nvGraphicFramePr>
          <p:cNvPr id="6" name="Table 5">
            <a:extLst>
              <a:ext uri="{FF2B5EF4-FFF2-40B4-BE49-F238E27FC236}">
                <a16:creationId xmlns:a16="http://schemas.microsoft.com/office/drawing/2014/main" id="{9D47D747-0EDB-F799-CABC-8D4D355AA0B1}"/>
              </a:ext>
            </a:extLst>
          </p:cNvPr>
          <p:cNvGraphicFramePr>
            <a:graphicFrameLocks noGrp="1"/>
          </p:cNvGraphicFramePr>
          <p:nvPr>
            <p:extLst>
              <p:ext uri="{D42A27DB-BD31-4B8C-83A1-F6EECF244321}">
                <p14:modId xmlns:p14="http://schemas.microsoft.com/office/powerpoint/2010/main" val="2107730070"/>
              </p:ext>
            </p:extLst>
          </p:nvPr>
        </p:nvGraphicFramePr>
        <p:xfrm>
          <a:off x="462116" y="877407"/>
          <a:ext cx="4037963" cy="3444240"/>
        </p:xfrm>
        <a:graphic>
          <a:graphicData uri="http://schemas.openxmlformats.org/drawingml/2006/table">
            <a:tbl>
              <a:tblPr firstRow="1" bandRow="1"/>
              <a:tblGrid>
                <a:gridCol w="4037963">
                  <a:extLst>
                    <a:ext uri="{9D8B030D-6E8A-4147-A177-3AD203B41FA5}">
                      <a16:colId xmlns:a16="http://schemas.microsoft.com/office/drawing/2014/main" val="2638798687"/>
                    </a:ext>
                  </a:extLst>
                </a:gridCol>
              </a:tblGrid>
              <a:tr h="296512">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r>
                        <a:rPr lang="en-IN" sz="1400" b="1" i="0" kern="1200">
                          <a:solidFill>
                            <a:schemeClr val="bg1"/>
                          </a:solidFill>
                          <a:effectLst/>
                          <a:latin typeface="Aptos" panose="02110004020202020204"/>
                          <a:ea typeface="+mn-ea"/>
                          <a:cs typeface="+mn-cs"/>
                        </a:rPr>
                        <a:t>Highlights &amp; Accomplishments</a:t>
                      </a:r>
                      <a:endParaRPr lang="en-IN" sz="1200" b="1">
                        <a:solidFill>
                          <a:schemeClr val="bg1"/>
                        </a:solidFill>
                      </a:endParaRPr>
                    </a:p>
                  </a:txBody>
                  <a:tcPr anchor="ctr">
                    <a:lnL w="12700" cmpd="sng">
                      <a:solidFill>
                        <a:schemeClr val="tx1"/>
                      </a:solidFill>
                    </a:lnL>
                    <a:lnR w="12700" cmpd="sng">
                      <a:solidFill>
                        <a:schemeClr val="tx1"/>
                      </a:solidFill>
                    </a:lnR>
                    <a:lnT w="12700" cmpd="sng">
                      <a:solidFill>
                        <a:schemeClr val="tx1"/>
                      </a:solidFill>
                    </a:lnT>
                    <a:lnB w="0" cmpd="sng">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2059917092"/>
                  </a:ext>
                </a:extLst>
              </a:tr>
              <a:tr h="2715563">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en-IN" sz="1400" b="1" dirty="0">
                          <a:solidFill>
                            <a:schemeClr val="accent6"/>
                          </a:solidFill>
                        </a:rPr>
                        <a:t>Completed Tasks</a:t>
                      </a:r>
                    </a:p>
                    <a:p>
                      <a:endParaRPr lang="en-US" sz="1200" b="1" i="0" u="none" strike="noStrike" kern="1200" noProof="0" dirty="0">
                        <a:solidFill>
                          <a:schemeClr val="tx1"/>
                        </a:solidFill>
                        <a:latin typeface="Aptos"/>
                        <a:ea typeface="+mn-ea"/>
                        <a:cs typeface="+mn-cs"/>
                      </a:endParaRPr>
                    </a:p>
                    <a:p>
                      <a:endParaRPr lang="en-US" sz="1200" b="0" i="0" u="none" strike="noStrike" kern="1200" noProof="0" dirty="0">
                        <a:solidFill>
                          <a:schemeClr val="tx1"/>
                        </a:solidFill>
                        <a:latin typeface="Aptos"/>
                        <a:ea typeface="+mn-ea"/>
                        <a:cs typeface="+mn-cs"/>
                      </a:endParaRPr>
                    </a:p>
                    <a:p>
                      <a:pPr lvl="0"/>
                      <a:r>
                        <a:rPr lang="en-US" sz="1200" b="1" i="0" u="none" strike="noStrike" kern="1200" noProof="0" dirty="0">
                          <a:solidFill>
                            <a:schemeClr val="tx1"/>
                          </a:solidFill>
                          <a:latin typeface="Aptos"/>
                          <a:ea typeface="+mn-ea"/>
                          <a:cs typeface="+mn-cs"/>
                        </a:rPr>
                        <a:t>Task No – 109: </a:t>
                      </a:r>
                      <a:r>
                        <a:rPr lang="en-IN" sz="1200" dirty="0"/>
                        <a:t>Implemented and validated the relationship/key fix, confirmed the Build Priorities report is working as expected</a:t>
                      </a:r>
                    </a:p>
                    <a:p>
                      <a:pPr lvl="0"/>
                      <a:endParaRPr lang="en-IN" sz="1200" b="0" i="0" u="none" strike="noStrike" kern="1200" noProof="0" dirty="0">
                        <a:solidFill>
                          <a:schemeClr val="tx1"/>
                        </a:solidFill>
                        <a:latin typeface="Aptos"/>
                        <a:ea typeface="+mn-ea"/>
                        <a:cs typeface="+mn-cs"/>
                      </a:endParaRPr>
                    </a:p>
                    <a:p>
                      <a:pPr lvl="0"/>
                      <a:r>
                        <a:rPr lang="en-IN" sz="1200" b="1" dirty="0"/>
                        <a:t>Task No-82 :</a:t>
                      </a:r>
                      <a:r>
                        <a:rPr lang="en-IN" sz="1200" dirty="0"/>
                        <a:t>Implemented changes to display only available reps in the lookup and added pacing for each rep.</a:t>
                      </a:r>
                    </a:p>
                    <a:p>
                      <a:pPr lvl="0"/>
                      <a:endParaRPr lang="en-IN" sz="1200" b="0" i="0" u="none" strike="noStrike" kern="1200" noProof="0" dirty="0">
                        <a:solidFill>
                          <a:schemeClr val="tx1"/>
                        </a:solidFill>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i="0" u="none" strike="noStrike" kern="1200" noProof="0" dirty="0">
                          <a:solidFill>
                            <a:schemeClr val="tx1"/>
                          </a:solidFill>
                          <a:latin typeface="Aptos"/>
                          <a:ea typeface="+mn-ea"/>
                          <a:cs typeface="+mn-cs"/>
                        </a:rPr>
                        <a:t>Task No-112  </a:t>
                      </a:r>
                      <a:r>
                        <a:rPr lang="en-IN" sz="1200" b="0" i="0" u="none" strike="noStrike" kern="1200" noProof="0" dirty="0">
                          <a:solidFill>
                            <a:schemeClr val="tx1"/>
                          </a:solidFill>
                          <a:latin typeface="Aptos"/>
                          <a:ea typeface="+mn-ea"/>
                          <a:cs typeface="+mn-cs"/>
                        </a:rPr>
                        <a:t>: </a:t>
                      </a:r>
                      <a:r>
                        <a:rPr lang="en-IN" sz="1200" dirty="0"/>
                        <a:t>Provided the required access to the requested users and asked Joe to validate the report access from his end.</a:t>
                      </a:r>
                    </a:p>
                    <a:p>
                      <a:pPr lvl="0"/>
                      <a:endParaRPr lang="en-US" sz="1200" b="0" i="0" u="none" strike="noStrike" kern="1200" noProof="0" dirty="0">
                        <a:solidFill>
                          <a:schemeClr val="tx1"/>
                        </a:solidFill>
                        <a:latin typeface="Aptos"/>
                        <a:ea typeface="+mn-ea"/>
                        <a:cs typeface="+mn-cs"/>
                      </a:endParaRPr>
                    </a:p>
                  </a:txBody>
                  <a:tcPr>
                    <a:lnL w="12700" cmpd="sng">
                      <a:solidFill>
                        <a:schemeClr val="tx1"/>
                      </a:solidFill>
                    </a:lnL>
                    <a:lnR w="12700" cmpd="sng">
                      <a:solidFill>
                        <a:schemeClr val="tx1"/>
                      </a:solidFill>
                    </a:lnR>
                    <a:lnT w="0" cmpd="sng">
                      <a:noFill/>
                    </a:lnT>
                    <a:lnB w="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9021874"/>
                  </a:ext>
                </a:extLst>
              </a:tr>
              <a:tr h="266861">
                <a:tc>
                  <a:txBody>
                    <a:bodyPr/>
                    <a:lstStyle/>
                    <a:p>
                      <a:pPr marL="0" marR="0" lvl="0" indent="0" algn="l" defTabSz="914400" rtl="0" eaLnBrk="1" fontAlgn="auto" latinLnBrk="0" hangingPunct="1">
                        <a:lnSpc>
                          <a:spcPct val="100000"/>
                        </a:lnSpc>
                        <a:spcBef>
                          <a:spcPts val="0"/>
                        </a:spcBef>
                        <a:spcAft>
                          <a:spcPts val="0"/>
                        </a:spcAft>
                        <a:buClrTx/>
                        <a:buSzTx/>
                        <a:buNone/>
                        <a:tabLst/>
                        <a:defRPr/>
                      </a:pPr>
                      <a:endParaRPr lang="en-US" sz="1200" b="1" i="0" u="none" strike="noStrike" kern="1200" noProof="0" dirty="0">
                        <a:solidFill>
                          <a:schemeClr val="tx1"/>
                        </a:solidFill>
                        <a:latin typeface="Aptos"/>
                        <a:ea typeface="+mn-ea"/>
                        <a:cs typeface="+mn-cs"/>
                      </a:endParaRPr>
                    </a:p>
                  </a:txBody>
                  <a:tcPr>
                    <a:lnL w="12700" cmpd="sng">
                      <a:solidFill>
                        <a:schemeClr val="tx1"/>
                      </a:solidFill>
                    </a:lnL>
                    <a:lnR w="12700" cmpd="sng">
                      <a:solidFill>
                        <a:schemeClr val="tx1"/>
                      </a:solidFill>
                    </a:lnR>
                    <a:lnT w="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5650773"/>
                  </a:ext>
                </a:extLst>
              </a:tr>
            </a:tbl>
          </a:graphicData>
        </a:graphic>
      </p:graphicFrame>
      <p:graphicFrame>
        <p:nvGraphicFramePr>
          <p:cNvPr id="8" name="Table 7">
            <a:extLst>
              <a:ext uri="{FF2B5EF4-FFF2-40B4-BE49-F238E27FC236}">
                <a16:creationId xmlns:a16="http://schemas.microsoft.com/office/drawing/2014/main" id="{2F7A4E10-11B7-0F73-897F-A90EA5E2AC4C}"/>
              </a:ext>
            </a:extLst>
          </p:cNvPr>
          <p:cNvGraphicFramePr>
            <a:graphicFrameLocks noGrp="1"/>
          </p:cNvGraphicFramePr>
          <p:nvPr>
            <p:extLst>
              <p:ext uri="{D42A27DB-BD31-4B8C-83A1-F6EECF244321}">
                <p14:modId xmlns:p14="http://schemas.microsoft.com/office/powerpoint/2010/main" val="2163005287"/>
              </p:ext>
            </p:extLst>
          </p:nvPr>
        </p:nvGraphicFramePr>
        <p:xfrm>
          <a:off x="7472149" y="4430069"/>
          <a:ext cx="4559870" cy="1567621"/>
        </p:xfrm>
        <a:graphic>
          <a:graphicData uri="http://schemas.openxmlformats.org/drawingml/2006/table">
            <a:tbl>
              <a:tblPr firstRow="1" bandRow="1"/>
              <a:tblGrid>
                <a:gridCol w="4559870">
                  <a:extLst>
                    <a:ext uri="{9D8B030D-6E8A-4147-A177-3AD203B41FA5}">
                      <a16:colId xmlns:a16="http://schemas.microsoft.com/office/drawing/2014/main" val="2638798687"/>
                    </a:ext>
                  </a:extLst>
                </a:gridCol>
              </a:tblGrid>
              <a:tr h="344651">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r>
                        <a:rPr lang="en-IN" sz="1400" b="1" i="0" kern="1200">
                          <a:solidFill>
                            <a:schemeClr val="bg1"/>
                          </a:solidFill>
                          <a:effectLst/>
                          <a:latin typeface="Aptos" panose="02110004020202020204"/>
                          <a:ea typeface="+mn-ea"/>
                          <a:cs typeface="+mn-cs"/>
                        </a:rPr>
                        <a:t>Risk &amp; Issues</a:t>
                      </a:r>
                      <a:endParaRPr lang="en-IN" sz="1200" b="1">
                        <a:solidFill>
                          <a:schemeClr val="bg1"/>
                        </a:solidFill>
                      </a:endParaRPr>
                    </a:p>
                  </a:txBody>
                  <a:tcPr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2059917092"/>
                  </a:ext>
                </a:extLst>
              </a:tr>
              <a:tr h="122297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en-IN" sz="1100" b="1"/>
                        <a:t>None</a:t>
                      </a:r>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9021874"/>
                  </a:ext>
                </a:extLst>
              </a:tr>
            </a:tbl>
          </a:graphicData>
        </a:graphic>
      </p:graphicFrame>
      <p:graphicFrame>
        <p:nvGraphicFramePr>
          <p:cNvPr id="12" name="Table 11">
            <a:extLst>
              <a:ext uri="{FF2B5EF4-FFF2-40B4-BE49-F238E27FC236}">
                <a16:creationId xmlns:a16="http://schemas.microsoft.com/office/drawing/2014/main" id="{99B36DA4-166E-6F18-FB13-EDE88A2CE3AC}"/>
              </a:ext>
            </a:extLst>
          </p:cNvPr>
          <p:cNvGraphicFramePr>
            <a:graphicFrameLocks noGrp="1"/>
          </p:cNvGraphicFramePr>
          <p:nvPr>
            <p:extLst>
              <p:ext uri="{D42A27DB-BD31-4B8C-83A1-F6EECF244321}">
                <p14:modId xmlns:p14="http://schemas.microsoft.com/office/powerpoint/2010/main" val="4187179447"/>
              </p:ext>
            </p:extLst>
          </p:nvPr>
        </p:nvGraphicFramePr>
        <p:xfrm>
          <a:off x="4597404" y="924231"/>
          <a:ext cx="7383113" cy="3397415"/>
        </p:xfrm>
        <a:graphic>
          <a:graphicData uri="http://schemas.openxmlformats.org/drawingml/2006/table">
            <a:tbl>
              <a:tblPr>
                <a:tableStyleId>{5C22544A-7EE6-4342-B048-85BDC9FD1C3A}</a:tableStyleId>
              </a:tblPr>
              <a:tblGrid>
                <a:gridCol w="1846842">
                  <a:extLst>
                    <a:ext uri="{9D8B030D-6E8A-4147-A177-3AD203B41FA5}">
                      <a16:colId xmlns:a16="http://schemas.microsoft.com/office/drawing/2014/main" val="3685670438"/>
                    </a:ext>
                  </a:extLst>
                </a:gridCol>
                <a:gridCol w="1311042">
                  <a:extLst>
                    <a:ext uri="{9D8B030D-6E8A-4147-A177-3AD203B41FA5}">
                      <a16:colId xmlns:a16="http://schemas.microsoft.com/office/drawing/2014/main" val="1218655193"/>
                    </a:ext>
                  </a:extLst>
                </a:gridCol>
                <a:gridCol w="1181461">
                  <a:extLst>
                    <a:ext uri="{9D8B030D-6E8A-4147-A177-3AD203B41FA5}">
                      <a16:colId xmlns:a16="http://schemas.microsoft.com/office/drawing/2014/main" val="4063665063"/>
                    </a:ext>
                  </a:extLst>
                </a:gridCol>
                <a:gridCol w="3043768">
                  <a:extLst>
                    <a:ext uri="{9D8B030D-6E8A-4147-A177-3AD203B41FA5}">
                      <a16:colId xmlns:a16="http://schemas.microsoft.com/office/drawing/2014/main" val="1419883937"/>
                    </a:ext>
                  </a:extLst>
                </a:gridCol>
              </a:tblGrid>
              <a:tr h="412418">
                <a:tc gridSpan="4">
                  <a:txBody>
                    <a:bodyPr/>
                    <a:lstStyle/>
                    <a:p>
                      <a:pPr algn="ctr" rtl="0" fontAlgn="ctr">
                        <a:buNone/>
                      </a:pPr>
                      <a:r>
                        <a:rPr lang="en-IN" sz="1400" b="1" u="none" strike="noStrike">
                          <a:solidFill>
                            <a:schemeClr val="bg1"/>
                          </a:solidFill>
                          <a:effectLst/>
                        </a:rPr>
                        <a:t>Milestone &amp; Supporting Activities</a:t>
                      </a:r>
                      <a:endParaRPr lang="en-IN" sz="1400" b="1" i="0" u="none" strike="noStrike">
                        <a:solidFill>
                          <a:schemeClr val="bg1"/>
                        </a:solidFill>
                        <a:effectLst/>
                        <a:latin typeface="Aptos" panose="020B0004020202020204" pitchFamily="34" charset="0"/>
                      </a:endParaRPr>
                    </a:p>
                  </a:txBody>
                  <a:tcPr marL="5550" marR="5550" marT="55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3E64"/>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23674036"/>
                  </a:ext>
                </a:extLst>
              </a:tr>
              <a:tr h="245006">
                <a:tc>
                  <a:txBody>
                    <a:bodyPr/>
                    <a:lstStyle/>
                    <a:p>
                      <a:pPr algn="ctr" fontAlgn="t">
                        <a:buNone/>
                      </a:pPr>
                      <a:r>
                        <a:rPr lang="en-IN" sz="1400" b="1" u="none" strike="noStrike">
                          <a:effectLst/>
                        </a:rPr>
                        <a:t>Milestone Area</a:t>
                      </a:r>
                      <a:endParaRPr lang="en-IN" sz="1400" b="1" i="0" u="none" strike="noStrike">
                        <a:solidFill>
                          <a:srgbClr val="000000"/>
                        </a:solidFill>
                        <a:effectLst/>
                        <a:latin typeface="Arial" panose="020B0604020202020204" pitchFamily="34" charset="0"/>
                      </a:endParaRPr>
                    </a:p>
                  </a:txBody>
                  <a:tcPr marL="5550" marR="5550" marT="55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buNone/>
                      </a:pPr>
                      <a:r>
                        <a:rPr lang="en-IN" sz="1400" b="1" u="none" strike="noStrike">
                          <a:effectLst/>
                        </a:rPr>
                        <a:t>Task</a:t>
                      </a:r>
                      <a:endParaRPr lang="en-IN" sz="1400" b="1" i="0" u="none" strike="noStrike">
                        <a:solidFill>
                          <a:srgbClr val="000000"/>
                        </a:solidFill>
                        <a:effectLst/>
                        <a:latin typeface="Arial" panose="020B0604020202020204" pitchFamily="34" charset="0"/>
                      </a:endParaRPr>
                    </a:p>
                  </a:txBody>
                  <a:tcPr marL="5550" marR="5550" marT="55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buNone/>
                      </a:pPr>
                      <a:r>
                        <a:rPr lang="en-IN" sz="1400" b="1" u="none" strike="noStrike">
                          <a:effectLst/>
                        </a:rPr>
                        <a:t>Status</a:t>
                      </a:r>
                      <a:endParaRPr lang="en-IN" sz="1400" b="1" i="0" u="none" strike="noStrike">
                        <a:solidFill>
                          <a:srgbClr val="000000"/>
                        </a:solidFill>
                        <a:effectLst/>
                        <a:latin typeface="Arial" panose="020B0604020202020204" pitchFamily="34" charset="0"/>
                      </a:endParaRPr>
                    </a:p>
                  </a:txBody>
                  <a:tcPr marL="5550" marR="5550" marT="55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buNone/>
                      </a:pPr>
                      <a:r>
                        <a:rPr lang="en-IN" sz="1400" b="1" u="none" strike="noStrike">
                          <a:effectLst/>
                        </a:rPr>
                        <a:t>Remarks</a:t>
                      </a:r>
                      <a:endParaRPr lang="en-IN" sz="1400" b="1" i="0" u="none" strike="noStrike">
                        <a:solidFill>
                          <a:srgbClr val="000000"/>
                        </a:solidFill>
                        <a:effectLst/>
                        <a:latin typeface="Arial" panose="020B0604020202020204" pitchFamily="34" charset="0"/>
                      </a:endParaRPr>
                    </a:p>
                  </a:txBody>
                  <a:tcPr marL="5550" marR="5550" marT="55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4300899"/>
                  </a:ext>
                </a:extLst>
              </a:tr>
              <a:tr h="798594">
                <a:tc>
                  <a:txBody>
                    <a:bodyPr/>
                    <a:lstStyle/>
                    <a:p>
                      <a:pPr marL="0" marR="0" lvl="0" indent="0" algn="l">
                        <a:lnSpc>
                          <a:spcPct val="100000"/>
                        </a:lnSpc>
                        <a:spcBef>
                          <a:spcPts val="0"/>
                        </a:spcBef>
                        <a:spcAft>
                          <a:spcPts val="0"/>
                        </a:spcAft>
                        <a:buNone/>
                      </a:pPr>
                      <a:r>
                        <a:rPr lang="en-US" sz="1200" b="0"/>
                        <a:t>ECC Migration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200" b="0" dirty="0"/>
                        <a:t>E</a:t>
                      </a:r>
                      <a:r>
                        <a:rPr lang="en-IN" sz="1200" b="0" dirty="0"/>
                        <a:t>cc support</a:t>
                      </a:r>
                      <a:endParaRPr lang="en-US" sz="1200" dirty="0"/>
                    </a:p>
                  </a:txBody>
                  <a:tcPr marL="7620" marR="7620" marT="76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dk1"/>
                          </a:solidFill>
                          <a:effectLst/>
                          <a:latin typeface="+mn-lt"/>
                          <a:ea typeface="+mn-ea"/>
                          <a:cs typeface="+mn-cs"/>
                        </a:rPr>
                        <a:t>🟡</a:t>
                      </a:r>
                      <a:r>
                        <a:rPr lang="en-IN" sz="1200" b="0" i="0" u="none" strike="noStrike" kern="1200" dirty="0">
                          <a:solidFill>
                            <a:schemeClr val="dk1"/>
                          </a:solidFill>
                          <a:effectLst/>
                          <a:latin typeface="+mn-lt"/>
                          <a:ea typeface="+mn-ea"/>
                          <a:cs typeface="+mn-cs"/>
                        </a:rPr>
                        <a:t>In Progress</a:t>
                      </a:r>
                      <a:endParaRPr lang="en-US"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200" dirty="0"/>
                        <a:t>Continuing to provide support for the migration</a:t>
                      </a:r>
                    </a:p>
                  </a:txBody>
                  <a:tcPr marL="7620" marR="7620" marT="76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72141303"/>
                  </a:ext>
                </a:extLst>
              </a:tr>
              <a:tr h="1212602">
                <a:tc>
                  <a:txBody>
                    <a:bodyPr/>
                    <a:lstStyle/>
                    <a:p>
                      <a:pPr marL="0" lvl="0" algn="l">
                        <a:buNone/>
                      </a:pPr>
                      <a:r>
                        <a:rPr lang="en-US" sz="1200" dirty="0"/>
                        <a:t>Enable service accounts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200" dirty="0"/>
                        <a:t>Service account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dk1"/>
                          </a:solidFill>
                          <a:effectLst/>
                          <a:latin typeface="+mn-lt"/>
                          <a:ea typeface="+mn-ea"/>
                          <a:cs typeface="+mn-cs"/>
                        </a:rPr>
                        <a:t>🟡</a:t>
                      </a:r>
                      <a:r>
                        <a:rPr lang="en-IN" sz="1200" b="0" i="0" u="none" strike="noStrike" kern="1200">
                          <a:solidFill>
                            <a:schemeClr val="dk1"/>
                          </a:solidFill>
                          <a:effectLst/>
                          <a:latin typeface="+mn-lt"/>
                          <a:ea typeface="+mn-ea"/>
                          <a:cs typeface="+mn-cs"/>
                        </a:rPr>
                        <a:t>In Progress</a:t>
                      </a:r>
                      <a:endParaRPr lang="en-US" sz="1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r>
                        <a:rPr lang="en-IN" sz="1200" dirty="0"/>
                        <a:t>Reviewing the service-account limitation and working toward a solution that avoids dependency on individual employee credentials, eliminating a single point of failure for critical reporting and automation.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51683395"/>
                  </a:ext>
                </a:extLst>
              </a:tr>
              <a:tr h="728795">
                <a:tc>
                  <a:txBody>
                    <a:bodyPr/>
                    <a:lstStyle/>
                    <a:p>
                      <a:pPr marL="0" marR="0" lvl="0" indent="0" algn="l">
                        <a:lnSpc>
                          <a:spcPct val="100000"/>
                        </a:lnSpc>
                        <a:spcBef>
                          <a:spcPts val="0"/>
                        </a:spcBef>
                        <a:spcAft>
                          <a:spcPts val="0"/>
                        </a:spcAft>
                        <a:buNone/>
                      </a:pPr>
                      <a:r>
                        <a:rPr lang="en-IN" sz="1200" b="0" dirty="0"/>
                        <a:t>CRM (</a:t>
                      </a:r>
                      <a:r>
                        <a:rPr lang="en-IN" sz="1200" b="0" dirty="0" err="1"/>
                        <a:t>OpFocus</a:t>
                      </a:r>
                      <a:r>
                        <a:rPr lang="en-IN" sz="1200" b="0" dirty="0"/>
                        <a:t>)</a:t>
                      </a:r>
                      <a:endParaRPr lang="en-US" sz="1200" b="0" dirty="0"/>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IN" sz="1200" dirty="0" err="1"/>
                        <a:t>opFocus</a:t>
                      </a:r>
                      <a:r>
                        <a:rPr lang="en-IN" sz="1200" dirty="0"/>
                        <a:t>  </a:t>
                      </a:r>
                      <a:endParaRPr lang="en-US" sz="1200" dirty="0"/>
                    </a:p>
                  </a:txBody>
                  <a:tcPr marL="7620" marR="7620" marT="76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dk1"/>
                          </a:solidFill>
                          <a:effectLst/>
                          <a:latin typeface="+mn-lt"/>
                          <a:ea typeface="+mn-ea"/>
                          <a:cs typeface="+mn-cs"/>
                        </a:rPr>
                        <a:t>🟡</a:t>
                      </a:r>
                      <a:r>
                        <a:rPr lang="en-IN" sz="1200" b="0" i="0" u="none" strike="noStrike" kern="1200" dirty="0">
                          <a:solidFill>
                            <a:schemeClr val="dk1"/>
                          </a:solidFill>
                          <a:effectLst/>
                          <a:latin typeface="+mn-lt"/>
                          <a:ea typeface="+mn-ea"/>
                          <a:cs typeface="+mn-cs"/>
                        </a:rPr>
                        <a:t>In Progress</a:t>
                      </a:r>
                      <a:endParaRPr lang="en-US" sz="1200" dirty="0"/>
                    </a:p>
                    <a:p>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46" rtl="0" eaLnBrk="1" latinLnBrk="0" hangingPunct="1"/>
                      <a:r>
                        <a:rPr lang="en-IN" sz="1200" dirty="0"/>
                        <a:t>Ingested the required Pivotal tables into Bronze. Providing Bronze access to the </a:t>
                      </a:r>
                      <a:r>
                        <a:rPr lang="en-IN" sz="1200" dirty="0" err="1"/>
                        <a:t>OpFocus</a:t>
                      </a:r>
                      <a:r>
                        <a:rPr lang="en-IN" sz="1200" dirty="0"/>
                        <a:t> team is currently in progress.</a:t>
                      </a:r>
                      <a:endParaRPr lang="en-IN" sz="1200" kern="1200" dirty="0">
                        <a:solidFill>
                          <a:schemeClr val="dk1"/>
                        </a:solidFill>
                        <a:latin typeface="+mn-lt"/>
                        <a:ea typeface="+mn-ea"/>
                        <a:cs typeface="+mn-cs"/>
                      </a:endParaRPr>
                    </a:p>
                  </a:txBody>
                  <a:tcPr marL="7620" marR="7620" marT="7620"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0060241"/>
                  </a:ext>
                </a:extLst>
              </a:tr>
            </a:tbl>
          </a:graphicData>
        </a:graphic>
      </p:graphicFrame>
      <p:graphicFrame>
        <p:nvGraphicFramePr>
          <p:cNvPr id="19" name="Table 18">
            <a:extLst>
              <a:ext uri="{FF2B5EF4-FFF2-40B4-BE49-F238E27FC236}">
                <a16:creationId xmlns:a16="http://schemas.microsoft.com/office/drawing/2014/main" id="{77EA5103-991E-8DAB-9A0B-0DB869E59938}"/>
              </a:ext>
            </a:extLst>
          </p:cNvPr>
          <p:cNvGraphicFramePr>
            <a:graphicFrameLocks noGrp="1"/>
          </p:cNvGraphicFramePr>
          <p:nvPr>
            <p:extLst>
              <p:ext uri="{D42A27DB-BD31-4B8C-83A1-F6EECF244321}">
                <p14:modId xmlns:p14="http://schemas.microsoft.com/office/powerpoint/2010/main" val="3630694802"/>
              </p:ext>
            </p:extLst>
          </p:nvPr>
        </p:nvGraphicFramePr>
        <p:xfrm>
          <a:off x="465667" y="4430069"/>
          <a:ext cx="6909157" cy="1585931"/>
        </p:xfrm>
        <a:graphic>
          <a:graphicData uri="http://schemas.openxmlformats.org/drawingml/2006/table">
            <a:tbl>
              <a:tblPr>
                <a:tableStyleId>{5C22544A-7EE6-4342-B048-85BDC9FD1C3A}</a:tableStyleId>
              </a:tblPr>
              <a:tblGrid>
                <a:gridCol w="6909157">
                  <a:extLst>
                    <a:ext uri="{9D8B030D-6E8A-4147-A177-3AD203B41FA5}">
                      <a16:colId xmlns:a16="http://schemas.microsoft.com/office/drawing/2014/main" val="325615774"/>
                    </a:ext>
                  </a:extLst>
                </a:gridCol>
              </a:tblGrid>
              <a:tr h="504909">
                <a:tc>
                  <a:txBody>
                    <a:bodyPr/>
                    <a:lstStyle/>
                    <a:p>
                      <a:pPr algn="l" rtl="0" fontAlgn="ctr">
                        <a:buNone/>
                      </a:pPr>
                      <a:r>
                        <a:rPr lang="en-US" sz="1600" b="1" u="none" strike="noStrike">
                          <a:solidFill>
                            <a:schemeClr val="bg1"/>
                          </a:solidFill>
                          <a:effectLst/>
                        </a:rPr>
                        <a:t>Upcoming Activities </a:t>
                      </a:r>
                      <a:r>
                        <a:rPr lang="en-US" sz="1400" b="1" u="none" strike="noStrike">
                          <a:solidFill>
                            <a:schemeClr val="bg1"/>
                          </a:solidFill>
                          <a:effectLst/>
                        </a:rPr>
                        <a:t>( Next Week Plan)</a:t>
                      </a:r>
                      <a:endParaRPr lang="en-US" sz="1600" b="1" i="0" u="none" strike="noStrike">
                        <a:solidFill>
                          <a:schemeClr val="bg1"/>
                        </a:solidFill>
                        <a:effectLst/>
                        <a:latin typeface="Aptos" panose="020B0004020202020204" pitchFamily="34" charset="0"/>
                      </a:endParaRPr>
                    </a:p>
                  </a:txBody>
                  <a:tcPr marL="7111" marR="7111" marT="71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63E64"/>
                    </a:solidFill>
                  </a:tcPr>
                </a:tc>
                <a:extLst>
                  <a:ext uri="{0D108BD9-81ED-4DB2-BD59-A6C34878D82A}">
                    <a16:rowId xmlns:a16="http://schemas.microsoft.com/office/drawing/2014/main" val="2406986336"/>
                  </a:ext>
                </a:extLst>
              </a:tr>
              <a:tr h="734765">
                <a:tc>
                  <a:txBody>
                    <a:bodyPr/>
                    <a:lstStyle/>
                    <a:p>
                      <a:pPr marL="0" marR="0" lvl="0" indent="0" algn="l" rtl="0" eaLnBrk="1" fontAlgn="t" latinLnBrk="0" hangingPunct="1">
                        <a:lnSpc>
                          <a:spcPct val="100000"/>
                        </a:lnSpc>
                        <a:spcBef>
                          <a:spcPts val="0"/>
                        </a:spcBef>
                        <a:spcAft>
                          <a:spcPts val="0"/>
                        </a:spcAft>
                        <a:buClrTx/>
                        <a:buSzTx/>
                        <a:buNone/>
                      </a:pPr>
                      <a:endParaRPr lang="en-IN" sz="1200" b="1" u="none" strike="noStrike">
                        <a:effectLst/>
                        <a:latin typeface="+mn-lt"/>
                      </a:endParaRPr>
                    </a:p>
                    <a:p>
                      <a:pPr marL="0" marR="0" lvl="0" indent="0" algn="l" rtl="0" eaLnBrk="1" fontAlgn="t" latinLnBrk="0" hangingPunct="1">
                        <a:lnSpc>
                          <a:spcPct val="100000"/>
                        </a:lnSpc>
                        <a:spcBef>
                          <a:spcPts val="0"/>
                        </a:spcBef>
                        <a:spcAft>
                          <a:spcPts val="0"/>
                        </a:spcAft>
                        <a:buClrTx/>
                        <a:buSzTx/>
                        <a:buNone/>
                      </a:pPr>
                      <a:r>
                        <a:rPr lang="en-IN" sz="1200" b="1" u="none" strike="noStrike">
                          <a:effectLst/>
                          <a:latin typeface="+mn-lt"/>
                        </a:rPr>
                        <a:t>One Nova Booking &amp; Shipment , One Nova Pivotal  &amp; One Nova open shipments, One Nova Profitability.</a:t>
                      </a:r>
                    </a:p>
                    <a:p>
                      <a:pPr marL="0" marR="0" lvl="0" indent="0" algn="l" rtl="0" eaLnBrk="1" fontAlgn="t" latinLnBrk="0" hangingPunct="1">
                        <a:lnSpc>
                          <a:spcPct val="100000"/>
                        </a:lnSpc>
                        <a:spcBef>
                          <a:spcPts val="0"/>
                        </a:spcBef>
                        <a:spcAft>
                          <a:spcPts val="0"/>
                        </a:spcAft>
                        <a:buClrTx/>
                        <a:buSzTx/>
                        <a:buNone/>
                      </a:pPr>
                      <a:r>
                        <a:rPr lang="en-IN" sz="1200" b="1" u="none" strike="noStrike">
                          <a:effectLst/>
                          <a:latin typeface="+mn-lt"/>
                        </a:rPr>
                        <a:t> - </a:t>
                      </a:r>
                      <a:r>
                        <a:rPr lang="en-US" sz="1200"/>
                        <a:t>Continue to Support.</a:t>
                      </a:r>
                    </a:p>
                    <a:p>
                      <a:pPr marL="0" marR="0" lvl="0" indent="0" algn="l" rtl="0" eaLnBrk="1" fontAlgn="t" latinLnBrk="0" hangingPunct="1">
                        <a:lnSpc>
                          <a:spcPct val="100000"/>
                        </a:lnSpc>
                        <a:spcBef>
                          <a:spcPts val="0"/>
                        </a:spcBef>
                        <a:spcAft>
                          <a:spcPts val="0"/>
                        </a:spcAft>
                        <a:buClrTx/>
                        <a:buSzTx/>
                        <a:buNone/>
                      </a:pPr>
                      <a:r>
                        <a:rPr lang="en-IN" sz="1200" b="1" u="none" strike="noStrike">
                          <a:effectLst/>
                          <a:latin typeface="+mn-lt"/>
                        </a:rPr>
                        <a:t>ECC Migration </a:t>
                      </a:r>
                      <a:r>
                        <a:rPr lang="en-IN" sz="1200" b="0" u="none" strike="noStrike">
                          <a:effectLst/>
                          <a:latin typeface="+mn-lt"/>
                        </a:rPr>
                        <a:t>– Continue to Support.</a:t>
                      </a:r>
                    </a:p>
                    <a:p>
                      <a:pPr marL="0" marR="0" lvl="0" indent="0" algn="l" rtl="0" eaLnBrk="1" fontAlgn="t" latinLnBrk="0" hangingPunct="1">
                        <a:lnSpc>
                          <a:spcPct val="100000"/>
                        </a:lnSpc>
                        <a:spcBef>
                          <a:spcPts val="0"/>
                        </a:spcBef>
                        <a:spcAft>
                          <a:spcPts val="0"/>
                        </a:spcAft>
                        <a:buClrTx/>
                        <a:buSzTx/>
                        <a:buNone/>
                      </a:pPr>
                      <a:endParaRPr lang="en-IN" sz="1200" b="0" u="none" strike="noStrike">
                        <a:effectLst/>
                        <a:latin typeface="+mn-lt"/>
                      </a:endParaRPr>
                    </a:p>
                  </a:txBody>
                  <a:tcPr marL="7111" marR="7111" marT="7111"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04079456"/>
                  </a:ext>
                </a:extLst>
              </a:tr>
              <a:tr h="40184">
                <a:tc>
                  <a:txBody>
                    <a:bodyPr/>
                    <a:lstStyle/>
                    <a:p>
                      <a:pPr marL="0" marR="0" lvl="0" indent="0" algn="l" defTabSz="914446" rtl="0" eaLnBrk="1" fontAlgn="t" latinLnBrk="0" hangingPunct="1">
                        <a:lnSpc>
                          <a:spcPct val="100000"/>
                        </a:lnSpc>
                        <a:spcBef>
                          <a:spcPts val="0"/>
                        </a:spcBef>
                        <a:spcAft>
                          <a:spcPts val="0"/>
                        </a:spcAft>
                        <a:buClrTx/>
                        <a:buSzTx/>
                        <a:buFontTx/>
                        <a:buNone/>
                        <a:tabLst/>
                        <a:defRPr/>
                      </a:pPr>
                      <a:endParaRPr lang="en-US" sz="1000" b="0" i="0" u="none" strike="noStrike" kern="1200">
                        <a:solidFill>
                          <a:schemeClr val="dk1"/>
                        </a:solidFill>
                        <a:effectLst/>
                        <a:latin typeface="+mn-lt"/>
                        <a:ea typeface="+mn-ea"/>
                        <a:cs typeface="+mn-cs"/>
                      </a:endParaRPr>
                    </a:p>
                  </a:txBody>
                  <a:tcPr marL="7111" marR="7111" marT="7111"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1514103"/>
                  </a:ext>
                </a:extLst>
              </a:tr>
            </a:tbl>
          </a:graphicData>
        </a:graphic>
      </p:graphicFrame>
    </p:spTree>
    <p:extLst>
      <p:ext uri="{BB962C8B-B14F-4D97-AF65-F5344CB8AC3E}">
        <p14:creationId xmlns:p14="http://schemas.microsoft.com/office/powerpoint/2010/main" val="521424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C9C9C-4D0D-AA8E-63B2-274214765104}"/>
              </a:ext>
            </a:extLst>
          </p:cNvPr>
          <p:cNvSpPr>
            <a:spLocks noGrp="1"/>
          </p:cNvSpPr>
          <p:nvPr>
            <p:ph type="title"/>
          </p:nvPr>
        </p:nvSpPr>
        <p:spPr/>
        <p:txBody>
          <a:bodyPr/>
          <a:lstStyle/>
          <a:p>
            <a:r>
              <a:rPr lang="en-IN"/>
              <a:t>Professional Accomplishment</a:t>
            </a:r>
          </a:p>
        </p:txBody>
      </p:sp>
      <p:sp>
        <p:nvSpPr>
          <p:cNvPr id="4" name="Slide Number Placeholder 3">
            <a:extLst>
              <a:ext uri="{FF2B5EF4-FFF2-40B4-BE49-F238E27FC236}">
                <a16:creationId xmlns:a16="http://schemas.microsoft.com/office/drawing/2014/main" id="{CBFF9EC2-E5D8-C3B5-2A3F-365AB99794A0}"/>
              </a:ext>
            </a:extLst>
          </p:cNvPr>
          <p:cNvSpPr>
            <a:spLocks noGrp="1"/>
          </p:cNvSpPr>
          <p:nvPr>
            <p:ph type="sldNum" sz="quarter" idx="4"/>
          </p:nvPr>
        </p:nvSpPr>
        <p:spPr/>
        <p:txBody>
          <a:bodyPr/>
          <a:lstStyle/>
          <a:p>
            <a:fld id="{274CC3B9-6596-1243-9665-72A444B9047F}" type="slidenum">
              <a:rPr lang="en-CA" smtClean="0"/>
              <a:pPr/>
              <a:t>10</a:t>
            </a:fld>
            <a:endParaRPr lang="en-CA"/>
          </a:p>
        </p:txBody>
      </p:sp>
      <p:grpSp>
        <p:nvGrpSpPr>
          <p:cNvPr id="39" name="Group 38">
            <a:extLst>
              <a:ext uri="{FF2B5EF4-FFF2-40B4-BE49-F238E27FC236}">
                <a16:creationId xmlns:a16="http://schemas.microsoft.com/office/drawing/2014/main" id="{6626E901-1E1D-70D5-7917-CDC6B311EAC0}"/>
              </a:ext>
            </a:extLst>
          </p:cNvPr>
          <p:cNvGrpSpPr/>
          <p:nvPr/>
        </p:nvGrpSpPr>
        <p:grpSpPr>
          <a:xfrm>
            <a:off x="488335" y="2862072"/>
            <a:ext cx="11277568" cy="3168396"/>
            <a:chOff x="457216" y="1394460"/>
            <a:chExt cx="11277568" cy="4069080"/>
          </a:xfrm>
        </p:grpSpPr>
        <p:sp>
          <p:nvSpPr>
            <p:cNvPr id="5" name="Rounded Rectangle 6">
              <a:extLst>
                <a:ext uri="{FF2B5EF4-FFF2-40B4-BE49-F238E27FC236}">
                  <a16:creationId xmlns:a16="http://schemas.microsoft.com/office/drawing/2014/main" id="{96CF2C2C-26AE-7B00-4DD7-B51A8B907033}"/>
                </a:ext>
              </a:extLst>
            </p:cNvPr>
            <p:cNvSpPr/>
            <p:nvPr/>
          </p:nvSpPr>
          <p:spPr>
            <a:xfrm>
              <a:off x="457216" y="1394460"/>
              <a:ext cx="2682232" cy="4069080"/>
            </a:xfrm>
            <a:prstGeom prst="roundRect">
              <a:avLst>
                <a:gd name="adj" fmla="val 5000"/>
              </a:avLst>
            </a:prstGeom>
            <a:solidFill>
              <a:srgbClr val="FFFFFF"/>
            </a:solidFill>
            <a:ln w="9525">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a:p>
          </p:txBody>
        </p:sp>
        <p:sp>
          <p:nvSpPr>
            <p:cNvPr id="6" name="Rectangle 5">
              <a:extLst>
                <a:ext uri="{FF2B5EF4-FFF2-40B4-BE49-F238E27FC236}">
                  <a16:creationId xmlns:a16="http://schemas.microsoft.com/office/drawing/2014/main" id="{EF4CD073-5907-CCCC-8D95-34DEE47EAA3C}"/>
                </a:ext>
              </a:extLst>
            </p:cNvPr>
            <p:cNvSpPr/>
            <p:nvPr/>
          </p:nvSpPr>
          <p:spPr>
            <a:xfrm>
              <a:off x="457216" y="1394460"/>
              <a:ext cx="2682232" cy="105156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bIns="914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1800" b="1">
                  <a:solidFill>
                    <a:srgbClr val="FFFFFF"/>
                  </a:solidFill>
                  <a:latin typeface="Calibri"/>
                </a:rPr>
                <a:t>Subbarayuddu</a:t>
              </a:r>
            </a:p>
            <a:p>
              <a:pPr algn="l"/>
              <a:r>
                <a:rPr sz="1100" i="1">
                  <a:solidFill>
                    <a:srgbClr val="CFDBEC"/>
                  </a:solidFill>
                  <a:latin typeface="Calibri"/>
                </a:rPr>
                <a:t>Data Engineer</a:t>
              </a:r>
            </a:p>
          </p:txBody>
        </p:sp>
        <p:sp>
          <p:nvSpPr>
            <p:cNvPr id="7" name="Rounded Rectangle 8">
              <a:extLst>
                <a:ext uri="{FF2B5EF4-FFF2-40B4-BE49-F238E27FC236}">
                  <a16:creationId xmlns:a16="http://schemas.microsoft.com/office/drawing/2014/main" id="{BF048B42-9D56-8D2C-520B-BE16706DFE1F}"/>
                </a:ext>
              </a:extLst>
            </p:cNvPr>
            <p:cNvSpPr/>
            <p:nvPr/>
          </p:nvSpPr>
          <p:spPr>
            <a:xfrm>
              <a:off x="2242064" y="1976860"/>
              <a:ext cx="813817" cy="914400"/>
            </a:xfrm>
            <a:prstGeom prst="roundRect">
              <a:avLst>
                <a:gd name="adj" fmla="val 12000"/>
              </a:avLst>
            </a:prstGeom>
            <a:solidFill>
              <a:srgbClr val="E86A33"/>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3400" b="1">
                  <a:solidFill>
                    <a:srgbClr val="FFFFFF"/>
                  </a:solidFill>
                  <a:latin typeface="Calibri"/>
                </a:rPr>
                <a:t>4</a:t>
              </a:r>
            </a:p>
            <a:p>
              <a:pPr algn="ctr"/>
              <a:r>
                <a:rPr sz="900" b="1">
                  <a:solidFill>
                    <a:srgbClr val="FFFFFF"/>
                  </a:solidFill>
                  <a:latin typeface="Calibri"/>
                </a:rPr>
                <a:t>Certifications</a:t>
              </a:r>
            </a:p>
          </p:txBody>
        </p:sp>
        <p:sp>
          <p:nvSpPr>
            <p:cNvPr id="8" name="TextBox 9">
              <a:extLst>
                <a:ext uri="{FF2B5EF4-FFF2-40B4-BE49-F238E27FC236}">
                  <a16:creationId xmlns:a16="http://schemas.microsoft.com/office/drawing/2014/main" id="{A5CF967B-AC9F-26D8-AC7A-8630F963E609}"/>
                </a:ext>
              </a:extLst>
            </p:cNvPr>
            <p:cNvSpPr txBox="1"/>
            <p:nvPr/>
          </p:nvSpPr>
          <p:spPr>
            <a:xfrm>
              <a:off x="685816" y="3040380"/>
              <a:ext cx="1245534" cy="153888"/>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000" b="1">
                  <a:solidFill>
                    <a:srgbClr val="1F3A68"/>
                  </a:solidFill>
                  <a:latin typeface="Calibri"/>
                </a:rPr>
                <a:t>D</a:t>
              </a:r>
              <a:r>
                <a:rPr lang="en-IN" sz="1000" b="1">
                  <a:solidFill>
                    <a:srgbClr val="1F3A68"/>
                  </a:solidFill>
                  <a:latin typeface="Calibri"/>
                </a:rPr>
                <a:t>atabricks</a:t>
              </a:r>
              <a:r>
                <a:rPr sz="1000" b="1">
                  <a:solidFill>
                    <a:srgbClr val="1F3A68"/>
                  </a:solidFill>
                  <a:latin typeface="Calibri"/>
                </a:rPr>
                <a:t> C</a:t>
              </a:r>
              <a:r>
                <a:rPr lang="en-IN" sz="1000" b="1">
                  <a:solidFill>
                    <a:srgbClr val="1F3A68"/>
                  </a:solidFill>
                  <a:latin typeface="Calibri"/>
                </a:rPr>
                <a:t>ertification</a:t>
              </a:r>
              <a:endParaRPr sz="1000" b="1">
                <a:solidFill>
                  <a:srgbClr val="1F3A68"/>
                </a:solidFill>
                <a:latin typeface="Calibri"/>
              </a:endParaRPr>
            </a:p>
          </p:txBody>
        </p:sp>
        <p:sp>
          <p:nvSpPr>
            <p:cNvPr id="9" name="Rectangle 8">
              <a:extLst>
                <a:ext uri="{FF2B5EF4-FFF2-40B4-BE49-F238E27FC236}">
                  <a16:creationId xmlns:a16="http://schemas.microsoft.com/office/drawing/2014/main" id="{7F35CEB4-FD36-FFEB-A57D-B610F63AE03B}"/>
                </a:ext>
              </a:extLst>
            </p:cNvPr>
            <p:cNvSpPr/>
            <p:nvPr/>
          </p:nvSpPr>
          <p:spPr>
            <a:xfrm>
              <a:off x="685816" y="3287268"/>
              <a:ext cx="457200" cy="19050"/>
            </a:xfrm>
            <a:prstGeom prst="rect">
              <a:avLst/>
            </a:prstGeom>
            <a:solidFill>
              <a:srgbClr val="E8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0" name="Rounded Rectangle 11">
              <a:extLst>
                <a:ext uri="{FF2B5EF4-FFF2-40B4-BE49-F238E27FC236}">
                  <a16:creationId xmlns:a16="http://schemas.microsoft.com/office/drawing/2014/main" id="{03066206-FF88-7EBE-3D94-8A708959BD53}"/>
                </a:ext>
              </a:extLst>
            </p:cNvPr>
            <p:cNvSpPr/>
            <p:nvPr/>
          </p:nvSpPr>
          <p:spPr>
            <a:xfrm>
              <a:off x="685816" y="3451860"/>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Engineer Associate</a:t>
              </a:r>
            </a:p>
          </p:txBody>
        </p:sp>
        <p:sp>
          <p:nvSpPr>
            <p:cNvPr id="11" name="Rounded Rectangle 12">
              <a:extLst>
                <a:ext uri="{FF2B5EF4-FFF2-40B4-BE49-F238E27FC236}">
                  <a16:creationId xmlns:a16="http://schemas.microsoft.com/office/drawing/2014/main" id="{EB545A3B-ECB0-0B78-2539-22494FB597F7}"/>
                </a:ext>
              </a:extLst>
            </p:cNvPr>
            <p:cNvSpPr/>
            <p:nvPr/>
          </p:nvSpPr>
          <p:spPr>
            <a:xfrm>
              <a:off x="685816" y="3927348"/>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Engineer Professional</a:t>
              </a:r>
            </a:p>
          </p:txBody>
        </p:sp>
        <p:sp>
          <p:nvSpPr>
            <p:cNvPr id="12" name="Rounded Rectangle 13">
              <a:extLst>
                <a:ext uri="{FF2B5EF4-FFF2-40B4-BE49-F238E27FC236}">
                  <a16:creationId xmlns:a16="http://schemas.microsoft.com/office/drawing/2014/main" id="{6A047F34-50B8-1921-EC04-F655D778552A}"/>
                </a:ext>
              </a:extLst>
            </p:cNvPr>
            <p:cNvSpPr/>
            <p:nvPr/>
          </p:nvSpPr>
          <p:spPr>
            <a:xfrm>
              <a:off x="685816" y="4402836"/>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Analyst Associate</a:t>
              </a:r>
            </a:p>
          </p:txBody>
        </p:sp>
        <p:sp>
          <p:nvSpPr>
            <p:cNvPr id="13" name="Rounded Rectangle 14">
              <a:extLst>
                <a:ext uri="{FF2B5EF4-FFF2-40B4-BE49-F238E27FC236}">
                  <a16:creationId xmlns:a16="http://schemas.microsoft.com/office/drawing/2014/main" id="{FA1F8BEE-1AEB-1F3D-3B66-CD64C6E14B65}"/>
                </a:ext>
              </a:extLst>
            </p:cNvPr>
            <p:cNvSpPr/>
            <p:nvPr/>
          </p:nvSpPr>
          <p:spPr>
            <a:xfrm>
              <a:off x="685816" y="4878324"/>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Machine Learning Associate</a:t>
              </a:r>
            </a:p>
          </p:txBody>
        </p:sp>
        <p:sp>
          <p:nvSpPr>
            <p:cNvPr id="14" name="Rounded Rectangle 15">
              <a:extLst>
                <a:ext uri="{FF2B5EF4-FFF2-40B4-BE49-F238E27FC236}">
                  <a16:creationId xmlns:a16="http://schemas.microsoft.com/office/drawing/2014/main" id="{C8CFB675-F727-B321-5F48-8A740451FAC3}"/>
                </a:ext>
              </a:extLst>
            </p:cNvPr>
            <p:cNvSpPr/>
            <p:nvPr/>
          </p:nvSpPr>
          <p:spPr>
            <a:xfrm>
              <a:off x="3322328" y="1394460"/>
              <a:ext cx="2682232" cy="4069080"/>
            </a:xfrm>
            <a:prstGeom prst="roundRect">
              <a:avLst>
                <a:gd name="adj" fmla="val 5000"/>
              </a:avLst>
            </a:prstGeom>
            <a:solidFill>
              <a:srgbClr val="FFFFFF"/>
            </a:solidFill>
            <a:ln w="9525">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a:p>
          </p:txBody>
        </p:sp>
        <p:sp>
          <p:nvSpPr>
            <p:cNvPr id="15" name="Rectangle 14">
              <a:extLst>
                <a:ext uri="{FF2B5EF4-FFF2-40B4-BE49-F238E27FC236}">
                  <a16:creationId xmlns:a16="http://schemas.microsoft.com/office/drawing/2014/main" id="{D3610D00-821D-9547-A7F2-1179DCFDD1C5}"/>
                </a:ext>
              </a:extLst>
            </p:cNvPr>
            <p:cNvSpPr/>
            <p:nvPr/>
          </p:nvSpPr>
          <p:spPr>
            <a:xfrm>
              <a:off x="3322328" y="1394460"/>
              <a:ext cx="2682232" cy="105156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bIns="914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1800" b="1">
                  <a:solidFill>
                    <a:srgbClr val="FFFFFF"/>
                  </a:solidFill>
                  <a:latin typeface="Calibri"/>
                </a:rPr>
                <a:t>Thenmozhi</a:t>
              </a:r>
            </a:p>
            <a:p>
              <a:pPr algn="l"/>
              <a:r>
                <a:rPr sz="1100" i="1">
                  <a:solidFill>
                    <a:srgbClr val="CFDBEC"/>
                  </a:solidFill>
                  <a:latin typeface="Calibri"/>
                </a:rPr>
                <a:t>Data Engineer</a:t>
              </a:r>
            </a:p>
          </p:txBody>
        </p:sp>
        <p:sp>
          <p:nvSpPr>
            <p:cNvPr id="16" name="Rounded Rectangle 17">
              <a:extLst>
                <a:ext uri="{FF2B5EF4-FFF2-40B4-BE49-F238E27FC236}">
                  <a16:creationId xmlns:a16="http://schemas.microsoft.com/office/drawing/2014/main" id="{8CF42A3F-8465-5DAB-D76B-1BE8283C4E16}"/>
                </a:ext>
              </a:extLst>
            </p:cNvPr>
            <p:cNvSpPr/>
            <p:nvPr/>
          </p:nvSpPr>
          <p:spPr>
            <a:xfrm>
              <a:off x="4924296" y="1976860"/>
              <a:ext cx="897384" cy="941186"/>
            </a:xfrm>
            <a:prstGeom prst="roundRect">
              <a:avLst>
                <a:gd name="adj" fmla="val 12000"/>
              </a:avLst>
            </a:prstGeom>
            <a:solidFill>
              <a:srgbClr val="E86A33"/>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3400" b="1">
                  <a:solidFill>
                    <a:srgbClr val="FFFFFF"/>
                  </a:solidFill>
                  <a:latin typeface="Calibri"/>
                </a:rPr>
                <a:t>3</a:t>
              </a:r>
            </a:p>
            <a:p>
              <a:pPr algn="ctr"/>
              <a:r>
                <a:rPr sz="900" b="1">
                  <a:solidFill>
                    <a:srgbClr val="FFFFFF"/>
                  </a:solidFill>
                  <a:latin typeface="Calibri"/>
                </a:rPr>
                <a:t>Certifications</a:t>
              </a:r>
            </a:p>
          </p:txBody>
        </p:sp>
        <p:sp>
          <p:nvSpPr>
            <p:cNvPr id="18" name="Rectangle 17">
              <a:extLst>
                <a:ext uri="{FF2B5EF4-FFF2-40B4-BE49-F238E27FC236}">
                  <a16:creationId xmlns:a16="http://schemas.microsoft.com/office/drawing/2014/main" id="{6B4240A5-814B-9846-9691-3436736091E3}"/>
                </a:ext>
              </a:extLst>
            </p:cNvPr>
            <p:cNvSpPr/>
            <p:nvPr/>
          </p:nvSpPr>
          <p:spPr>
            <a:xfrm>
              <a:off x="3550928" y="3287268"/>
              <a:ext cx="457200" cy="19050"/>
            </a:xfrm>
            <a:prstGeom prst="rect">
              <a:avLst/>
            </a:prstGeom>
            <a:solidFill>
              <a:srgbClr val="E8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9" name="Rounded Rectangle 20">
              <a:extLst>
                <a:ext uri="{FF2B5EF4-FFF2-40B4-BE49-F238E27FC236}">
                  <a16:creationId xmlns:a16="http://schemas.microsoft.com/office/drawing/2014/main" id="{6D6FF39E-EE9B-3896-44EC-F380710C7717}"/>
                </a:ext>
              </a:extLst>
            </p:cNvPr>
            <p:cNvSpPr/>
            <p:nvPr/>
          </p:nvSpPr>
          <p:spPr>
            <a:xfrm>
              <a:off x="3550928" y="3451860"/>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Engineer Associate</a:t>
              </a:r>
            </a:p>
          </p:txBody>
        </p:sp>
        <p:sp>
          <p:nvSpPr>
            <p:cNvPr id="20" name="Rounded Rectangle 21">
              <a:extLst>
                <a:ext uri="{FF2B5EF4-FFF2-40B4-BE49-F238E27FC236}">
                  <a16:creationId xmlns:a16="http://schemas.microsoft.com/office/drawing/2014/main" id="{FCD4739D-F237-0D6A-3774-31B2407A5AC4}"/>
                </a:ext>
              </a:extLst>
            </p:cNvPr>
            <p:cNvSpPr/>
            <p:nvPr/>
          </p:nvSpPr>
          <p:spPr>
            <a:xfrm>
              <a:off x="3550928" y="3927348"/>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Engineer Professional</a:t>
              </a:r>
            </a:p>
          </p:txBody>
        </p:sp>
        <p:sp>
          <p:nvSpPr>
            <p:cNvPr id="21" name="Rounded Rectangle 22">
              <a:extLst>
                <a:ext uri="{FF2B5EF4-FFF2-40B4-BE49-F238E27FC236}">
                  <a16:creationId xmlns:a16="http://schemas.microsoft.com/office/drawing/2014/main" id="{0D3897F3-B446-F4B1-10A8-8593780E2EE5}"/>
                </a:ext>
              </a:extLst>
            </p:cNvPr>
            <p:cNvSpPr/>
            <p:nvPr/>
          </p:nvSpPr>
          <p:spPr>
            <a:xfrm>
              <a:off x="3550928" y="4402836"/>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Analyst Associate</a:t>
              </a:r>
            </a:p>
          </p:txBody>
        </p:sp>
        <p:sp>
          <p:nvSpPr>
            <p:cNvPr id="22" name="Rounded Rectangle 23">
              <a:extLst>
                <a:ext uri="{FF2B5EF4-FFF2-40B4-BE49-F238E27FC236}">
                  <a16:creationId xmlns:a16="http://schemas.microsoft.com/office/drawing/2014/main" id="{7DF4DDBF-DBE3-7AB1-D551-841307F653A1}"/>
                </a:ext>
              </a:extLst>
            </p:cNvPr>
            <p:cNvSpPr/>
            <p:nvPr/>
          </p:nvSpPr>
          <p:spPr>
            <a:xfrm>
              <a:off x="6187440" y="1394460"/>
              <a:ext cx="2682232" cy="4069080"/>
            </a:xfrm>
            <a:prstGeom prst="roundRect">
              <a:avLst>
                <a:gd name="adj" fmla="val 5000"/>
              </a:avLst>
            </a:prstGeom>
            <a:solidFill>
              <a:srgbClr val="FFFFFF"/>
            </a:solidFill>
            <a:ln w="9525">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a:p>
          </p:txBody>
        </p:sp>
        <p:sp>
          <p:nvSpPr>
            <p:cNvPr id="23" name="Rectangle 22">
              <a:extLst>
                <a:ext uri="{FF2B5EF4-FFF2-40B4-BE49-F238E27FC236}">
                  <a16:creationId xmlns:a16="http://schemas.microsoft.com/office/drawing/2014/main" id="{ECCDD165-70D6-7341-6DF6-7D1F2230F819}"/>
                </a:ext>
              </a:extLst>
            </p:cNvPr>
            <p:cNvSpPr/>
            <p:nvPr/>
          </p:nvSpPr>
          <p:spPr>
            <a:xfrm>
              <a:off x="6187440" y="1394460"/>
              <a:ext cx="2682232" cy="105156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bIns="914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1800" b="1">
                  <a:solidFill>
                    <a:srgbClr val="FFFFFF"/>
                  </a:solidFill>
                  <a:latin typeface="Calibri"/>
                </a:rPr>
                <a:t>Abirami</a:t>
              </a:r>
            </a:p>
            <a:p>
              <a:pPr algn="l"/>
              <a:r>
                <a:rPr sz="1100" i="1">
                  <a:solidFill>
                    <a:srgbClr val="CFDBEC"/>
                  </a:solidFill>
                  <a:latin typeface="Calibri"/>
                </a:rPr>
                <a:t>Data Engineer</a:t>
              </a:r>
            </a:p>
          </p:txBody>
        </p:sp>
        <p:sp>
          <p:nvSpPr>
            <p:cNvPr id="24" name="Rounded Rectangle 25">
              <a:extLst>
                <a:ext uri="{FF2B5EF4-FFF2-40B4-BE49-F238E27FC236}">
                  <a16:creationId xmlns:a16="http://schemas.microsoft.com/office/drawing/2014/main" id="{E7CCF417-E559-AAA6-D84E-7E964025D48E}"/>
                </a:ext>
              </a:extLst>
            </p:cNvPr>
            <p:cNvSpPr/>
            <p:nvPr/>
          </p:nvSpPr>
          <p:spPr>
            <a:xfrm>
              <a:off x="7823576" y="1976860"/>
              <a:ext cx="863215" cy="914400"/>
            </a:xfrm>
            <a:prstGeom prst="roundRect">
              <a:avLst>
                <a:gd name="adj" fmla="val 12000"/>
              </a:avLst>
            </a:prstGeom>
            <a:solidFill>
              <a:srgbClr val="E86A33"/>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3400" b="1">
                  <a:solidFill>
                    <a:srgbClr val="FFFFFF"/>
                  </a:solidFill>
                  <a:latin typeface="Calibri"/>
                </a:rPr>
                <a:t>3</a:t>
              </a:r>
            </a:p>
            <a:p>
              <a:pPr algn="ctr"/>
              <a:r>
                <a:rPr sz="900" b="1">
                  <a:solidFill>
                    <a:srgbClr val="FFFFFF"/>
                  </a:solidFill>
                  <a:latin typeface="Calibri"/>
                </a:rPr>
                <a:t>Certifications</a:t>
              </a:r>
            </a:p>
          </p:txBody>
        </p:sp>
        <p:sp>
          <p:nvSpPr>
            <p:cNvPr id="26" name="Rectangle 25">
              <a:extLst>
                <a:ext uri="{FF2B5EF4-FFF2-40B4-BE49-F238E27FC236}">
                  <a16:creationId xmlns:a16="http://schemas.microsoft.com/office/drawing/2014/main" id="{53EFD569-2AA0-A107-1085-06D49616E89A}"/>
                </a:ext>
              </a:extLst>
            </p:cNvPr>
            <p:cNvSpPr/>
            <p:nvPr/>
          </p:nvSpPr>
          <p:spPr>
            <a:xfrm>
              <a:off x="6416040" y="3287268"/>
              <a:ext cx="457200" cy="19050"/>
            </a:xfrm>
            <a:prstGeom prst="rect">
              <a:avLst/>
            </a:prstGeom>
            <a:solidFill>
              <a:srgbClr val="E8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27" name="Rounded Rectangle 28">
              <a:extLst>
                <a:ext uri="{FF2B5EF4-FFF2-40B4-BE49-F238E27FC236}">
                  <a16:creationId xmlns:a16="http://schemas.microsoft.com/office/drawing/2014/main" id="{2900368A-5261-1F3B-C6C4-9862F664955D}"/>
                </a:ext>
              </a:extLst>
            </p:cNvPr>
            <p:cNvSpPr/>
            <p:nvPr/>
          </p:nvSpPr>
          <p:spPr>
            <a:xfrm>
              <a:off x="6416040" y="3451860"/>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Engineer Associate</a:t>
              </a:r>
            </a:p>
          </p:txBody>
        </p:sp>
        <p:sp>
          <p:nvSpPr>
            <p:cNvPr id="28" name="Rounded Rectangle 29">
              <a:extLst>
                <a:ext uri="{FF2B5EF4-FFF2-40B4-BE49-F238E27FC236}">
                  <a16:creationId xmlns:a16="http://schemas.microsoft.com/office/drawing/2014/main" id="{00869896-9505-4C29-F8CB-CEB1BE209C6B}"/>
                </a:ext>
              </a:extLst>
            </p:cNvPr>
            <p:cNvSpPr/>
            <p:nvPr/>
          </p:nvSpPr>
          <p:spPr>
            <a:xfrm>
              <a:off x="6416040" y="3927348"/>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Engineer Professional</a:t>
              </a:r>
            </a:p>
          </p:txBody>
        </p:sp>
        <p:sp>
          <p:nvSpPr>
            <p:cNvPr id="30" name="Rounded Rectangle 31">
              <a:extLst>
                <a:ext uri="{FF2B5EF4-FFF2-40B4-BE49-F238E27FC236}">
                  <a16:creationId xmlns:a16="http://schemas.microsoft.com/office/drawing/2014/main" id="{70465588-EC7F-0EF8-6F40-118E5731932C}"/>
                </a:ext>
              </a:extLst>
            </p:cNvPr>
            <p:cNvSpPr/>
            <p:nvPr/>
          </p:nvSpPr>
          <p:spPr>
            <a:xfrm>
              <a:off x="9052552" y="1394460"/>
              <a:ext cx="2682232" cy="4069080"/>
            </a:xfrm>
            <a:prstGeom prst="roundRect">
              <a:avLst>
                <a:gd name="adj" fmla="val 5000"/>
              </a:avLst>
            </a:prstGeom>
            <a:solidFill>
              <a:srgbClr val="FFFFFF"/>
            </a:solidFill>
            <a:ln w="9525">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a:p>
          </p:txBody>
        </p:sp>
        <p:sp>
          <p:nvSpPr>
            <p:cNvPr id="31" name="Rectangle 30">
              <a:extLst>
                <a:ext uri="{FF2B5EF4-FFF2-40B4-BE49-F238E27FC236}">
                  <a16:creationId xmlns:a16="http://schemas.microsoft.com/office/drawing/2014/main" id="{AFC8E98B-E247-48C0-D74E-A9ABB6426A78}"/>
                </a:ext>
              </a:extLst>
            </p:cNvPr>
            <p:cNvSpPr/>
            <p:nvPr/>
          </p:nvSpPr>
          <p:spPr>
            <a:xfrm>
              <a:off x="9052552" y="1394460"/>
              <a:ext cx="2682232" cy="1051560"/>
            </a:xfrm>
            <a:prstGeom prst="rect">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64592" rIns="182880" bIns="914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1800" b="1">
                  <a:solidFill>
                    <a:srgbClr val="FFFFFF"/>
                  </a:solidFill>
                  <a:latin typeface="Calibri"/>
                </a:rPr>
                <a:t>Devasenathipathy</a:t>
              </a:r>
            </a:p>
            <a:p>
              <a:pPr algn="l"/>
              <a:r>
                <a:rPr sz="1100" i="1">
                  <a:solidFill>
                    <a:srgbClr val="CFDBEC"/>
                  </a:solidFill>
                  <a:latin typeface="Calibri"/>
                </a:rPr>
                <a:t>Data Engineer</a:t>
              </a:r>
            </a:p>
          </p:txBody>
        </p:sp>
        <p:sp>
          <p:nvSpPr>
            <p:cNvPr id="32" name="Rounded Rectangle 33">
              <a:extLst>
                <a:ext uri="{FF2B5EF4-FFF2-40B4-BE49-F238E27FC236}">
                  <a16:creationId xmlns:a16="http://schemas.microsoft.com/office/drawing/2014/main" id="{5D393173-4D41-DD3B-8236-15A499008EA0}"/>
                </a:ext>
              </a:extLst>
            </p:cNvPr>
            <p:cNvSpPr/>
            <p:nvPr/>
          </p:nvSpPr>
          <p:spPr>
            <a:xfrm>
              <a:off x="10694792" y="2122549"/>
              <a:ext cx="857111" cy="834496"/>
            </a:xfrm>
            <a:prstGeom prst="roundRect">
              <a:avLst>
                <a:gd name="adj" fmla="val 12000"/>
              </a:avLst>
            </a:prstGeom>
            <a:solidFill>
              <a:srgbClr val="E86A33"/>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3400" b="1">
                  <a:solidFill>
                    <a:srgbClr val="FFFFFF"/>
                  </a:solidFill>
                  <a:latin typeface="Calibri"/>
                </a:rPr>
                <a:t>4</a:t>
              </a:r>
            </a:p>
            <a:p>
              <a:pPr algn="ctr"/>
              <a:r>
                <a:rPr sz="900" b="1">
                  <a:solidFill>
                    <a:srgbClr val="FFFFFF"/>
                  </a:solidFill>
                  <a:latin typeface="Calibri"/>
                </a:rPr>
                <a:t>Certifications</a:t>
              </a:r>
            </a:p>
          </p:txBody>
        </p:sp>
        <p:sp>
          <p:nvSpPr>
            <p:cNvPr id="34" name="Rectangle 33">
              <a:extLst>
                <a:ext uri="{FF2B5EF4-FFF2-40B4-BE49-F238E27FC236}">
                  <a16:creationId xmlns:a16="http://schemas.microsoft.com/office/drawing/2014/main" id="{AB9A64A4-47E8-7401-9E3D-36DD0855AA1B}"/>
                </a:ext>
              </a:extLst>
            </p:cNvPr>
            <p:cNvSpPr/>
            <p:nvPr/>
          </p:nvSpPr>
          <p:spPr>
            <a:xfrm>
              <a:off x="9281152" y="3287268"/>
              <a:ext cx="457200" cy="19050"/>
            </a:xfrm>
            <a:prstGeom prst="rect">
              <a:avLst/>
            </a:prstGeom>
            <a:solidFill>
              <a:srgbClr val="E86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35" name="Rounded Rectangle 36">
              <a:extLst>
                <a:ext uri="{FF2B5EF4-FFF2-40B4-BE49-F238E27FC236}">
                  <a16:creationId xmlns:a16="http://schemas.microsoft.com/office/drawing/2014/main" id="{D4FBE500-58BA-3AE0-F8C6-167CAFA18620}"/>
                </a:ext>
              </a:extLst>
            </p:cNvPr>
            <p:cNvSpPr/>
            <p:nvPr/>
          </p:nvSpPr>
          <p:spPr>
            <a:xfrm>
              <a:off x="9281152" y="3451860"/>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Engineer Associate</a:t>
              </a:r>
            </a:p>
          </p:txBody>
        </p:sp>
        <p:sp>
          <p:nvSpPr>
            <p:cNvPr id="36" name="Rounded Rectangle 37">
              <a:extLst>
                <a:ext uri="{FF2B5EF4-FFF2-40B4-BE49-F238E27FC236}">
                  <a16:creationId xmlns:a16="http://schemas.microsoft.com/office/drawing/2014/main" id="{2817CA88-0783-9214-56F7-927DEC089DEA}"/>
                </a:ext>
              </a:extLst>
            </p:cNvPr>
            <p:cNvSpPr/>
            <p:nvPr/>
          </p:nvSpPr>
          <p:spPr>
            <a:xfrm>
              <a:off x="9281152" y="3927348"/>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Engineer Professional</a:t>
              </a:r>
            </a:p>
          </p:txBody>
        </p:sp>
        <p:sp>
          <p:nvSpPr>
            <p:cNvPr id="37" name="Rounded Rectangle 38">
              <a:extLst>
                <a:ext uri="{FF2B5EF4-FFF2-40B4-BE49-F238E27FC236}">
                  <a16:creationId xmlns:a16="http://schemas.microsoft.com/office/drawing/2014/main" id="{ACA1621B-A7BB-40E7-B7D4-5DE1736385A2}"/>
                </a:ext>
              </a:extLst>
            </p:cNvPr>
            <p:cNvSpPr/>
            <p:nvPr/>
          </p:nvSpPr>
          <p:spPr>
            <a:xfrm>
              <a:off x="9281152" y="4402836"/>
              <a:ext cx="2225032" cy="384048"/>
            </a:xfrm>
            <a:prstGeom prst="roundRect">
              <a:avLst>
                <a:gd name="adj" fmla="val 35000"/>
              </a:avLst>
            </a:prstGeom>
            <a:solidFill>
              <a:srgbClr val="F5F7FA"/>
            </a:solidFill>
            <a:ln w="6350">
              <a:solidFill>
                <a:srgbClr val="D8DFEA"/>
              </a:solidFill>
            </a:ln>
            <a:effectLst/>
          </p:spPr>
          <p:style>
            <a:lnRef idx="1">
              <a:schemeClr val="accent1"/>
            </a:lnRef>
            <a:fillRef idx="3">
              <a:schemeClr val="accent1"/>
            </a:fillRef>
            <a:effectRef idx="2">
              <a:schemeClr val="accent1"/>
            </a:effectRef>
            <a:fontRef idx="minor">
              <a:schemeClr val="lt1"/>
            </a:fontRef>
          </p:style>
          <p:txBody>
            <a:bodyPr wrap="square" lIns="137160" tIns="36576" bIns="36576"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r>
                <a:rPr sz="900">
                  <a:solidFill>
                    <a:srgbClr val="E86A33"/>
                  </a:solidFill>
                  <a:latin typeface="Calibri"/>
                </a:rPr>
                <a:t>● </a:t>
              </a:r>
              <a:r>
                <a:rPr sz="1000" b="0">
                  <a:solidFill>
                    <a:srgbClr val="1F2A44"/>
                  </a:solidFill>
                  <a:latin typeface="Calibri"/>
                </a:rPr>
                <a:t>Data Analyst Associate</a:t>
              </a:r>
            </a:p>
          </p:txBody>
        </p:sp>
      </p:grpSp>
      <p:pic>
        <p:nvPicPr>
          <p:cNvPr id="40" name="Picture 39" descr="Graphical user interface, application&#10;&#10;Description automatically generated">
            <a:extLst>
              <a:ext uri="{FF2B5EF4-FFF2-40B4-BE49-F238E27FC236}">
                <a16:creationId xmlns:a16="http://schemas.microsoft.com/office/drawing/2014/main" id="{7AE0827E-3F33-A4F9-E614-44679BD4A7C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21940" y="1316364"/>
            <a:ext cx="1081654" cy="1336404"/>
          </a:xfrm>
          <a:prstGeom prst="rect">
            <a:avLst/>
          </a:prstGeom>
          <a:noFill/>
          <a:ln>
            <a:noFill/>
          </a:ln>
        </p:spPr>
      </p:pic>
      <p:pic>
        <p:nvPicPr>
          <p:cNvPr id="41" name="Picture 40">
            <a:extLst>
              <a:ext uri="{FF2B5EF4-FFF2-40B4-BE49-F238E27FC236}">
                <a16:creationId xmlns:a16="http://schemas.microsoft.com/office/drawing/2014/main" id="{6C85BA09-9144-5967-7BD8-ADE6FA9CAD8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848" y="1188640"/>
            <a:ext cx="1404174" cy="1404174"/>
          </a:xfrm>
          <a:prstGeom prst="rect">
            <a:avLst/>
          </a:prstGeom>
          <a:noFill/>
          <a:ln>
            <a:noFill/>
          </a:ln>
        </p:spPr>
      </p:pic>
      <p:pic>
        <p:nvPicPr>
          <p:cNvPr id="42" name="Picture 41" descr="A logo of a company&#10;&#10;AI-generated content may be incorrect.">
            <a:extLst>
              <a:ext uri="{FF2B5EF4-FFF2-40B4-BE49-F238E27FC236}">
                <a16:creationId xmlns:a16="http://schemas.microsoft.com/office/drawing/2014/main" id="{CB8337F0-BEED-AECE-CBF8-885FD4E414E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8723" y="1259031"/>
            <a:ext cx="1463746" cy="1463746"/>
          </a:xfrm>
          <a:prstGeom prst="rect">
            <a:avLst/>
          </a:prstGeom>
        </p:spPr>
      </p:pic>
      <p:pic>
        <p:nvPicPr>
          <p:cNvPr id="43" name="Picture 42" descr="A hexagon with text and a blue label&#10;&#10;AI-generated content may be incorrect.">
            <a:extLst>
              <a:ext uri="{FF2B5EF4-FFF2-40B4-BE49-F238E27FC236}">
                <a16:creationId xmlns:a16="http://schemas.microsoft.com/office/drawing/2014/main" id="{EB5CF464-6F8D-4382-2E32-1D8D94E9CA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43065" y="1151434"/>
            <a:ext cx="1495790" cy="1495790"/>
          </a:xfrm>
          <a:prstGeom prst="rect">
            <a:avLst/>
          </a:prstGeom>
        </p:spPr>
      </p:pic>
      <p:sp>
        <p:nvSpPr>
          <p:cNvPr id="45" name="TextBox 9">
            <a:extLst>
              <a:ext uri="{FF2B5EF4-FFF2-40B4-BE49-F238E27FC236}">
                <a16:creationId xmlns:a16="http://schemas.microsoft.com/office/drawing/2014/main" id="{A06A1808-DC76-7243-4BE1-C169E37C9C88}"/>
              </a:ext>
            </a:extLst>
          </p:cNvPr>
          <p:cNvSpPr txBox="1"/>
          <p:nvPr/>
        </p:nvSpPr>
        <p:spPr>
          <a:xfrm>
            <a:off x="3518824" y="4107117"/>
            <a:ext cx="1245534" cy="153888"/>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000" b="1">
                <a:solidFill>
                  <a:srgbClr val="1F3A68"/>
                </a:solidFill>
                <a:latin typeface="Calibri"/>
              </a:rPr>
              <a:t>D</a:t>
            </a:r>
            <a:r>
              <a:rPr lang="en-IN" sz="1000" b="1">
                <a:solidFill>
                  <a:srgbClr val="1F3A68"/>
                </a:solidFill>
                <a:latin typeface="Calibri"/>
              </a:rPr>
              <a:t>atabricks</a:t>
            </a:r>
            <a:r>
              <a:rPr sz="1000" b="1">
                <a:solidFill>
                  <a:srgbClr val="1F3A68"/>
                </a:solidFill>
                <a:latin typeface="Calibri"/>
              </a:rPr>
              <a:t> C</a:t>
            </a:r>
            <a:r>
              <a:rPr lang="en-IN" sz="1000" b="1">
                <a:solidFill>
                  <a:srgbClr val="1F3A68"/>
                </a:solidFill>
                <a:latin typeface="Calibri"/>
              </a:rPr>
              <a:t>ertification</a:t>
            </a:r>
            <a:endParaRPr sz="1000" b="1">
              <a:solidFill>
                <a:srgbClr val="1F3A68"/>
              </a:solidFill>
              <a:latin typeface="Calibri"/>
            </a:endParaRPr>
          </a:p>
        </p:txBody>
      </p:sp>
      <p:sp>
        <p:nvSpPr>
          <p:cNvPr id="46" name="TextBox 9">
            <a:extLst>
              <a:ext uri="{FF2B5EF4-FFF2-40B4-BE49-F238E27FC236}">
                <a16:creationId xmlns:a16="http://schemas.microsoft.com/office/drawing/2014/main" id="{4A3FE148-BD99-695A-F0D0-23455E6015F4}"/>
              </a:ext>
            </a:extLst>
          </p:cNvPr>
          <p:cNvSpPr txBox="1"/>
          <p:nvPr/>
        </p:nvSpPr>
        <p:spPr>
          <a:xfrm>
            <a:off x="6447159" y="4078782"/>
            <a:ext cx="1245534" cy="153888"/>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000" b="1">
                <a:solidFill>
                  <a:srgbClr val="1F3A68"/>
                </a:solidFill>
                <a:latin typeface="Calibri"/>
              </a:rPr>
              <a:t>D</a:t>
            </a:r>
            <a:r>
              <a:rPr lang="en-IN" sz="1000" b="1">
                <a:solidFill>
                  <a:srgbClr val="1F3A68"/>
                </a:solidFill>
                <a:latin typeface="Calibri"/>
              </a:rPr>
              <a:t>atabricks</a:t>
            </a:r>
            <a:r>
              <a:rPr sz="1000" b="1">
                <a:solidFill>
                  <a:srgbClr val="1F3A68"/>
                </a:solidFill>
                <a:latin typeface="Calibri"/>
              </a:rPr>
              <a:t> C</a:t>
            </a:r>
            <a:r>
              <a:rPr lang="en-IN" sz="1000" b="1">
                <a:solidFill>
                  <a:srgbClr val="1F3A68"/>
                </a:solidFill>
                <a:latin typeface="Calibri"/>
              </a:rPr>
              <a:t>ertification</a:t>
            </a:r>
            <a:endParaRPr sz="1000" b="1">
              <a:solidFill>
                <a:srgbClr val="1F3A68"/>
              </a:solidFill>
              <a:latin typeface="Calibri"/>
            </a:endParaRPr>
          </a:p>
        </p:txBody>
      </p:sp>
      <p:sp>
        <p:nvSpPr>
          <p:cNvPr id="47" name="TextBox 9">
            <a:extLst>
              <a:ext uri="{FF2B5EF4-FFF2-40B4-BE49-F238E27FC236}">
                <a16:creationId xmlns:a16="http://schemas.microsoft.com/office/drawing/2014/main" id="{C8177B32-AEA3-1020-C68C-1D178E005C53}"/>
              </a:ext>
            </a:extLst>
          </p:cNvPr>
          <p:cNvSpPr txBox="1"/>
          <p:nvPr/>
        </p:nvSpPr>
        <p:spPr>
          <a:xfrm>
            <a:off x="9312271" y="4048415"/>
            <a:ext cx="1245534" cy="153888"/>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000" b="1">
                <a:solidFill>
                  <a:srgbClr val="1F3A68"/>
                </a:solidFill>
                <a:latin typeface="Calibri"/>
              </a:rPr>
              <a:t>D</a:t>
            </a:r>
            <a:r>
              <a:rPr lang="en-IN" sz="1000" b="1">
                <a:solidFill>
                  <a:srgbClr val="1F3A68"/>
                </a:solidFill>
                <a:latin typeface="Calibri"/>
              </a:rPr>
              <a:t>atabricks</a:t>
            </a:r>
            <a:r>
              <a:rPr sz="1000" b="1">
                <a:solidFill>
                  <a:srgbClr val="1F3A68"/>
                </a:solidFill>
                <a:latin typeface="Calibri"/>
              </a:rPr>
              <a:t> C</a:t>
            </a:r>
            <a:r>
              <a:rPr lang="en-IN" sz="1000" b="1">
                <a:solidFill>
                  <a:srgbClr val="1F3A68"/>
                </a:solidFill>
                <a:latin typeface="Calibri"/>
              </a:rPr>
              <a:t>ertification</a:t>
            </a:r>
            <a:endParaRPr sz="1000" b="1">
              <a:solidFill>
                <a:srgbClr val="1F3A68"/>
              </a:solidFill>
              <a:latin typeface="Calibri"/>
            </a:endParaRPr>
          </a:p>
        </p:txBody>
      </p:sp>
      <p:pic>
        <p:nvPicPr>
          <p:cNvPr id="49" name="Picture 48">
            <a:extLst>
              <a:ext uri="{FF2B5EF4-FFF2-40B4-BE49-F238E27FC236}">
                <a16:creationId xmlns:a16="http://schemas.microsoft.com/office/drawing/2014/main" id="{29E30A45-EB10-7F66-19CA-87EBA37525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25892" y="1270900"/>
            <a:ext cx="987653" cy="1372317"/>
          </a:xfrm>
          <a:prstGeom prst="rect">
            <a:avLst/>
          </a:prstGeom>
        </p:spPr>
      </p:pic>
      <p:pic>
        <p:nvPicPr>
          <p:cNvPr id="52" name="Picture 51">
            <a:extLst>
              <a:ext uri="{FF2B5EF4-FFF2-40B4-BE49-F238E27FC236}">
                <a16:creationId xmlns:a16="http://schemas.microsoft.com/office/drawing/2014/main" id="{A6A310D5-25C7-25AA-31EB-F1BA75D000A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31770" y="1251629"/>
            <a:ext cx="1015389" cy="1410857"/>
          </a:xfrm>
          <a:prstGeom prst="rect">
            <a:avLst/>
          </a:prstGeom>
        </p:spPr>
      </p:pic>
      <p:sp>
        <p:nvSpPr>
          <p:cNvPr id="54" name="TextBox 53">
            <a:extLst>
              <a:ext uri="{FF2B5EF4-FFF2-40B4-BE49-F238E27FC236}">
                <a16:creationId xmlns:a16="http://schemas.microsoft.com/office/drawing/2014/main" id="{48C1B7EC-5358-5C98-A310-0A2A8B7DFE5B}"/>
              </a:ext>
            </a:extLst>
          </p:cNvPr>
          <p:cNvSpPr txBox="1"/>
          <p:nvPr/>
        </p:nvSpPr>
        <p:spPr>
          <a:xfrm>
            <a:off x="9674350" y="838416"/>
            <a:ext cx="1051561" cy="369332"/>
          </a:xfrm>
          <a:prstGeom prst="rect">
            <a:avLst/>
          </a:prstGeom>
          <a:noFill/>
        </p:spPr>
        <p:txBody>
          <a:bodyPr wrap="square">
            <a:spAutoFit/>
          </a:bodyPr>
          <a:lstStyle/>
          <a:p>
            <a:r>
              <a:rPr lang="en-IN" b="1">
                <a:solidFill>
                  <a:srgbClr val="002060"/>
                </a:solidFill>
              </a:rPr>
              <a:t>Badges</a:t>
            </a:r>
          </a:p>
        </p:txBody>
      </p:sp>
      <p:sp>
        <p:nvSpPr>
          <p:cNvPr id="55" name="TextBox 54">
            <a:extLst>
              <a:ext uri="{FF2B5EF4-FFF2-40B4-BE49-F238E27FC236}">
                <a16:creationId xmlns:a16="http://schemas.microsoft.com/office/drawing/2014/main" id="{A8513638-CCBE-55CE-29F5-DC386CC5AED0}"/>
              </a:ext>
            </a:extLst>
          </p:cNvPr>
          <p:cNvSpPr txBox="1"/>
          <p:nvPr/>
        </p:nvSpPr>
        <p:spPr>
          <a:xfrm>
            <a:off x="2818104" y="867419"/>
            <a:ext cx="1661664" cy="369332"/>
          </a:xfrm>
          <a:prstGeom prst="rect">
            <a:avLst/>
          </a:prstGeom>
          <a:noFill/>
        </p:spPr>
        <p:txBody>
          <a:bodyPr wrap="square">
            <a:spAutoFit/>
          </a:bodyPr>
          <a:lstStyle/>
          <a:p>
            <a:r>
              <a:rPr lang="en-IN" b="1">
                <a:solidFill>
                  <a:srgbClr val="002060"/>
                </a:solidFill>
              </a:rPr>
              <a:t>Certification</a:t>
            </a:r>
          </a:p>
        </p:txBody>
      </p:sp>
    </p:spTree>
    <p:extLst>
      <p:ext uri="{BB962C8B-B14F-4D97-AF65-F5344CB8AC3E}">
        <p14:creationId xmlns:p14="http://schemas.microsoft.com/office/powerpoint/2010/main" val="2441796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C6CAE-2D90-630A-A940-34ACCEDED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EAB18-D8BD-1E43-AF42-847A82C56180}"/>
              </a:ext>
            </a:extLst>
          </p:cNvPr>
          <p:cNvSpPr>
            <a:spLocks noGrp="1"/>
          </p:cNvSpPr>
          <p:nvPr>
            <p:ph type="title"/>
          </p:nvPr>
        </p:nvSpPr>
        <p:spPr>
          <a:xfrm>
            <a:off x="465667" y="87470"/>
            <a:ext cx="11300236" cy="714306"/>
          </a:xfrm>
        </p:spPr>
        <p:txBody>
          <a:bodyPr/>
          <a:lstStyle/>
          <a:p>
            <a:r>
              <a:rPr lang="en-IN"/>
              <a:t>Client Testimonial </a:t>
            </a:r>
          </a:p>
        </p:txBody>
      </p:sp>
      <p:sp>
        <p:nvSpPr>
          <p:cNvPr id="4" name="Slide Number Placeholder 3">
            <a:extLst>
              <a:ext uri="{FF2B5EF4-FFF2-40B4-BE49-F238E27FC236}">
                <a16:creationId xmlns:a16="http://schemas.microsoft.com/office/drawing/2014/main" id="{51CFE4D3-9668-72DA-8A2A-E70AC92E3813}"/>
              </a:ext>
            </a:extLst>
          </p:cNvPr>
          <p:cNvSpPr>
            <a:spLocks noGrp="1"/>
          </p:cNvSpPr>
          <p:nvPr>
            <p:ph type="sldNum" sz="quarter" idx="4"/>
          </p:nvPr>
        </p:nvSpPr>
        <p:spPr/>
        <p:txBody>
          <a:bodyPr/>
          <a:lstStyle/>
          <a:p>
            <a:fld id="{274CC3B9-6596-1243-9665-72A444B9047F}" type="slidenum">
              <a:rPr lang="en-CA" smtClean="0"/>
              <a:pPr/>
              <a:t>11</a:t>
            </a:fld>
            <a:endParaRPr lang="en-CA"/>
          </a:p>
        </p:txBody>
      </p:sp>
      <p:sp>
        <p:nvSpPr>
          <p:cNvPr id="20" name="TextBox 19">
            <a:extLst>
              <a:ext uri="{FF2B5EF4-FFF2-40B4-BE49-F238E27FC236}">
                <a16:creationId xmlns:a16="http://schemas.microsoft.com/office/drawing/2014/main" id="{24119949-94AE-E239-CC00-255EBD9D8242}"/>
              </a:ext>
            </a:extLst>
          </p:cNvPr>
          <p:cNvSpPr txBox="1"/>
          <p:nvPr/>
        </p:nvSpPr>
        <p:spPr>
          <a:xfrm>
            <a:off x="465667" y="938050"/>
            <a:ext cx="11300236" cy="2708434"/>
          </a:xfrm>
          <a:prstGeom prst="rect">
            <a:avLst/>
          </a:prstGeom>
          <a:noFill/>
          <a:ln>
            <a:solidFill>
              <a:schemeClr val="bg2">
                <a:lumMod val="10000"/>
              </a:schemeClr>
            </a:solidFill>
          </a:ln>
        </p:spPr>
        <p:txBody>
          <a:bodyPr wrap="square">
            <a:spAutoFit/>
          </a:bodyPr>
          <a:lstStyle/>
          <a:p>
            <a:pPr algn="just">
              <a:buNone/>
            </a:pPr>
            <a:r>
              <a:rPr lang="en-US" sz="1600" b="1">
                <a:effectLst/>
              </a:rPr>
              <a:t>Project </a:t>
            </a:r>
            <a:r>
              <a:rPr lang="en-US" sz="1400">
                <a:effectLst/>
              </a:rPr>
              <a:t>: Sustainability</a:t>
            </a:r>
          </a:p>
          <a:p>
            <a:pPr algn="just">
              <a:buNone/>
            </a:pPr>
            <a:endParaRPr lang="en-US" sz="800">
              <a:effectLst/>
            </a:endParaRPr>
          </a:p>
          <a:p>
            <a:pPr algn="just">
              <a:buNone/>
            </a:pPr>
            <a:r>
              <a:rPr lang="en-US" sz="1600" b="1"/>
              <a:t>Developer</a:t>
            </a:r>
            <a:r>
              <a:rPr lang="en-US" sz="1600"/>
              <a:t>: </a:t>
            </a:r>
            <a:r>
              <a:rPr lang="en-US" sz="1400"/>
              <a:t>Tenny &amp;Abi</a:t>
            </a:r>
            <a:endParaRPr lang="en-US" sz="1400">
              <a:effectLst/>
            </a:endParaRPr>
          </a:p>
          <a:p>
            <a:pPr algn="just">
              <a:buNone/>
            </a:pPr>
            <a:endParaRPr lang="en-US" sz="800" b="1">
              <a:effectLst/>
            </a:endParaRPr>
          </a:p>
          <a:p>
            <a:pPr algn="just">
              <a:buNone/>
            </a:pPr>
            <a:endParaRPr lang="en-US" sz="800" b="1">
              <a:effectLst/>
            </a:endParaRPr>
          </a:p>
          <a:p>
            <a:pPr algn="just"/>
            <a:r>
              <a:rPr lang="en-US" sz="1400" b="1"/>
              <a:t>Kyle White (Sustainability Engineer – Operations) and Gopi Palamadai (Data Architect – IT) </a:t>
            </a:r>
            <a:r>
              <a:rPr lang="en-US" sz="1400"/>
              <a:t>appreciated the strong progress and high quality of delivery, highlighting that the solution is well aligned with the agreed requirements and progressing smoothly.</a:t>
            </a:r>
          </a:p>
          <a:p>
            <a:pPr algn="just"/>
            <a:endParaRPr lang="en-US" sz="800"/>
          </a:p>
          <a:p>
            <a:pPr algn="just"/>
            <a:r>
              <a:rPr lang="en-US" sz="1400"/>
              <a:t>The team demonstrated strong ownership, consistent effort, and a clear understanding of requirements, with their performance standing out strongly despite operating in an offshore model.</a:t>
            </a:r>
          </a:p>
          <a:p>
            <a:pPr algn="just"/>
            <a:endParaRPr lang="en-US" sz="800"/>
          </a:p>
          <a:p>
            <a:pPr algn="just"/>
            <a:r>
              <a:rPr lang="en-US" sz="1400"/>
              <a:t>Recognition was given to effectively handling complex components such as company car logic and detailed reconciliation. Proactive communication, initiative, and seamless execution across dataflows, pipelines, calculations, and reporting were also noted. Overall, the solution is nearing completion with a high level of maturity and readiness.</a:t>
            </a:r>
          </a:p>
        </p:txBody>
      </p:sp>
      <p:sp>
        <p:nvSpPr>
          <p:cNvPr id="5" name="TextBox 4">
            <a:extLst>
              <a:ext uri="{FF2B5EF4-FFF2-40B4-BE49-F238E27FC236}">
                <a16:creationId xmlns:a16="http://schemas.microsoft.com/office/drawing/2014/main" id="{3B1F3C54-0E0D-C665-AE03-6E432FD25B4B}"/>
              </a:ext>
            </a:extLst>
          </p:cNvPr>
          <p:cNvSpPr txBox="1"/>
          <p:nvPr/>
        </p:nvSpPr>
        <p:spPr>
          <a:xfrm>
            <a:off x="465667" y="4087558"/>
            <a:ext cx="11300236" cy="1569660"/>
          </a:xfrm>
          <a:prstGeom prst="rect">
            <a:avLst/>
          </a:prstGeom>
          <a:noFill/>
          <a:ln>
            <a:solidFill>
              <a:schemeClr val="bg2">
                <a:lumMod val="10000"/>
              </a:schemeClr>
            </a:solidFill>
          </a:ln>
        </p:spPr>
        <p:txBody>
          <a:bodyPr wrap="square">
            <a:spAutoFit/>
          </a:bodyPr>
          <a:lstStyle/>
          <a:p>
            <a:pPr algn="just">
              <a:buNone/>
            </a:pPr>
            <a:r>
              <a:rPr lang="en-US" sz="1600" b="1"/>
              <a:t>Project: </a:t>
            </a:r>
            <a:r>
              <a:rPr lang="en-US" sz="1400"/>
              <a:t>DataLake Reporting &amp; Analytics</a:t>
            </a:r>
          </a:p>
          <a:p>
            <a:pPr algn="just">
              <a:buNone/>
            </a:pPr>
            <a:endParaRPr lang="en-US" sz="800" b="1"/>
          </a:p>
          <a:p>
            <a:pPr algn="just">
              <a:buNone/>
            </a:pPr>
            <a:r>
              <a:rPr lang="en-US" sz="1600" b="1"/>
              <a:t>Developer: </a:t>
            </a:r>
            <a:r>
              <a:rPr lang="en-US" sz="1400"/>
              <a:t>Sridhar &amp; Tenny</a:t>
            </a:r>
          </a:p>
          <a:p>
            <a:pPr algn="just">
              <a:buNone/>
            </a:pPr>
            <a:endParaRPr lang="en-US" sz="1400"/>
          </a:p>
          <a:p>
            <a:pPr algn="just">
              <a:buNone/>
            </a:pPr>
            <a:r>
              <a:rPr lang="en-US" sz="1400" b="1"/>
              <a:t>John Giebel Hausen (Sr. Director, North American Field Support) </a:t>
            </a:r>
            <a:r>
              <a:rPr lang="en-US" sz="1400"/>
              <a:t>appreciated the team’s efforts, stating, </a:t>
            </a:r>
            <a:r>
              <a:rPr lang="en-US" sz="1400" i="1"/>
              <a:t>“Fantastic work!”</a:t>
            </a:r>
            <a:endParaRPr lang="en-US" sz="1400"/>
          </a:p>
          <a:p>
            <a:pPr algn="just">
              <a:buNone/>
            </a:pPr>
            <a:r>
              <a:rPr lang="en-US" sz="1400"/>
              <a:t>He highlighted that the updated version, aligned with the calendar year, effectively meets business needs and provides a highly impactful reporting experience through clear visual and numerical summaries.</a:t>
            </a:r>
          </a:p>
        </p:txBody>
      </p:sp>
    </p:spTree>
    <p:extLst>
      <p:ext uri="{BB962C8B-B14F-4D97-AF65-F5344CB8AC3E}">
        <p14:creationId xmlns:p14="http://schemas.microsoft.com/office/powerpoint/2010/main" val="3509921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17382" y="-12701"/>
            <a:ext cx="2713327" cy="6902217"/>
          </a:xfrm>
          <a:prstGeom prst="rect">
            <a:avLst/>
          </a:prstGeom>
        </p:spPr>
      </p:pic>
      <p:pic>
        <p:nvPicPr>
          <p:cNvPr id="6146" name="Picture 2" descr="Futuristic blue gear digital transformation abstract technology background."/>
          <p:cNvPicPr>
            <a:picLocks noChangeAspect="1" noChangeArrowheads="1"/>
          </p:cNvPicPr>
          <p:nvPr/>
        </p:nvPicPr>
        <p:blipFill rotWithShape="1">
          <a:blip r:embed="rId4">
            <a:extLst>
              <a:ext uri="{28A0092B-C50C-407E-A947-70E740481C1C}">
                <a14:useLocalDpi xmlns:a14="http://schemas.microsoft.com/office/drawing/2010/main" val="0"/>
              </a:ext>
            </a:extLst>
          </a:blip>
          <a:srcRect r="5962"/>
          <a:stretch/>
        </p:blipFill>
        <p:spPr bwMode="auto">
          <a:xfrm>
            <a:off x="653144" y="-12560"/>
            <a:ext cx="11538857" cy="6902077"/>
          </a:xfrm>
          <a:prstGeom prst="rect">
            <a:avLst/>
          </a:prstGeom>
          <a:noFill/>
          <a:extLst>
            <a:ext uri="{909E8E84-426E-40DD-AFC4-6F175D3DCCD1}">
              <a14:hiddenFill xmlns:a14="http://schemas.microsoft.com/office/drawing/2010/main">
                <a:solidFill>
                  <a:srgbClr val="FFFFFF"/>
                </a:solidFill>
              </a14:hiddenFill>
            </a:ext>
          </a:extLst>
        </p:spPr>
      </p:pic>
      <p:sp>
        <p:nvSpPr>
          <p:cNvPr id="18" name="Freeform 17"/>
          <p:cNvSpPr/>
          <p:nvPr/>
        </p:nvSpPr>
        <p:spPr>
          <a:xfrm>
            <a:off x="-17380" y="1185706"/>
            <a:ext cx="3225319" cy="4486590"/>
          </a:xfrm>
          <a:custGeom>
            <a:avLst/>
            <a:gdLst>
              <a:gd name="connsiteX0" fmla="*/ 982024 w 3225319"/>
              <a:gd name="connsiteY0" fmla="*/ 0 h 4486590"/>
              <a:gd name="connsiteX1" fmla="*/ 3225319 w 3225319"/>
              <a:gd name="connsiteY1" fmla="*/ 2243295 h 4486590"/>
              <a:gd name="connsiteX2" fmla="*/ 982024 w 3225319"/>
              <a:gd name="connsiteY2" fmla="*/ 4486590 h 4486590"/>
              <a:gd name="connsiteX3" fmla="*/ 0 w 3225319"/>
              <a:gd name="connsiteY3" fmla="*/ 3504566 h 4486590"/>
              <a:gd name="connsiteX4" fmla="*/ 0 w 3225319"/>
              <a:gd name="connsiteY4" fmla="*/ 982024 h 448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5319" h="4486590">
                <a:moveTo>
                  <a:pt x="982024" y="0"/>
                </a:moveTo>
                <a:lnTo>
                  <a:pt x="3225319" y="2243295"/>
                </a:lnTo>
                <a:lnTo>
                  <a:pt x="982024" y="4486590"/>
                </a:lnTo>
                <a:lnTo>
                  <a:pt x="0" y="3504566"/>
                </a:lnTo>
                <a:lnTo>
                  <a:pt x="0" y="982024"/>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Diamond 5"/>
          <p:cNvSpPr/>
          <p:nvPr/>
        </p:nvSpPr>
        <p:spPr>
          <a:xfrm>
            <a:off x="2072754" y="3496828"/>
            <a:ext cx="2491990" cy="2491990"/>
          </a:xfrm>
          <a:prstGeom prst="diamond">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Diamond 11"/>
          <p:cNvSpPr/>
          <p:nvPr/>
        </p:nvSpPr>
        <p:spPr>
          <a:xfrm>
            <a:off x="2846973" y="999837"/>
            <a:ext cx="3662600" cy="3662600"/>
          </a:xfrm>
          <a:prstGeom prst="diamond">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24F63841-2517-7D41-B019-871A914785B5}"/>
              </a:ext>
            </a:extLst>
          </p:cNvPr>
          <p:cNvSpPr/>
          <p:nvPr/>
        </p:nvSpPr>
        <p:spPr>
          <a:xfrm>
            <a:off x="59647" y="2690337"/>
            <a:ext cx="2440833" cy="1477328"/>
          </a:xfrm>
          <a:prstGeom prst="rect">
            <a:avLst/>
          </a:prstGeom>
          <a:noFill/>
        </p:spPr>
        <p:txBody>
          <a:bodyPr wrap="square" lIns="0" tIns="0" rIns="0" bIns="0"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CA" sz="3200" b="1" i="0" u="none" strike="noStrike" kern="1200" cap="none" spc="0" normalizeH="0" baseline="0" noProof="0">
                <a:ln>
                  <a:noFill/>
                </a:ln>
                <a:solidFill>
                  <a:srgbClr val="002060"/>
                </a:solidFill>
                <a:effectLst/>
                <a:uLnTx/>
                <a:uFillTx/>
                <a:latin typeface="Garamond" panose="02020404030301010803" pitchFamily="18" charset="0"/>
                <a:ea typeface="+mn-ea"/>
                <a:cs typeface="+mn-cs"/>
              </a:rPr>
              <a:t>Time To Transform </a:t>
            </a:r>
            <a:br>
              <a:rPr kumimoji="0" lang="en-CA" sz="3200" b="1" i="0" u="none" strike="noStrike" kern="1200" cap="none" spc="0" normalizeH="0" baseline="0" noProof="0">
                <a:ln>
                  <a:noFill/>
                </a:ln>
                <a:solidFill>
                  <a:srgbClr val="002060"/>
                </a:solidFill>
                <a:effectLst/>
                <a:uLnTx/>
                <a:uFillTx/>
                <a:latin typeface="Garamond" panose="02020404030301010803" pitchFamily="18" charset="0"/>
                <a:ea typeface="+mn-ea"/>
                <a:cs typeface="+mn-cs"/>
              </a:rPr>
            </a:br>
            <a:r>
              <a:rPr kumimoji="0" lang="en-CA" sz="3200" b="1" i="0" u="none" strike="noStrike" kern="1200" cap="none" spc="0" normalizeH="0" baseline="0" noProof="0">
                <a:ln>
                  <a:noFill/>
                </a:ln>
                <a:solidFill>
                  <a:srgbClr val="002060"/>
                </a:solidFill>
                <a:effectLst/>
                <a:uLnTx/>
                <a:uFillTx/>
                <a:latin typeface="Garamond" panose="02020404030301010803" pitchFamily="18" charset="0"/>
                <a:ea typeface="+mn-ea"/>
                <a:cs typeface="+mn-cs"/>
              </a:rPr>
              <a:t>Is …</a:t>
            </a:r>
          </a:p>
        </p:txBody>
      </p:sp>
      <p:sp>
        <p:nvSpPr>
          <p:cNvPr id="20" name="Rectangle 19">
            <a:extLst>
              <a:ext uri="{FF2B5EF4-FFF2-40B4-BE49-F238E27FC236}">
                <a16:creationId xmlns:a16="http://schemas.microsoft.com/office/drawing/2014/main" id="{24F63841-2517-7D41-B019-871A914785B5}"/>
              </a:ext>
            </a:extLst>
          </p:cNvPr>
          <p:cNvSpPr/>
          <p:nvPr/>
        </p:nvSpPr>
        <p:spPr>
          <a:xfrm>
            <a:off x="2480873" y="3614566"/>
            <a:ext cx="1675753" cy="1477328"/>
          </a:xfrm>
          <a:prstGeom prst="rect">
            <a:avLst/>
          </a:prstGeom>
          <a:noFill/>
        </p:spPr>
        <p:txBody>
          <a:bodyPr wrap="square" lIns="0" tIns="0" rIns="0" bIns="0"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CA" sz="4800" b="1" i="0" u="none" strike="noStrike" kern="1200" cap="none" spc="0" normalizeH="0" baseline="0" noProof="0">
                <a:ln>
                  <a:noFill/>
                </a:ln>
                <a:solidFill>
                  <a:srgbClr val="FFFFFF"/>
                </a:solidFill>
                <a:effectLst/>
                <a:uLnTx/>
                <a:uFillTx/>
                <a:latin typeface="Garamond" panose="02020404030301010803" pitchFamily="18" charset="0"/>
                <a:ea typeface="+mn-ea"/>
                <a:cs typeface="+mn-cs"/>
              </a:rPr>
              <a:t>…</a:t>
            </a:r>
            <a:br>
              <a:rPr kumimoji="0" lang="en-CA" sz="4800" b="1" i="0" u="none" strike="noStrike" kern="1200" cap="none" spc="0" normalizeH="0" baseline="0" noProof="0">
                <a:ln>
                  <a:noFill/>
                </a:ln>
                <a:solidFill>
                  <a:srgbClr val="FFFFFF"/>
                </a:solidFill>
                <a:effectLst/>
                <a:uLnTx/>
                <a:uFillTx/>
                <a:latin typeface="Garamond" panose="02020404030301010803" pitchFamily="18" charset="0"/>
                <a:ea typeface="+mn-ea"/>
                <a:cs typeface="+mn-cs"/>
              </a:rPr>
            </a:br>
            <a:r>
              <a:rPr kumimoji="0" lang="en-CA" sz="4800" b="1" i="0" u="none" strike="noStrike" kern="1200" cap="none" spc="0" normalizeH="0" baseline="0" noProof="0">
                <a:ln>
                  <a:noFill/>
                </a:ln>
                <a:solidFill>
                  <a:srgbClr val="FFFFFF"/>
                </a:solidFill>
                <a:effectLst/>
                <a:uLnTx/>
                <a:uFillTx/>
                <a:latin typeface="Garamond" panose="02020404030301010803" pitchFamily="18" charset="0"/>
                <a:ea typeface="+mn-ea"/>
                <a:cs typeface="+mn-cs"/>
              </a:rPr>
              <a:t>NOW</a:t>
            </a:r>
          </a:p>
        </p:txBody>
      </p:sp>
      <p:sp>
        <p:nvSpPr>
          <p:cNvPr id="21" name="TextBox 20">
            <a:extLst>
              <a:ext uri="{FF2B5EF4-FFF2-40B4-BE49-F238E27FC236}">
                <a16:creationId xmlns:a16="http://schemas.microsoft.com/office/drawing/2014/main" id="{3C987B98-39DF-A74B-B92B-C5EB3820DC2D}"/>
              </a:ext>
            </a:extLst>
          </p:cNvPr>
          <p:cNvSpPr txBox="1"/>
          <p:nvPr/>
        </p:nvSpPr>
        <p:spPr>
          <a:xfrm>
            <a:off x="3152984" y="2415640"/>
            <a:ext cx="3050580" cy="830997"/>
          </a:xfrm>
          <a:prstGeom prst="rect">
            <a:avLst/>
          </a:prstGeom>
          <a:noFill/>
        </p:spPr>
        <p:txBody>
          <a:bodyPr wrap="non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Garamond" panose="02020404030301010803" pitchFamily="18" charset="0"/>
                <a:ea typeface="+mn-ea"/>
                <a:cs typeface="+mn-cs"/>
                <a:hlinkClick r:id="rId5"/>
              </a:rPr>
              <a:t>ssmoses@datapattern.ai</a:t>
            </a:r>
            <a:endParaRPr kumimoji="0" lang="en-US" sz="2400" b="0" i="0" u="none" strike="noStrike" kern="1200" cap="none" spc="0" normalizeH="0" baseline="0" noProof="0">
              <a:ln>
                <a:noFill/>
              </a:ln>
              <a:solidFill>
                <a:srgbClr val="FFFFFF"/>
              </a:solidFill>
              <a:effectLst/>
              <a:uLnTx/>
              <a:uFillTx/>
              <a:latin typeface="Garamond" panose="02020404030301010803" pitchFamily="18" charset="0"/>
              <a:ea typeface="+mn-ea"/>
              <a:cs typeface="+mn-cs"/>
            </a:endParaRPr>
          </a:p>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Garamond" panose="02020404030301010803" pitchFamily="18" charset="0"/>
                <a:ea typeface="+mn-ea"/>
                <a:cs typeface="+mn-cs"/>
              </a:rPr>
              <a:t>+1 508 654 3779</a:t>
            </a:r>
          </a:p>
        </p:txBody>
      </p:sp>
      <p:sp>
        <p:nvSpPr>
          <p:cNvPr id="2" name="Slide Number Placeholder 1">
            <a:extLst>
              <a:ext uri="{FF2B5EF4-FFF2-40B4-BE49-F238E27FC236}">
                <a16:creationId xmlns:a16="http://schemas.microsoft.com/office/drawing/2014/main" id="{6DE5172C-FBB0-5E4E-AC3F-0157D16DD649}"/>
              </a:ext>
            </a:extLst>
          </p:cNvPr>
          <p:cNvSpPr>
            <a:spLocks noGrp="1"/>
          </p:cNvSpPr>
          <p:nvPr>
            <p:ph type="sldNum" sz="quarter" idx="4"/>
          </p:nvPr>
        </p:nvSpPr>
        <p:spPr/>
        <p:txBody>
          <a:bodyPr/>
          <a:lstStyle/>
          <a:p>
            <a:pPr marL="0" marR="0" lvl="0" indent="0" algn="r" defTabSz="914446" rtl="0" eaLnBrk="1" fontAlgn="auto" latinLnBrk="0" hangingPunct="1">
              <a:lnSpc>
                <a:spcPct val="100000"/>
              </a:lnSpc>
              <a:spcBef>
                <a:spcPts val="0"/>
              </a:spcBef>
              <a:spcAft>
                <a:spcPts val="0"/>
              </a:spcAft>
              <a:buClrTx/>
              <a:buSzTx/>
              <a:buFontTx/>
              <a:buNone/>
              <a:tabLst/>
              <a:defRPr/>
            </a:pPr>
            <a:fld id="{274CC3B9-6596-1243-9665-72A444B9047F}" type="slidenum">
              <a:rPr kumimoji="0" lang="en-CA" sz="1200" b="0" i="0" u="none" strike="noStrike" kern="1200" cap="none" spc="0" normalizeH="0" baseline="0" noProof="0">
                <a:ln>
                  <a:noFill/>
                </a:ln>
                <a:solidFill>
                  <a:srgbClr val="7F7F7F"/>
                </a:solidFill>
                <a:effectLst/>
                <a:uLnTx/>
                <a:uFillTx/>
                <a:latin typeface="Calibri" panose="020F0502020204030204"/>
                <a:ea typeface="+mn-ea"/>
                <a:cs typeface="+mn-cs"/>
              </a:rPr>
              <a:pPr marL="0" marR="0" lvl="0" indent="0" algn="r" defTabSz="914446" rtl="0" eaLnBrk="1" fontAlgn="auto" latinLnBrk="0" hangingPunct="1">
                <a:lnSpc>
                  <a:spcPct val="100000"/>
                </a:lnSpc>
                <a:spcBef>
                  <a:spcPts val="0"/>
                </a:spcBef>
                <a:spcAft>
                  <a:spcPts val="0"/>
                </a:spcAft>
                <a:buClrTx/>
                <a:buSzTx/>
                <a:buFontTx/>
                <a:buNone/>
                <a:tabLst/>
                <a:defRPr/>
              </a:pPr>
              <a:t>12</a:t>
            </a:fld>
            <a:endParaRPr kumimoji="0" lang="en-CA" sz="1200" b="0" i="0" u="none" strike="noStrike" kern="1200" cap="none" spc="0" normalizeH="0" baseline="0" noProof="0">
              <a:ln>
                <a:noFill/>
              </a:ln>
              <a:solidFill>
                <a:srgbClr val="7F7F7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0932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4650D-0BB3-C2F2-294F-A3AF0814F8B3}"/>
              </a:ext>
            </a:extLst>
          </p:cNvPr>
          <p:cNvSpPr>
            <a:spLocks noGrp="1"/>
          </p:cNvSpPr>
          <p:nvPr>
            <p:ph type="title"/>
          </p:nvPr>
        </p:nvSpPr>
        <p:spPr/>
        <p:txBody>
          <a:bodyPr/>
          <a:lstStyle/>
          <a:p>
            <a:r>
              <a:rPr lang="en-IN"/>
              <a:t>Nova Biomedical – Business Process</a:t>
            </a:r>
          </a:p>
        </p:txBody>
      </p:sp>
      <p:sp>
        <p:nvSpPr>
          <p:cNvPr id="4" name="Slide Number Placeholder 3">
            <a:extLst>
              <a:ext uri="{FF2B5EF4-FFF2-40B4-BE49-F238E27FC236}">
                <a16:creationId xmlns:a16="http://schemas.microsoft.com/office/drawing/2014/main" id="{35035821-DFD0-7033-CC8C-4262FDCA65A5}"/>
              </a:ext>
            </a:extLst>
          </p:cNvPr>
          <p:cNvSpPr>
            <a:spLocks noGrp="1"/>
          </p:cNvSpPr>
          <p:nvPr>
            <p:ph type="sldNum" sz="quarter" idx="4"/>
          </p:nvPr>
        </p:nvSpPr>
        <p:spPr/>
        <p:txBody>
          <a:bodyPr/>
          <a:lstStyle/>
          <a:p>
            <a:fld id="{274CC3B9-6596-1243-9665-72A444B9047F}" type="slidenum">
              <a:rPr lang="en-CA" smtClean="0"/>
              <a:pPr/>
              <a:t>13</a:t>
            </a:fld>
            <a:endParaRPr lang="en-CA"/>
          </a:p>
        </p:txBody>
      </p:sp>
      <p:sp>
        <p:nvSpPr>
          <p:cNvPr id="19" name="Rectangle: Rounded Corners 18">
            <a:extLst>
              <a:ext uri="{FF2B5EF4-FFF2-40B4-BE49-F238E27FC236}">
                <a16:creationId xmlns:a16="http://schemas.microsoft.com/office/drawing/2014/main" id="{7C6173A7-573C-597D-A293-9D0EE54C3C78}"/>
              </a:ext>
            </a:extLst>
          </p:cNvPr>
          <p:cNvSpPr/>
          <p:nvPr/>
        </p:nvSpPr>
        <p:spPr>
          <a:xfrm>
            <a:off x="239777" y="888131"/>
            <a:ext cx="2839371" cy="2612153"/>
          </a:xfrm>
          <a:prstGeom prst="roundRect">
            <a:avLst>
              <a:gd name="adj" fmla="val 5306"/>
            </a:avLst>
          </a:prstGeom>
          <a:solidFill>
            <a:schemeClr val="accent3">
              <a:lumMod val="20000"/>
              <a:lumOff val="80000"/>
            </a:schemeClr>
          </a:solidFill>
          <a:ln>
            <a:prstDash val="sysDot"/>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b="1">
                <a:solidFill>
                  <a:srgbClr val="002060"/>
                </a:solidFill>
              </a:rPr>
              <a:t>Business Foundation</a:t>
            </a:r>
            <a:endParaRPr lang="en-US" sz="1200" b="1">
              <a:solidFill>
                <a:srgbClr val="002060"/>
              </a:solidFill>
            </a:endParaRPr>
          </a:p>
          <a:p>
            <a:pPr>
              <a:buNone/>
            </a:pPr>
            <a:br>
              <a:rPr lang="en-US" sz="1200" b="1">
                <a:solidFill>
                  <a:schemeClr val="tx1"/>
                </a:solidFill>
              </a:rPr>
            </a:br>
            <a:r>
              <a:rPr lang="en-US" sz="1400" b="1">
                <a:solidFill>
                  <a:schemeClr val="tx1"/>
                </a:solidFill>
              </a:rPr>
              <a:t>What Nova Does</a:t>
            </a:r>
          </a:p>
          <a:p>
            <a:pPr>
              <a:buNone/>
            </a:pPr>
            <a:r>
              <a:rPr lang="en-US" sz="1400">
                <a:solidFill>
                  <a:schemeClr val="tx1"/>
                </a:solidFill>
              </a:rPr>
              <a:t>Nova Biomedical operates in the </a:t>
            </a:r>
            <a:r>
              <a:rPr lang="en-US" sz="1400" b="1">
                <a:solidFill>
                  <a:schemeClr val="tx1"/>
                </a:solidFill>
              </a:rPr>
              <a:t>global diagnostics and life sciences market</a:t>
            </a:r>
            <a:br>
              <a:rPr lang="en-US" sz="1400" b="1">
                <a:solidFill>
                  <a:schemeClr val="tx1"/>
                </a:solidFill>
              </a:rPr>
            </a:br>
            <a:br>
              <a:rPr lang="en-US" sz="1400" b="1">
                <a:solidFill>
                  <a:schemeClr val="tx1"/>
                </a:solidFill>
              </a:rPr>
            </a:br>
            <a:r>
              <a:rPr lang="en-US" sz="1400" b="1">
                <a:solidFill>
                  <a:schemeClr val="tx1"/>
                </a:solidFill>
              </a:rPr>
              <a:t>Supplies:</a:t>
            </a:r>
          </a:p>
          <a:p>
            <a:pPr>
              <a:buFont typeface="Arial" panose="020B0604020202020204" pitchFamily="34" charset="0"/>
              <a:buChar char="•"/>
            </a:pPr>
            <a:r>
              <a:rPr lang="en-US" sz="1400">
                <a:solidFill>
                  <a:schemeClr val="tx1"/>
                </a:solidFill>
              </a:rPr>
              <a:t>Diagnostic instruments (analyzers) </a:t>
            </a:r>
          </a:p>
          <a:p>
            <a:pPr>
              <a:buFont typeface="Arial" panose="020B0604020202020204" pitchFamily="34" charset="0"/>
              <a:buChar char="•"/>
            </a:pPr>
            <a:r>
              <a:rPr lang="en-US" sz="1400">
                <a:solidFill>
                  <a:schemeClr val="tx1"/>
                </a:solidFill>
              </a:rPr>
              <a:t>Consumables (reagents, test kits) </a:t>
            </a:r>
          </a:p>
          <a:p>
            <a:pPr>
              <a:buFont typeface="Arial" panose="020B0604020202020204" pitchFamily="34" charset="0"/>
              <a:buChar char="•"/>
            </a:pPr>
            <a:r>
              <a:rPr lang="en-US" sz="1400">
                <a:solidFill>
                  <a:schemeClr val="tx1"/>
                </a:solidFill>
              </a:rPr>
              <a:t>Service &amp; maintenance contracts</a:t>
            </a:r>
          </a:p>
          <a:p>
            <a:pPr algn="ctr"/>
            <a:endParaRPr lang="en-IN" sz="1200">
              <a:solidFill>
                <a:schemeClr val="tx1"/>
              </a:solidFill>
            </a:endParaRPr>
          </a:p>
        </p:txBody>
      </p:sp>
      <p:sp>
        <p:nvSpPr>
          <p:cNvPr id="20" name="Rectangle: Rounded Corners 19">
            <a:extLst>
              <a:ext uri="{FF2B5EF4-FFF2-40B4-BE49-F238E27FC236}">
                <a16:creationId xmlns:a16="http://schemas.microsoft.com/office/drawing/2014/main" id="{72C4C999-A938-AB3C-182C-A21C8A01A704}"/>
              </a:ext>
            </a:extLst>
          </p:cNvPr>
          <p:cNvSpPr/>
          <p:nvPr/>
        </p:nvSpPr>
        <p:spPr>
          <a:xfrm>
            <a:off x="3256123" y="888131"/>
            <a:ext cx="2701716" cy="2612153"/>
          </a:xfrm>
          <a:prstGeom prst="roundRect">
            <a:avLst>
              <a:gd name="adj" fmla="val 5306"/>
            </a:avLst>
          </a:prstGeom>
          <a:solidFill>
            <a:schemeClr val="accent6">
              <a:lumMod val="20000"/>
              <a:lumOff val="80000"/>
            </a:schemeClr>
          </a:solidFill>
          <a:ln>
            <a:prstDash val="sysDot"/>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a:solidFill>
                  <a:srgbClr val="002060"/>
                </a:solidFill>
              </a:rPr>
              <a:t>Commercial Engine</a:t>
            </a:r>
            <a:br>
              <a:rPr lang="en-US" sz="1400" b="1">
                <a:solidFill>
                  <a:schemeClr val="tx1"/>
                </a:solidFill>
              </a:rPr>
            </a:br>
            <a:r>
              <a:rPr lang="en-US" sz="1400" b="1">
                <a:solidFill>
                  <a:srgbClr val="002060"/>
                </a:solidFill>
              </a:rPr>
              <a:t>(Sales Orders)</a:t>
            </a:r>
          </a:p>
          <a:p>
            <a:endParaRPr lang="en-US" sz="1400" b="1">
              <a:solidFill>
                <a:schemeClr val="tx1"/>
              </a:solidFill>
            </a:endParaRPr>
          </a:p>
          <a:p>
            <a:pPr marL="285750" indent="-285750">
              <a:buFont typeface="Arial" panose="020B0604020202020204" pitchFamily="34" charset="0"/>
              <a:buChar char="•"/>
            </a:pPr>
            <a:r>
              <a:rPr lang="en-US" sz="1400">
                <a:solidFill>
                  <a:schemeClr val="tx1"/>
                </a:solidFill>
              </a:rPr>
              <a:t>Secure customer bookings (orders) </a:t>
            </a:r>
          </a:p>
          <a:p>
            <a:pPr marL="285750" indent="-285750">
              <a:buFont typeface="Arial" panose="020B0604020202020204" pitchFamily="34" charset="0"/>
              <a:buChar char="•"/>
            </a:pPr>
            <a:r>
              <a:rPr lang="en-US" sz="1400">
                <a:solidFill>
                  <a:schemeClr val="tx1"/>
                </a:solidFill>
              </a:rPr>
              <a:t>Represent future market demand </a:t>
            </a:r>
          </a:p>
          <a:p>
            <a:pPr marL="285750" indent="-285750">
              <a:buFont typeface="Arial" panose="020B0604020202020204" pitchFamily="34" charset="0"/>
              <a:buChar char="•"/>
            </a:pPr>
            <a:r>
              <a:rPr lang="en-US" sz="1400">
                <a:solidFill>
                  <a:schemeClr val="tx1"/>
                </a:solidFill>
              </a:rPr>
              <a:t>“Committed revenue” at this stage</a:t>
            </a:r>
            <a:br>
              <a:rPr lang="en-US" sz="1400">
                <a:solidFill>
                  <a:schemeClr val="tx1"/>
                </a:solidFill>
              </a:rPr>
            </a:br>
            <a:endParaRPr lang="en-US" sz="1400">
              <a:solidFill>
                <a:schemeClr val="tx1"/>
              </a:solidFill>
            </a:endParaRPr>
          </a:p>
          <a:p>
            <a:pPr>
              <a:buNone/>
            </a:pPr>
            <a:r>
              <a:rPr lang="en-US" sz="1200" b="1">
                <a:solidFill>
                  <a:schemeClr val="tx1"/>
                </a:solidFill>
              </a:rPr>
              <a:t>Orders → Future revenue pipeline</a:t>
            </a:r>
            <a:endParaRPr lang="en-US" sz="1200">
              <a:solidFill>
                <a:schemeClr val="tx1"/>
              </a:solidFill>
            </a:endParaRPr>
          </a:p>
        </p:txBody>
      </p:sp>
      <p:sp>
        <p:nvSpPr>
          <p:cNvPr id="21" name="Rectangle: Rounded Corners 20">
            <a:extLst>
              <a:ext uri="{FF2B5EF4-FFF2-40B4-BE49-F238E27FC236}">
                <a16:creationId xmlns:a16="http://schemas.microsoft.com/office/drawing/2014/main" id="{D7498EF7-DEFF-5593-07F3-09A186063E8B}"/>
              </a:ext>
            </a:extLst>
          </p:cNvPr>
          <p:cNvSpPr/>
          <p:nvPr/>
        </p:nvSpPr>
        <p:spPr>
          <a:xfrm>
            <a:off x="6076340" y="888131"/>
            <a:ext cx="2701716" cy="2612153"/>
          </a:xfrm>
          <a:prstGeom prst="roundRect">
            <a:avLst>
              <a:gd name="adj" fmla="val 5306"/>
            </a:avLst>
          </a:prstGeom>
          <a:solidFill>
            <a:srgbClr val="C1FDE9"/>
          </a:solidFill>
          <a:ln>
            <a:prstDash val="sysDot"/>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b="1">
                <a:solidFill>
                  <a:srgbClr val="002060"/>
                </a:solidFill>
              </a:rPr>
              <a:t>Operational Engine</a:t>
            </a:r>
            <a:br>
              <a:rPr lang="en-US" sz="1400" b="1">
                <a:solidFill>
                  <a:srgbClr val="002060"/>
                </a:solidFill>
              </a:rPr>
            </a:br>
            <a:r>
              <a:rPr lang="en-US" sz="1400" b="1">
                <a:solidFill>
                  <a:srgbClr val="002060"/>
                </a:solidFill>
              </a:rPr>
              <a:t>(Shipments)</a:t>
            </a:r>
          </a:p>
          <a:p>
            <a:pPr>
              <a:buNone/>
            </a:pPr>
            <a:endParaRPr lang="en-US" sz="1400" b="1">
              <a:solidFill>
                <a:schemeClr val="tx1"/>
              </a:solidFill>
            </a:endParaRPr>
          </a:p>
          <a:p>
            <a:pPr marL="285750" indent="-285750">
              <a:buFont typeface="Arial" panose="020B0604020202020204" pitchFamily="34" charset="0"/>
              <a:buChar char="•"/>
            </a:pPr>
            <a:r>
              <a:rPr lang="en-US" sz="1400">
                <a:solidFill>
                  <a:schemeClr val="tx1"/>
                </a:solidFill>
              </a:rPr>
              <a:t>Supply chain fulfills and ships orders </a:t>
            </a:r>
          </a:p>
          <a:p>
            <a:pPr marL="285750" indent="-285750">
              <a:buFont typeface="Arial" panose="020B0604020202020204" pitchFamily="34" charset="0"/>
              <a:buChar char="•"/>
            </a:pPr>
            <a:r>
              <a:rPr lang="en-US" sz="1400">
                <a:solidFill>
                  <a:schemeClr val="tx1"/>
                </a:solidFill>
              </a:rPr>
              <a:t>Timing and backlog impact customer satisfaction </a:t>
            </a:r>
          </a:p>
          <a:p>
            <a:pPr marL="285750" indent="-285750">
              <a:buFont typeface="Arial" panose="020B0604020202020204" pitchFamily="34" charset="0"/>
              <a:buChar char="•"/>
            </a:pPr>
            <a:r>
              <a:rPr lang="en-US" sz="1400">
                <a:solidFill>
                  <a:schemeClr val="tx1"/>
                </a:solidFill>
              </a:rPr>
              <a:t>Converts bookings into actual deliveries </a:t>
            </a:r>
          </a:p>
          <a:p>
            <a:pPr marL="285750" indent="-285750">
              <a:buFont typeface="Arial" panose="020B0604020202020204" pitchFamily="34" charset="0"/>
              <a:buChar char="•"/>
            </a:pPr>
            <a:endParaRPr lang="en-US" sz="1400">
              <a:solidFill>
                <a:schemeClr val="tx1"/>
              </a:solidFill>
            </a:endParaRPr>
          </a:p>
          <a:p>
            <a:pPr>
              <a:buNone/>
            </a:pPr>
            <a:r>
              <a:rPr lang="en-US" sz="1400" b="1">
                <a:solidFill>
                  <a:schemeClr val="tx1"/>
                </a:solidFill>
              </a:rPr>
              <a:t>Bookings → Shipments</a:t>
            </a:r>
            <a:endParaRPr lang="en-US" sz="1400">
              <a:solidFill>
                <a:schemeClr val="tx1"/>
              </a:solidFill>
            </a:endParaRPr>
          </a:p>
        </p:txBody>
      </p:sp>
      <p:sp>
        <p:nvSpPr>
          <p:cNvPr id="22" name="Rectangle: Rounded Corners 21">
            <a:extLst>
              <a:ext uri="{FF2B5EF4-FFF2-40B4-BE49-F238E27FC236}">
                <a16:creationId xmlns:a16="http://schemas.microsoft.com/office/drawing/2014/main" id="{B965D9C8-8CEC-2ED5-3929-0CACD311FB48}"/>
              </a:ext>
            </a:extLst>
          </p:cNvPr>
          <p:cNvSpPr/>
          <p:nvPr/>
        </p:nvSpPr>
        <p:spPr>
          <a:xfrm>
            <a:off x="8836530" y="888131"/>
            <a:ext cx="3193026" cy="2612153"/>
          </a:xfrm>
          <a:prstGeom prst="roundRect">
            <a:avLst>
              <a:gd name="adj" fmla="val 5306"/>
            </a:avLst>
          </a:prstGeom>
          <a:solidFill>
            <a:srgbClr val="FBC3C4"/>
          </a:solidFill>
          <a:ln>
            <a:prstDash val="sysDot"/>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b="1">
                <a:solidFill>
                  <a:srgbClr val="002060"/>
                </a:solidFill>
              </a:rPr>
              <a:t>Financial Engine</a:t>
            </a:r>
            <a:br>
              <a:rPr lang="en-US" sz="1200" b="1">
                <a:solidFill>
                  <a:srgbClr val="002060"/>
                </a:solidFill>
              </a:rPr>
            </a:br>
            <a:r>
              <a:rPr lang="en-US" sz="1400" b="1">
                <a:solidFill>
                  <a:srgbClr val="002060"/>
                </a:solidFill>
              </a:rPr>
              <a:t>(Revenue)</a:t>
            </a:r>
            <a:br>
              <a:rPr lang="en-US" sz="1200" b="1">
                <a:solidFill>
                  <a:schemeClr val="tx1"/>
                </a:solidFill>
              </a:rPr>
            </a:br>
            <a:endParaRPr lang="en-US" sz="1200" b="1">
              <a:solidFill>
                <a:schemeClr val="tx1"/>
              </a:solidFill>
            </a:endParaRPr>
          </a:p>
          <a:p>
            <a:pPr marL="285750" indent="-285750">
              <a:buFont typeface="Arial" panose="020B0604020202020204" pitchFamily="34" charset="0"/>
              <a:buChar char="•"/>
            </a:pPr>
            <a:r>
              <a:rPr lang="en-US" sz="1400">
                <a:solidFill>
                  <a:schemeClr val="tx1"/>
                </a:solidFill>
              </a:rPr>
              <a:t>Revenue recognized after delivery </a:t>
            </a:r>
          </a:p>
          <a:p>
            <a:pPr marL="285750" indent="-285750">
              <a:buFont typeface="Arial" panose="020B0604020202020204" pitchFamily="34" charset="0"/>
              <a:buChar char="•"/>
            </a:pPr>
            <a:r>
              <a:rPr lang="en-US" sz="1400">
                <a:solidFill>
                  <a:schemeClr val="tx1"/>
                </a:solidFill>
              </a:rPr>
              <a:t>FP&amp;A tracks actual revenue vs forecasts </a:t>
            </a:r>
          </a:p>
          <a:p>
            <a:pPr marL="285750" indent="-285750">
              <a:buFont typeface="Arial" panose="020B0604020202020204" pitchFamily="34" charset="0"/>
              <a:buChar char="•"/>
            </a:pPr>
            <a:r>
              <a:rPr lang="en-US" sz="1400">
                <a:solidFill>
                  <a:schemeClr val="tx1"/>
                </a:solidFill>
              </a:rPr>
              <a:t>Monitors margin, costs, and profitability</a:t>
            </a:r>
          </a:p>
          <a:p>
            <a:pPr marL="285750" indent="-285750">
              <a:buFont typeface="Arial" panose="020B0604020202020204" pitchFamily="34" charset="0"/>
              <a:buChar char="•"/>
            </a:pPr>
            <a:endParaRPr lang="en-US" sz="1200">
              <a:solidFill>
                <a:schemeClr val="tx1"/>
              </a:solidFill>
            </a:endParaRPr>
          </a:p>
          <a:p>
            <a:pPr>
              <a:buNone/>
            </a:pPr>
            <a:r>
              <a:rPr lang="en-US" sz="1200" b="1">
                <a:solidFill>
                  <a:schemeClr val="tx1"/>
                </a:solidFill>
              </a:rPr>
              <a:t>Shipments → Recognized Revenue &amp;Profit</a:t>
            </a:r>
            <a:br>
              <a:rPr lang="en-US" sz="1200">
                <a:solidFill>
                  <a:schemeClr val="tx1"/>
                </a:solidFill>
              </a:rPr>
            </a:br>
            <a:r>
              <a:rPr lang="en-US" sz="1200" b="1">
                <a:solidFill>
                  <a:schemeClr val="tx1"/>
                </a:solidFill>
              </a:rPr>
              <a:t>Financial → Revenue &amp; Margin</a:t>
            </a:r>
            <a:endParaRPr lang="en-US" sz="1200">
              <a:solidFill>
                <a:schemeClr val="tx1"/>
              </a:solidFill>
            </a:endParaRPr>
          </a:p>
        </p:txBody>
      </p:sp>
      <p:sp>
        <p:nvSpPr>
          <p:cNvPr id="24" name="TextBox 23">
            <a:extLst>
              <a:ext uri="{FF2B5EF4-FFF2-40B4-BE49-F238E27FC236}">
                <a16:creationId xmlns:a16="http://schemas.microsoft.com/office/drawing/2014/main" id="{3084D2C5-EF54-5E5D-9C6E-8EA91ED15249}"/>
              </a:ext>
            </a:extLst>
          </p:cNvPr>
          <p:cNvSpPr txBox="1"/>
          <p:nvPr/>
        </p:nvSpPr>
        <p:spPr>
          <a:xfrm>
            <a:off x="1832152" y="3563420"/>
            <a:ext cx="9171038" cy="338554"/>
          </a:xfrm>
          <a:prstGeom prst="rect">
            <a:avLst/>
          </a:prstGeom>
          <a:noFill/>
        </p:spPr>
        <p:txBody>
          <a:bodyPr wrap="square">
            <a:spAutoFit/>
          </a:bodyPr>
          <a:lstStyle/>
          <a:p>
            <a:r>
              <a:rPr lang="en-US" sz="1600"/>
              <a:t>Nova Biomedical operates across interconnected Sales , Operations and Finance Layers</a:t>
            </a:r>
            <a:endParaRPr lang="en-IN" sz="1600"/>
          </a:p>
        </p:txBody>
      </p:sp>
      <p:sp>
        <p:nvSpPr>
          <p:cNvPr id="25" name="Rectangle 24">
            <a:extLst>
              <a:ext uri="{FF2B5EF4-FFF2-40B4-BE49-F238E27FC236}">
                <a16:creationId xmlns:a16="http://schemas.microsoft.com/office/drawing/2014/main" id="{9CF3078B-A464-2D2D-E8FC-F6E11D948174}"/>
              </a:ext>
            </a:extLst>
          </p:cNvPr>
          <p:cNvSpPr/>
          <p:nvPr/>
        </p:nvSpPr>
        <p:spPr>
          <a:xfrm>
            <a:off x="254315" y="3901974"/>
            <a:ext cx="3493962" cy="2097436"/>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a:solidFill>
                  <a:srgbClr val="002060"/>
                </a:solidFill>
              </a:rPr>
              <a:t>The Business Challenge</a:t>
            </a:r>
            <a:endParaRPr lang="en-US" sz="1200" b="1">
              <a:solidFill>
                <a:schemeClr val="tx1"/>
              </a:solidFill>
            </a:endParaRPr>
          </a:p>
          <a:p>
            <a:endParaRPr lang="en-US" sz="1200" b="1">
              <a:solidFill>
                <a:schemeClr val="tx1"/>
              </a:solidFill>
            </a:endParaRPr>
          </a:p>
          <a:p>
            <a:pPr marL="171450" indent="-171450">
              <a:buFont typeface="Arial" panose="020B0604020202020204" pitchFamily="34" charset="0"/>
              <a:buChar char="•"/>
            </a:pPr>
            <a:r>
              <a:rPr lang="en-US" sz="1200">
                <a:solidFill>
                  <a:schemeClr val="tx1"/>
                </a:solidFill>
              </a:rPr>
              <a:t>Struggle to connect bookings, shipments, and revenue seamlessly </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Data inconsistencies, limited visibility, and fragmentation </a:t>
            </a:r>
          </a:p>
          <a:p>
            <a:pPr marL="171450" indent="-171450">
              <a:buFont typeface="Arial" panose="020B0604020202020204" pitchFamily="34" charset="0"/>
              <a:buChar char="•"/>
            </a:pPr>
            <a:endParaRPr lang="en-US" sz="1200">
              <a:solidFill>
                <a:schemeClr val="tx1"/>
              </a:solidFill>
            </a:endParaRPr>
          </a:p>
          <a:p>
            <a:pPr marL="171450" indent="-171450">
              <a:buFont typeface="Arial" panose="020B0604020202020204" pitchFamily="34" charset="0"/>
              <a:buChar char="•"/>
            </a:pPr>
            <a:r>
              <a:rPr lang="en-US" sz="1200">
                <a:solidFill>
                  <a:schemeClr val="tx1"/>
                </a:solidFill>
              </a:rPr>
              <a:t>Leadership cannot effectively track end-to-end performance</a:t>
            </a:r>
          </a:p>
        </p:txBody>
      </p:sp>
      <p:sp>
        <p:nvSpPr>
          <p:cNvPr id="26" name="Arrow: Right 25">
            <a:extLst>
              <a:ext uri="{FF2B5EF4-FFF2-40B4-BE49-F238E27FC236}">
                <a16:creationId xmlns:a16="http://schemas.microsoft.com/office/drawing/2014/main" id="{055FC052-29A9-EDA0-1836-534482F05AEB}"/>
              </a:ext>
            </a:extLst>
          </p:cNvPr>
          <p:cNvSpPr/>
          <p:nvPr/>
        </p:nvSpPr>
        <p:spPr>
          <a:xfrm>
            <a:off x="5957839" y="1986116"/>
            <a:ext cx="176975" cy="157316"/>
          </a:xfrm>
          <a:prstGeom prst="right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Right 26">
            <a:extLst>
              <a:ext uri="{FF2B5EF4-FFF2-40B4-BE49-F238E27FC236}">
                <a16:creationId xmlns:a16="http://schemas.microsoft.com/office/drawing/2014/main" id="{FB4EEA88-FB55-D1DF-0BCC-56558DFEAF4F}"/>
              </a:ext>
            </a:extLst>
          </p:cNvPr>
          <p:cNvSpPr/>
          <p:nvPr/>
        </p:nvSpPr>
        <p:spPr>
          <a:xfrm>
            <a:off x="8778056" y="1981200"/>
            <a:ext cx="176975" cy="157316"/>
          </a:xfrm>
          <a:prstGeom prst="rightArrow">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Chevron 27">
            <a:extLst>
              <a:ext uri="{FF2B5EF4-FFF2-40B4-BE49-F238E27FC236}">
                <a16:creationId xmlns:a16="http://schemas.microsoft.com/office/drawing/2014/main" id="{E86DB1B8-4D8D-CEB9-BCE1-C72095B4BA61}"/>
              </a:ext>
            </a:extLst>
          </p:cNvPr>
          <p:cNvSpPr/>
          <p:nvPr/>
        </p:nvSpPr>
        <p:spPr>
          <a:xfrm>
            <a:off x="3079148" y="1941871"/>
            <a:ext cx="196645" cy="235974"/>
          </a:xfrm>
          <a:prstGeom prst="chevron">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5" name="Rectangle 34">
            <a:extLst>
              <a:ext uri="{FF2B5EF4-FFF2-40B4-BE49-F238E27FC236}">
                <a16:creationId xmlns:a16="http://schemas.microsoft.com/office/drawing/2014/main" id="{2E16402B-1A50-7D04-DC8B-0E0110C8899D}"/>
              </a:ext>
            </a:extLst>
          </p:cNvPr>
          <p:cNvSpPr/>
          <p:nvPr/>
        </p:nvSpPr>
        <p:spPr>
          <a:xfrm>
            <a:off x="3903929" y="5620095"/>
            <a:ext cx="7770763" cy="333996"/>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a:solidFill>
                  <a:sysClr val="windowText" lastClr="000000"/>
                </a:solidFill>
              </a:rPr>
              <a:t>Nova Operates across Interconnected Sales , Operations and Finance Layers</a:t>
            </a:r>
          </a:p>
        </p:txBody>
      </p:sp>
      <p:sp>
        <p:nvSpPr>
          <p:cNvPr id="40" name="TextBox 39">
            <a:extLst>
              <a:ext uri="{FF2B5EF4-FFF2-40B4-BE49-F238E27FC236}">
                <a16:creationId xmlns:a16="http://schemas.microsoft.com/office/drawing/2014/main" id="{2BD830E4-F59C-632D-EEE1-06EDE0F14F6E}"/>
              </a:ext>
            </a:extLst>
          </p:cNvPr>
          <p:cNvSpPr txBox="1"/>
          <p:nvPr/>
        </p:nvSpPr>
        <p:spPr>
          <a:xfrm>
            <a:off x="5298710" y="5029916"/>
            <a:ext cx="1441420" cy="338554"/>
          </a:xfrm>
          <a:prstGeom prst="rect">
            <a:avLst/>
          </a:prstGeom>
          <a:noFill/>
        </p:spPr>
        <p:txBody>
          <a:bodyPr wrap="none" rtlCol="0">
            <a:spAutoFit/>
          </a:bodyPr>
          <a:lstStyle/>
          <a:p>
            <a:r>
              <a:rPr lang="en-IN" sz="1600" b="1"/>
              <a:t>Sales</a:t>
            </a:r>
            <a:r>
              <a:rPr lang="en-IN" sz="1600"/>
              <a:t> </a:t>
            </a:r>
            <a:r>
              <a:rPr lang="en-IN" sz="1400"/>
              <a:t>(Bookings</a:t>
            </a:r>
            <a:r>
              <a:rPr lang="en-IN" sz="1600"/>
              <a:t>)</a:t>
            </a:r>
          </a:p>
        </p:txBody>
      </p:sp>
      <p:grpSp>
        <p:nvGrpSpPr>
          <p:cNvPr id="42" name="Group 41">
            <a:extLst>
              <a:ext uri="{FF2B5EF4-FFF2-40B4-BE49-F238E27FC236}">
                <a16:creationId xmlns:a16="http://schemas.microsoft.com/office/drawing/2014/main" id="{46A92D85-1274-364F-F236-81BA768FB713}"/>
              </a:ext>
            </a:extLst>
          </p:cNvPr>
          <p:cNvGrpSpPr/>
          <p:nvPr/>
        </p:nvGrpSpPr>
        <p:grpSpPr>
          <a:xfrm>
            <a:off x="3850966" y="3785421"/>
            <a:ext cx="8026401" cy="1569965"/>
            <a:chOff x="3850966" y="3854245"/>
            <a:chExt cx="8026401" cy="1569965"/>
          </a:xfrm>
        </p:grpSpPr>
        <p:sp>
          <p:nvSpPr>
            <p:cNvPr id="37" name="Arrow: Bent-Up 36">
              <a:extLst>
                <a:ext uri="{FF2B5EF4-FFF2-40B4-BE49-F238E27FC236}">
                  <a16:creationId xmlns:a16="http://schemas.microsoft.com/office/drawing/2014/main" id="{70C1D434-6553-9D41-8DC9-CFC07AEC28FD}"/>
                </a:ext>
              </a:extLst>
            </p:cNvPr>
            <p:cNvSpPr/>
            <p:nvPr/>
          </p:nvSpPr>
          <p:spPr>
            <a:xfrm flipH="1">
              <a:off x="4743020" y="4788308"/>
              <a:ext cx="536190" cy="53235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9" name="Diagram 28">
              <a:extLst>
                <a:ext uri="{FF2B5EF4-FFF2-40B4-BE49-F238E27FC236}">
                  <a16:creationId xmlns:a16="http://schemas.microsoft.com/office/drawing/2014/main" id="{F5C0DA6D-3A06-B6CA-EA2F-4F53C82B2A15}"/>
                </a:ext>
              </a:extLst>
            </p:cNvPr>
            <p:cNvGraphicFramePr/>
            <p:nvPr>
              <p:extLst>
                <p:ext uri="{D42A27DB-BD31-4B8C-83A1-F6EECF244321}">
                  <p14:modId xmlns:p14="http://schemas.microsoft.com/office/powerpoint/2010/main" val="993319904"/>
                </p:ext>
              </p:extLst>
            </p:nvPr>
          </p:nvGraphicFramePr>
          <p:xfrm>
            <a:off x="3850966" y="3854245"/>
            <a:ext cx="8026401" cy="1212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8" name="Arrow: Bent-Up 37">
              <a:extLst>
                <a:ext uri="{FF2B5EF4-FFF2-40B4-BE49-F238E27FC236}">
                  <a16:creationId xmlns:a16="http://schemas.microsoft.com/office/drawing/2014/main" id="{B903BE73-F5BB-E22F-AB08-F192FC803670}"/>
                </a:ext>
              </a:extLst>
            </p:cNvPr>
            <p:cNvSpPr/>
            <p:nvPr/>
          </p:nvSpPr>
          <p:spPr>
            <a:xfrm>
              <a:off x="9783182" y="4926869"/>
              <a:ext cx="946492" cy="399051"/>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Arrow: Right 38">
              <a:extLst>
                <a:ext uri="{FF2B5EF4-FFF2-40B4-BE49-F238E27FC236}">
                  <a16:creationId xmlns:a16="http://schemas.microsoft.com/office/drawing/2014/main" id="{2AFEA651-8D2B-CA55-C3A9-35DAE824DE77}"/>
                </a:ext>
              </a:extLst>
            </p:cNvPr>
            <p:cNvSpPr/>
            <p:nvPr/>
          </p:nvSpPr>
          <p:spPr>
            <a:xfrm>
              <a:off x="6740130" y="5166988"/>
              <a:ext cx="946492" cy="1982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35ADEED4-43A9-896A-29A7-9DAEA2FEFB29}"/>
                </a:ext>
              </a:extLst>
            </p:cNvPr>
            <p:cNvSpPr txBox="1"/>
            <p:nvPr/>
          </p:nvSpPr>
          <p:spPr>
            <a:xfrm>
              <a:off x="7789311" y="5085656"/>
              <a:ext cx="2573036" cy="338554"/>
            </a:xfrm>
            <a:prstGeom prst="rect">
              <a:avLst/>
            </a:prstGeom>
            <a:noFill/>
          </p:spPr>
          <p:txBody>
            <a:bodyPr wrap="square" rtlCol="0">
              <a:spAutoFit/>
            </a:bodyPr>
            <a:lstStyle/>
            <a:p>
              <a:r>
                <a:rPr lang="en-IN" sz="1600" b="1"/>
                <a:t>Operations</a:t>
              </a:r>
              <a:r>
                <a:rPr lang="en-IN" sz="1400" b="1"/>
                <a:t> </a:t>
              </a:r>
              <a:r>
                <a:rPr lang="en-IN" sz="1400"/>
                <a:t>(Shipments)</a:t>
              </a:r>
            </a:p>
          </p:txBody>
        </p:sp>
      </p:grpSp>
    </p:spTree>
    <p:extLst>
      <p:ext uri="{BB962C8B-B14F-4D97-AF65-F5344CB8AC3E}">
        <p14:creationId xmlns:p14="http://schemas.microsoft.com/office/powerpoint/2010/main" val="2625791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F422B-E1DB-3C26-9163-8D7616467C4F}"/>
              </a:ext>
            </a:extLst>
          </p:cNvPr>
          <p:cNvSpPr>
            <a:spLocks noGrp="1"/>
          </p:cNvSpPr>
          <p:nvPr>
            <p:ph type="title"/>
          </p:nvPr>
        </p:nvSpPr>
        <p:spPr/>
        <p:txBody>
          <a:bodyPr/>
          <a:lstStyle/>
          <a:p>
            <a:r>
              <a:rPr lang="en-US"/>
              <a:t>Project Coverage</a:t>
            </a:r>
            <a:endParaRPr lang="en-IN"/>
          </a:p>
        </p:txBody>
      </p:sp>
      <p:sp>
        <p:nvSpPr>
          <p:cNvPr id="4" name="Slide Number Placeholder 3">
            <a:extLst>
              <a:ext uri="{FF2B5EF4-FFF2-40B4-BE49-F238E27FC236}">
                <a16:creationId xmlns:a16="http://schemas.microsoft.com/office/drawing/2014/main" id="{70095581-50DA-9D1F-5491-94585DE22E18}"/>
              </a:ext>
            </a:extLst>
          </p:cNvPr>
          <p:cNvSpPr>
            <a:spLocks noGrp="1"/>
          </p:cNvSpPr>
          <p:nvPr>
            <p:ph type="sldNum" sz="quarter" idx="4"/>
          </p:nvPr>
        </p:nvSpPr>
        <p:spPr/>
        <p:txBody>
          <a:bodyPr/>
          <a:lstStyle/>
          <a:p>
            <a:fld id="{274CC3B9-6596-1243-9665-72A444B9047F}" type="slidenum">
              <a:rPr lang="en-CA" smtClean="0"/>
              <a:pPr/>
              <a:t>14</a:t>
            </a:fld>
            <a:endParaRPr lang="en-CA"/>
          </a:p>
        </p:txBody>
      </p:sp>
      <p:grpSp>
        <p:nvGrpSpPr>
          <p:cNvPr id="8" name="Group 7">
            <a:extLst>
              <a:ext uri="{FF2B5EF4-FFF2-40B4-BE49-F238E27FC236}">
                <a16:creationId xmlns:a16="http://schemas.microsoft.com/office/drawing/2014/main" id="{59FB2B71-A1FB-B313-6A38-11912EEB27A8}"/>
              </a:ext>
            </a:extLst>
          </p:cNvPr>
          <p:cNvGrpSpPr/>
          <p:nvPr/>
        </p:nvGrpSpPr>
        <p:grpSpPr>
          <a:xfrm>
            <a:off x="905788" y="821096"/>
            <a:ext cx="10085456" cy="5146498"/>
            <a:chOff x="996630" y="358662"/>
            <a:chExt cx="10082174" cy="5132895"/>
          </a:xfrm>
        </p:grpSpPr>
        <p:sp>
          <p:nvSpPr>
            <p:cNvPr id="9" name="Freeform: Shape 8">
              <a:extLst>
                <a:ext uri="{FF2B5EF4-FFF2-40B4-BE49-F238E27FC236}">
                  <a16:creationId xmlns:a16="http://schemas.microsoft.com/office/drawing/2014/main" id="{8C2EB657-FD9D-B5CD-9D03-13B061AA1EBA}"/>
                </a:ext>
              </a:extLst>
            </p:cNvPr>
            <p:cNvSpPr/>
            <p:nvPr/>
          </p:nvSpPr>
          <p:spPr>
            <a:xfrm>
              <a:off x="996630" y="1345736"/>
              <a:ext cx="3020329" cy="2876392"/>
            </a:xfrm>
            <a:custGeom>
              <a:avLst/>
              <a:gdLst>
                <a:gd name="csX0" fmla="*/ 0 w 2810660"/>
                <a:gd name="csY0" fmla="*/ 231821 h 2318206"/>
                <a:gd name="csX1" fmla="*/ 231821 w 2810660"/>
                <a:gd name="csY1" fmla="*/ 0 h 2318206"/>
                <a:gd name="csX2" fmla="*/ 2578839 w 2810660"/>
                <a:gd name="csY2" fmla="*/ 0 h 2318206"/>
                <a:gd name="csX3" fmla="*/ 2810660 w 2810660"/>
                <a:gd name="csY3" fmla="*/ 231821 h 2318206"/>
                <a:gd name="csX4" fmla="*/ 2810660 w 2810660"/>
                <a:gd name="csY4" fmla="*/ 2086385 h 2318206"/>
                <a:gd name="csX5" fmla="*/ 2578839 w 2810660"/>
                <a:gd name="csY5" fmla="*/ 2318206 h 2318206"/>
                <a:gd name="csX6" fmla="*/ 231821 w 2810660"/>
                <a:gd name="csY6" fmla="*/ 2318206 h 2318206"/>
                <a:gd name="csX7" fmla="*/ 0 w 2810660"/>
                <a:gd name="csY7" fmla="*/ 2086385 h 2318206"/>
                <a:gd name="csX8" fmla="*/ 0 w 2810660"/>
                <a:gd name="csY8" fmla="*/ 231821 h 2318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10660" h="2318206">
                  <a:moveTo>
                    <a:pt x="0" y="231821"/>
                  </a:moveTo>
                  <a:cubicBezTo>
                    <a:pt x="0" y="103790"/>
                    <a:pt x="103790" y="0"/>
                    <a:pt x="231821" y="0"/>
                  </a:cubicBezTo>
                  <a:lnTo>
                    <a:pt x="2578839" y="0"/>
                  </a:lnTo>
                  <a:cubicBezTo>
                    <a:pt x="2706870" y="0"/>
                    <a:pt x="2810660" y="103790"/>
                    <a:pt x="2810660" y="231821"/>
                  </a:cubicBezTo>
                  <a:lnTo>
                    <a:pt x="2810660" y="2086385"/>
                  </a:lnTo>
                  <a:cubicBezTo>
                    <a:pt x="2810660" y="2214416"/>
                    <a:pt x="2706870" y="2318206"/>
                    <a:pt x="2578839" y="2318206"/>
                  </a:cubicBezTo>
                  <a:lnTo>
                    <a:pt x="231821" y="2318206"/>
                  </a:lnTo>
                  <a:cubicBezTo>
                    <a:pt x="103790" y="2318206"/>
                    <a:pt x="0" y="2214416"/>
                    <a:pt x="0" y="2086385"/>
                  </a:cubicBezTo>
                  <a:lnTo>
                    <a:pt x="0" y="231821"/>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0493" tIns="70493" rIns="70493" bIns="567251" numCol="1" spcCol="1270" anchor="t" anchorCtr="0">
              <a:noAutofit/>
            </a:bodyPr>
            <a:lstStyle/>
            <a:p>
              <a:pPr marL="0" lvl="1" algn="l" defTabSz="400050">
                <a:lnSpc>
                  <a:spcPct val="90000"/>
                </a:lnSpc>
                <a:spcBef>
                  <a:spcPct val="0"/>
                </a:spcBef>
                <a:spcAft>
                  <a:spcPct val="15000"/>
                </a:spcAft>
              </a:pPr>
              <a:r>
                <a:rPr lang="en-IN" sz="1200" kern="1200"/>
                <a:t>Unified view of all booking data across Legacy AI &amp; Legacy Nova — single model for revenue reporting and analysis.</a:t>
              </a:r>
            </a:p>
            <a:p>
              <a:pPr marL="0" lvl="1" algn="l" defTabSz="400050">
                <a:lnSpc>
                  <a:spcPct val="90000"/>
                </a:lnSpc>
                <a:spcBef>
                  <a:spcPct val="0"/>
                </a:spcBef>
                <a:spcAft>
                  <a:spcPct val="15000"/>
                </a:spcAft>
              </a:pPr>
              <a:endParaRPr lang="en-IN" sz="1200" kern="1200"/>
            </a:p>
            <a:p>
              <a:pPr marL="114300" lvl="2" indent="-57150" algn="l" defTabSz="400050">
                <a:lnSpc>
                  <a:spcPct val="90000"/>
                </a:lnSpc>
                <a:spcBef>
                  <a:spcPct val="0"/>
                </a:spcBef>
                <a:spcAft>
                  <a:spcPct val="15000"/>
                </a:spcAft>
                <a:buChar char="•"/>
              </a:pPr>
              <a:r>
                <a:rPr lang="en-IN" sz="1200" kern="1200"/>
                <a:t>Dec 2025: Data integration (SAP, BW, Pivotal, </a:t>
              </a:r>
              <a:r>
                <a:rPr lang="en-IN" sz="1200" kern="1200" err="1"/>
                <a:t>JDrive</a:t>
              </a:r>
              <a:r>
                <a:rPr lang="en-IN" sz="1200" kern="1200"/>
                <a:t>)</a:t>
              </a:r>
            </a:p>
            <a:p>
              <a:pPr marL="114300" lvl="2" indent="-57150" algn="l" defTabSz="400050">
                <a:lnSpc>
                  <a:spcPct val="90000"/>
                </a:lnSpc>
                <a:spcBef>
                  <a:spcPct val="0"/>
                </a:spcBef>
                <a:spcAft>
                  <a:spcPct val="15000"/>
                </a:spcAft>
                <a:buChar char="•"/>
              </a:pPr>
              <a:r>
                <a:rPr lang="en-IN" sz="1200" kern="1200"/>
                <a:t>Jan 2026: Business alignment (profit centres, forex, territories)</a:t>
              </a:r>
            </a:p>
            <a:p>
              <a:pPr marL="114300" lvl="2" indent="-57150" algn="l" defTabSz="400050">
                <a:lnSpc>
                  <a:spcPct val="90000"/>
                </a:lnSpc>
                <a:spcBef>
                  <a:spcPct val="0"/>
                </a:spcBef>
                <a:spcAft>
                  <a:spcPct val="15000"/>
                </a:spcAft>
                <a:buChar char="•"/>
              </a:pPr>
              <a:r>
                <a:rPr lang="en-IN" sz="1200" kern="1200"/>
                <a:t>Feb 2026: Harmonization of AI &amp; Nova logic</a:t>
              </a:r>
            </a:p>
            <a:p>
              <a:pPr marL="114300" lvl="2" indent="-57150" algn="l" defTabSz="400050">
                <a:lnSpc>
                  <a:spcPct val="90000"/>
                </a:lnSpc>
                <a:spcBef>
                  <a:spcPct val="0"/>
                </a:spcBef>
                <a:spcAft>
                  <a:spcPct val="15000"/>
                </a:spcAft>
                <a:buChar char="•"/>
              </a:pPr>
              <a:r>
                <a:rPr lang="en-IN" sz="1200" kern="1200"/>
                <a:t>Mar 2026: Contract booking redesign &amp; historical migration</a:t>
              </a:r>
            </a:p>
            <a:p>
              <a:pPr marL="114300" lvl="2" indent="-57150" algn="l" defTabSz="400050">
                <a:lnSpc>
                  <a:spcPct val="90000"/>
                </a:lnSpc>
                <a:spcBef>
                  <a:spcPct val="0"/>
                </a:spcBef>
                <a:spcAft>
                  <a:spcPct val="15000"/>
                </a:spcAft>
                <a:buChar char="•"/>
              </a:pPr>
              <a:r>
                <a:rPr lang="en-IN" sz="1200" kern="1200"/>
                <a:t>Apr 2026: Booking dashboards &amp; profitability reporting ← </a:t>
              </a:r>
              <a:r>
                <a:rPr lang="en-IN" sz="1200" b="1" kern="1200"/>
                <a:t>Live</a:t>
              </a:r>
              <a:br>
                <a:rPr lang="en-IN" sz="1200" kern="1200"/>
              </a:br>
              <a:endParaRPr lang="en-IN" sz="1200" kern="1200"/>
            </a:p>
          </p:txBody>
        </p:sp>
        <p:sp>
          <p:nvSpPr>
            <p:cNvPr id="10" name="Shape 9">
              <a:extLst>
                <a:ext uri="{FF2B5EF4-FFF2-40B4-BE49-F238E27FC236}">
                  <a16:creationId xmlns:a16="http://schemas.microsoft.com/office/drawing/2014/main" id="{E4F45F21-227B-4AD2-5962-75BCCA826857}"/>
                </a:ext>
              </a:extLst>
            </p:cNvPr>
            <p:cNvSpPr/>
            <p:nvPr/>
          </p:nvSpPr>
          <p:spPr>
            <a:xfrm>
              <a:off x="3306118" y="2441463"/>
              <a:ext cx="3050094" cy="3050094"/>
            </a:xfrm>
            <a:prstGeom prst="leftCircularArrow">
              <a:avLst>
                <a:gd name="adj1" fmla="val 2993"/>
                <a:gd name="adj2" fmla="val 366939"/>
                <a:gd name="adj3" fmla="val 2142450"/>
                <a:gd name="adj4" fmla="val 9024489"/>
                <a:gd name="adj5" fmla="val 3492"/>
              </a:avLst>
            </a:prstGeom>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33996676-EA80-89E5-BD65-A5DDB6EC1C3F}"/>
                </a:ext>
              </a:extLst>
            </p:cNvPr>
            <p:cNvSpPr/>
            <p:nvPr/>
          </p:nvSpPr>
          <p:spPr>
            <a:xfrm>
              <a:off x="2120015" y="3767896"/>
              <a:ext cx="2186069" cy="794456"/>
            </a:xfrm>
            <a:custGeom>
              <a:avLst/>
              <a:gdLst>
                <a:gd name="csX0" fmla="*/ 0 w 2498364"/>
                <a:gd name="csY0" fmla="*/ 99352 h 993517"/>
                <a:gd name="csX1" fmla="*/ 99352 w 2498364"/>
                <a:gd name="csY1" fmla="*/ 0 h 993517"/>
                <a:gd name="csX2" fmla="*/ 2399012 w 2498364"/>
                <a:gd name="csY2" fmla="*/ 0 h 993517"/>
                <a:gd name="csX3" fmla="*/ 2498364 w 2498364"/>
                <a:gd name="csY3" fmla="*/ 99352 h 993517"/>
                <a:gd name="csX4" fmla="*/ 2498364 w 2498364"/>
                <a:gd name="csY4" fmla="*/ 894165 h 993517"/>
                <a:gd name="csX5" fmla="*/ 2399012 w 2498364"/>
                <a:gd name="csY5" fmla="*/ 993517 h 993517"/>
                <a:gd name="csX6" fmla="*/ 99352 w 2498364"/>
                <a:gd name="csY6" fmla="*/ 993517 h 993517"/>
                <a:gd name="csX7" fmla="*/ 0 w 2498364"/>
                <a:gd name="csY7" fmla="*/ 894165 h 993517"/>
                <a:gd name="csX8" fmla="*/ 0 w 2498364"/>
                <a:gd name="csY8" fmla="*/ 99352 h 9935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98364" h="993517">
                  <a:moveTo>
                    <a:pt x="0" y="99352"/>
                  </a:moveTo>
                  <a:cubicBezTo>
                    <a:pt x="0" y="44481"/>
                    <a:pt x="44481" y="0"/>
                    <a:pt x="99352" y="0"/>
                  </a:cubicBezTo>
                  <a:lnTo>
                    <a:pt x="2399012" y="0"/>
                  </a:lnTo>
                  <a:cubicBezTo>
                    <a:pt x="2453883" y="0"/>
                    <a:pt x="2498364" y="44481"/>
                    <a:pt x="2498364" y="99352"/>
                  </a:cubicBezTo>
                  <a:lnTo>
                    <a:pt x="2498364" y="894165"/>
                  </a:lnTo>
                  <a:cubicBezTo>
                    <a:pt x="2498364" y="949036"/>
                    <a:pt x="2453883" y="993517"/>
                    <a:pt x="2399012" y="993517"/>
                  </a:cubicBezTo>
                  <a:lnTo>
                    <a:pt x="99352" y="993517"/>
                  </a:lnTo>
                  <a:cubicBezTo>
                    <a:pt x="44481" y="993517"/>
                    <a:pt x="0" y="949036"/>
                    <a:pt x="0" y="894165"/>
                  </a:cubicBezTo>
                  <a:lnTo>
                    <a:pt x="0" y="99352"/>
                  </a:lnTo>
                  <a:close/>
                </a:path>
              </a:pathLst>
            </a:custGeom>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86249" tIns="67199" rIns="86249" bIns="67199" numCol="1" spcCol="1270" anchor="ctr" anchorCtr="0">
              <a:noAutofit/>
            </a:bodyPr>
            <a:lstStyle/>
            <a:p>
              <a:pPr marL="0" lvl="0" indent="0" algn="ctr" defTabSz="1333500">
                <a:lnSpc>
                  <a:spcPct val="90000"/>
                </a:lnSpc>
                <a:spcBef>
                  <a:spcPct val="0"/>
                </a:spcBef>
                <a:spcAft>
                  <a:spcPct val="35000"/>
                </a:spcAft>
                <a:buNone/>
              </a:pPr>
              <a:r>
                <a:rPr lang="en-IN" b="1" kern="1200"/>
                <a:t>Consolidated Booking</a:t>
              </a:r>
              <a:endParaRPr lang="en-IN" kern="1200"/>
            </a:p>
          </p:txBody>
        </p:sp>
        <p:sp>
          <p:nvSpPr>
            <p:cNvPr id="12" name="Freeform: Shape 11">
              <a:extLst>
                <a:ext uri="{FF2B5EF4-FFF2-40B4-BE49-F238E27FC236}">
                  <a16:creationId xmlns:a16="http://schemas.microsoft.com/office/drawing/2014/main" id="{7FE3B83A-7D9D-8A85-7A07-B62FE1EB0000}"/>
                </a:ext>
              </a:extLst>
            </p:cNvPr>
            <p:cNvSpPr/>
            <p:nvPr/>
          </p:nvSpPr>
          <p:spPr>
            <a:xfrm>
              <a:off x="4470540" y="1328957"/>
              <a:ext cx="2886721" cy="2876392"/>
            </a:xfrm>
            <a:custGeom>
              <a:avLst/>
              <a:gdLst>
                <a:gd name="csX0" fmla="*/ 0 w 2810660"/>
                <a:gd name="csY0" fmla="*/ 231821 h 2318206"/>
                <a:gd name="csX1" fmla="*/ 231821 w 2810660"/>
                <a:gd name="csY1" fmla="*/ 0 h 2318206"/>
                <a:gd name="csX2" fmla="*/ 2578839 w 2810660"/>
                <a:gd name="csY2" fmla="*/ 0 h 2318206"/>
                <a:gd name="csX3" fmla="*/ 2810660 w 2810660"/>
                <a:gd name="csY3" fmla="*/ 231821 h 2318206"/>
                <a:gd name="csX4" fmla="*/ 2810660 w 2810660"/>
                <a:gd name="csY4" fmla="*/ 2086385 h 2318206"/>
                <a:gd name="csX5" fmla="*/ 2578839 w 2810660"/>
                <a:gd name="csY5" fmla="*/ 2318206 h 2318206"/>
                <a:gd name="csX6" fmla="*/ 231821 w 2810660"/>
                <a:gd name="csY6" fmla="*/ 2318206 h 2318206"/>
                <a:gd name="csX7" fmla="*/ 0 w 2810660"/>
                <a:gd name="csY7" fmla="*/ 2086385 h 2318206"/>
                <a:gd name="csX8" fmla="*/ 0 w 2810660"/>
                <a:gd name="csY8" fmla="*/ 231821 h 2318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10660" h="2318206">
                  <a:moveTo>
                    <a:pt x="0" y="231821"/>
                  </a:moveTo>
                  <a:cubicBezTo>
                    <a:pt x="0" y="103790"/>
                    <a:pt x="103790" y="0"/>
                    <a:pt x="231821" y="0"/>
                  </a:cubicBezTo>
                  <a:lnTo>
                    <a:pt x="2578839" y="0"/>
                  </a:lnTo>
                  <a:cubicBezTo>
                    <a:pt x="2706870" y="0"/>
                    <a:pt x="2810660" y="103790"/>
                    <a:pt x="2810660" y="231821"/>
                  </a:cubicBezTo>
                  <a:lnTo>
                    <a:pt x="2810660" y="2086385"/>
                  </a:lnTo>
                  <a:cubicBezTo>
                    <a:pt x="2810660" y="2214416"/>
                    <a:pt x="2706870" y="2318206"/>
                    <a:pt x="2578839" y="2318206"/>
                  </a:cubicBezTo>
                  <a:lnTo>
                    <a:pt x="231821" y="2318206"/>
                  </a:lnTo>
                  <a:cubicBezTo>
                    <a:pt x="103790" y="2318206"/>
                    <a:pt x="0" y="2214416"/>
                    <a:pt x="0" y="2086385"/>
                  </a:cubicBezTo>
                  <a:lnTo>
                    <a:pt x="0" y="231821"/>
                  </a:lnTo>
                  <a:close/>
                </a:path>
              </a:pathLst>
            </a:custGeom>
          </p:spPr>
          <p:style>
            <a:lnRef idx="1">
              <a:schemeClr val="accent3">
                <a:hueOff val="-5417260"/>
                <a:satOff val="-8149"/>
                <a:lumOff val="1794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0493" tIns="567252" rIns="70493" bIns="70492" numCol="1" spcCol="1270" anchor="t" anchorCtr="0">
              <a:noAutofit/>
            </a:bodyPr>
            <a:lstStyle/>
            <a:p>
              <a:pPr marL="57150" lvl="1" indent="-57150" algn="l" defTabSz="400050">
                <a:lnSpc>
                  <a:spcPct val="90000"/>
                </a:lnSpc>
                <a:spcBef>
                  <a:spcPct val="0"/>
                </a:spcBef>
                <a:spcAft>
                  <a:spcPct val="15000"/>
                </a:spcAft>
                <a:buChar char="•"/>
              </a:pPr>
              <a:r>
                <a:rPr lang="en-IN" sz="1200" kern="1200"/>
                <a:t>Centralized shipment and delivery tracking across Legacy AI &amp; Legacy Nova — improves supply chain visibility and logistics performance.</a:t>
              </a:r>
            </a:p>
            <a:p>
              <a:pPr marL="0" lvl="1" algn="l" defTabSz="400050">
                <a:lnSpc>
                  <a:spcPct val="90000"/>
                </a:lnSpc>
                <a:spcBef>
                  <a:spcPct val="0"/>
                </a:spcBef>
                <a:spcAft>
                  <a:spcPct val="15000"/>
                </a:spcAft>
              </a:pPr>
              <a:endParaRPr lang="en-IN" sz="1200" kern="1200"/>
            </a:p>
            <a:p>
              <a:pPr marL="114300" lvl="2" indent="-57150" algn="l" defTabSz="400050">
                <a:lnSpc>
                  <a:spcPct val="90000"/>
                </a:lnSpc>
                <a:spcBef>
                  <a:spcPct val="0"/>
                </a:spcBef>
                <a:spcAft>
                  <a:spcPct val="15000"/>
                </a:spcAft>
                <a:buChar char="•"/>
              </a:pPr>
              <a:r>
                <a:rPr lang="en-IN" sz="1200" kern="1200"/>
                <a:t>Design: Completed</a:t>
              </a:r>
            </a:p>
            <a:p>
              <a:pPr marL="114300" lvl="2" indent="-57150" algn="l" defTabSz="400050">
                <a:lnSpc>
                  <a:spcPct val="90000"/>
                </a:lnSpc>
                <a:spcBef>
                  <a:spcPct val="0"/>
                </a:spcBef>
                <a:spcAft>
                  <a:spcPct val="15000"/>
                </a:spcAft>
                <a:buChar char="•"/>
              </a:pPr>
              <a:r>
                <a:rPr lang="en-IN" sz="1200" kern="1200"/>
                <a:t>Development: In Progress</a:t>
              </a:r>
            </a:p>
            <a:p>
              <a:pPr marL="114300" lvl="2" indent="-57150" algn="l" defTabSz="400050">
                <a:lnSpc>
                  <a:spcPct val="90000"/>
                </a:lnSpc>
                <a:spcBef>
                  <a:spcPct val="0"/>
                </a:spcBef>
                <a:spcAft>
                  <a:spcPct val="15000"/>
                </a:spcAft>
                <a:buChar char="•"/>
              </a:pPr>
              <a:r>
                <a:rPr lang="en-IN" sz="1200" kern="1200"/>
                <a:t>Next: FP&amp;A Semantic Model integration</a:t>
              </a:r>
              <a:br>
                <a:rPr lang="en-IN" sz="900" kern="1200"/>
              </a:br>
              <a:endParaRPr lang="en-IN" sz="900" kern="1200"/>
            </a:p>
          </p:txBody>
        </p:sp>
        <p:sp>
          <p:nvSpPr>
            <p:cNvPr id="13" name="Arrow: Circular 12">
              <a:extLst>
                <a:ext uri="{FF2B5EF4-FFF2-40B4-BE49-F238E27FC236}">
                  <a16:creationId xmlns:a16="http://schemas.microsoft.com/office/drawing/2014/main" id="{CBA75695-BD93-9F36-2970-60BDAB4D19E9}"/>
                </a:ext>
              </a:extLst>
            </p:cNvPr>
            <p:cNvSpPr/>
            <p:nvPr/>
          </p:nvSpPr>
          <p:spPr>
            <a:xfrm>
              <a:off x="6319979" y="358662"/>
              <a:ext cx="3409234" cy="3409234"/>
            </a:xfrm>
            <a:prstGeom prst="circularArrow">
              <a:avLst>
                <a:gd name="adj1" fmla="val 2678"/>
                <a:gd name="adj2" fmla="val 325871"/>
                <a:gd name="adj3" fmla="val 19498618"/>
                <a:gd name="adj4" fmla="val 12575511"/>
                <a:gd name="adj5" fmla="val 3124"/>
              </a:avLst>
            </a:prstGeom>
          </p:spPr>
          <p:style>
            <a:lnRef idx="0">
              <a:schemeClr val="lt1">
                <a:hueOff val="0"/>
                <a:satOff val="0"/>
                <a:lumOff val="0"/>
                <a:alphaOff val="0"/>
              </a:schemeClr>
            </a:lnRef>
            <a:fillRef idx="3">
              <a:schemeClr val="accent3">
                <a:hueOff val="-10834521"/>
                <a:satOff val="-16297"/>
                <a:lumOff val="35883"/>
                <a:alphaOff val="0"/>
              </a:schemeClr>
            </a:fillRef>
            <a:effectRef idx="2">
              <a:schemeClr val="accent3">
                <a:hueOff val="-10834521"/>
                <a:satOff val="-16297"/>
                <a:lumOff val="35883"/>
                <a:alphaOff val="0"/>
              </a:schemeClr>
            </a:effectRef>
            <a:fontRef idx="minor">
              <a:schemeClr val="lt1"/>
            </a:fontRef>
          </p:style>
          <p:txBody>
            <a:bodyPr/>
            <a:lstStyle/>
            <a:p>
              <a:endParaRPr lang="en-US"/>
            </a:p>
          </p:txBody>
        </p:sp>
        <p:sp>
          <p:nvSpPr>
            <p:cNvPr id="14" name="Freeform: Shape 13">
              <a:extLst>
                <a:ext uri="{FF2B5EF4-FFF2-40B4-BE49-F238E27FC236}">
                  <a16:creationId xmlns:a16="http://schemas.microsoft.com/office/drawing/2014/main" id="{9A45E6D4-3860-D64F-3775-A3BD4F0B4353}"/>
                </a:ext>
              </a:extLst>
            </p:cNvPr>
            <p:cNvSpPr/>
            <p:nvPr/>
          </p:nvSpPr>
          <p:spPr>
            <a:xfrm>
              <a:off x="5656504" y="3767896"/>
              <a:ext cx="2186069" cy="794456"/>
            </a:xfrm>
            <a:custGeom>
              <a:avLst/>
              <a:gdLst>
                <a:gd name="csX0" fmla="*/ 0 w 2498364"/>
                <a:gd name="csY0" fmla="*/ 99352 h 993517"/>
                <a:gd name="csX1" fmla="*/ 99352 w 2498364"/>
                <a:gd name="csY1" fmla="*/ 0 h 993517"/>
                <a:gd name="csX2" fmla="*/ 2399012 w 2498364"/>
                <a:gd name="csY2" fmla="*/ 0 h 993517"/>
                <a:gd name="csX3" fmla="*/ 2498364 w 2498364"/>
                <a:gd name="csY3" fmla="*/ 99352 h 993517"/>
                <a:gd name="csX4" fmla="*/ 2498364 w 2498364"/>
                <a:gd name="csY4" fmla="*/ 894165 h 993517"/>
                <a:gd name="csX5" fmla="*/ 2399012 w 2498364"/>
                <a:gd name="csY5" fmla="*/ 993517 h 993517"/>
                <a:gd name="csX6" fmla="*/ 99352 w 2498364"/>
                <a:gd name="csY6" fmla="*/ 993517 h 993517"/>
                <a:gd name="csX7" fmla="*/ 0 w 2498364"/>
                <a:gd name="csY7" fmla="*/ 894165 h 993517"/>
                <a:gd name="csX8" fmla="*/ 0 w 2498364"/>
                <a:gd name="csY8" fmla="*/ 99352 h 9935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98364" h="993517">
                  <a:moveTo>
                    <a:pt x="0" y="99352"/>
                  </a:moveTo>
                  <a:cubicBezTo>
                    <a:pt x="0" y="44481"/>
                    <a:pt x="44481" y="0"/>
                    <a:pt x="99352" y="0"/>
                  </a:cubicBezTo>
                  <a:lnTo>
                    <a:pt x="2399012" y="0"/>
                  </a:lnTo>
                  <a:cubicBezTo>
                    <a:pt x="2453883" y="0"/>
                    <a:pt x="2498364" y="44481"/>
                    <a:pt x="2498364" y="99352"/>
                  </a:cubicBezTo>
                  <a:lnTo>
                    <a:pt x="2498364" y="894165"/>
                  </a:lnTo>
                  <a:cubicBezTo>
                    <a:pt x="2498364" y="949036"/>
                    <a:pt x="2453883" y="993517"/>
                    <a:pt x="2399012" y="993517"/>
                  </a:cubicBezTo>
                  <a:lnTo>
                    <a:pt x="99352" y="993517"/>
                  </a:lnTo>
                  <a:cubicBezTo>
                    <a:pt x="44481" y="993517"/>
                    <a:pt x="0" y="949036"/>
                    <a:pt x="0" y="894165"/>
                  </a:cubicBezTo>
                  <a:lnTo>
                    <a:pt x="0" y="99352"/>
                  </a:lnTo>
                  <a:close/>
                </a:path>
              </a:pathLst>
            </a:custGeom>
          </p:spPr>
          <p:style>
            <a:lnRef idx="0">
              <a:schemeClr val="lt1">
                <a:hueOff val="0"/>
                <a:satOff val="0"/>
                <a:lumOff val="0"/>
                <a:alphaOff val="0"/>
              </a:schemeClr>
            </a:lnRef>
            <a:fillRef idx="3">
              <a:schemeClr val="accent3">
                <a:hueOff val="-5417260"/>
                <a:satOff val="-8149"/>
                <a:lumOff val="17942"/>
                <a:alphaOff val="0"/>
              </a:schemeClr>
            </a:fillRef>
            <a:effectRef idx="2">
              <a:schemeClr val="accent3">
                <a:hueOff val="-5417260"/>
                <a:satOff val="-8149"/>
                <a:lumOff val="17942"/>
                <a:alphaOff val="0"/>
              </a:schemeClr>
            </a:effectRef>
            <a:fontRef idx="minor">
              <a:schemeClr val="lt1"/>
            </a:fontRef>
          </p:style>
          <p:txBody>
            <a:bodyPr spcFirstLastPara="0" vert="horz" wrap="square" lIns="86249" tIns="67199" rIns="86249" bIns="67199" numCol="1" spcCol="1270" anchor="ctr" anchorCtr="0">
              <a:noAutofit/>
            </a:bodyPr>
            <a:lstStyle/>
            <a:p>
              <a:pPr marL="0" lvl="0" indent="0" algn="ctr" defTabSz="1333500">
                <a:lnSpc>
                  <a:spcPct val="90000"/>
                </a:lnSpc>
                <a:spcBef>
                  <a:spcPct val="0"/>
                </a:spcBef>
                <a:spcAft>
                  <a:spcPct val="35000"/>
                </a:spcAft>
                <a:buNone/>
              </a:pPr>
              <a:r>
                <a:rPr lang="en-IN" b="1" kern="1200"/>
                <a:t>Consolidated Shipments</a:t>
              </a:r>
              <a:endParaRPr lang="en-IN" kern="1200"/>
            </a:p>
          </p:txBody>
        </p:sp>
        <p:sp>
          <p:nvSpPr>
            <p:cNvPr id="15" name="Freeform: Shape 14">
              <a:extLst>
                <a:ext uri="{FF2B5EF4-FFF2-40B4-BE49-F238E27FC236}">
                  <a16:creationId xmlns:a16="http://schemas.microsoft.com/office/drawing/2014/main" id="{A915704D-732D-6887-746E-8497174BE91B}"/>
                </a:ext>
              </a:extLst>
            </p:cNvPr>
            <p:cNvSpPr/>
            <p:nvPr/>
          </p:nvSpPr>
          <p:spPr>
            <a:xfrm>
              <a:off x="7935514" y="1402738"/>
              <a:ext cx="2886721" cy="2762386"/>
            </a:xfrm>
            <a:custGeom>
              <a:avLst/>
              <a:gdLst>
                <a:gd name="csX0" fmla="*/ 0 w 2810660"/>
                <a:gd name="csY0" fmla="*/ 231821 h 2318206"/>
                <a:gd name="csX1" fmla="*/ 231821 w 2810660"/>
                <a:gd name="csY1" fmla="*/ 0 h 2318206"/>
                <a:gd name="csX2" fmla="*/ 2578839 w 2810660"/>
                <a:gd name="csY2" fmla="*/ 0 h 2318206"/>
                <a:gd name="csX3" fmla="*/ 2810660 w 2810660"/>
                <a:gd name="csY3" fmla="*/ 231821 h 2318206"/>
                <a:gd name="csX4" fmla="*/ 2810660 w 2810660"/>
                <a:gd name="csY4" fmla="*/ 2086385 h 2318206"/>
                <a:gd name="csX5" fmla="*/ 2578839 w 2810660"/>
                <a:gd name="csY5" fmla="*/ 2318206 h 2318206"/>
                <a:gd name="csX6" fmla="*/ 231821 w 2810660"/>
                <a:gd name="csY6" fmla="*/ 2318206 h 2318206"/>
                <a:gd name="csX7" fmla="*/ 0 w 2810660"/>
                <a:gd name="csY7" fmla="*/ 2086385 h 2318206"/>
                <a:gd name="csX8" fmla="*/ 0 w 2810660"/>
                <a:gd name="csY8" fmla="*/ 231821 h 2318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10660" h="2318206">
                  <a:moveTo>
                    <a:pt x="0" y="231821"/>
                  </a:moveTo>
                  <a:cubicBezTo>
                    <a:pt x="0" y="103790"/>
                    <a:pt x="103790" y="0"/>
                    <a:pt x="231821" y="0"/>
                  </a:cubicBezTo>
                  <a:lnTo>
                    <a:pt x="2578839" y="0"/>
                  </a:lnTo>
                  <a:cubicBezTo>
                    <a:pt x="2706870" y="0"/>
                    <a:pt x="2810660" y="103790"/>
                    <a:pt x="2810660" y="231821"/>
                  </a:cubicBezTo>
                  <a:lnTo>
                    <a:pt x="2810660" y="2086385"/>
                  </a:lnTo>
                  <a:cubicBezTo>
                    <a:pt x="2810660" y="2214416"/>
                    <a:pt x="2706870" y="2318206"/>
                    <a:pt x="2578839" y="2318206"/>
                  </a:cubicBezTo>
                  <a:lnTo>
                    <a:pt x="231821" y="2318206"/>
                  </a:lnTo>
                  <a:cubicBezTo>
                    <a:pt x="103790" y="2318206"/>
                    <a:pt x="0" y="2214416"/>
                    <a:pt x="0" y="2086385"/>
                  </a:cubicBezTo>
                  <a:lnTo>
                    <a:pt x="0" y="231821"/>
                  </a:lnTo>
                  <a:close/>
                </a:path>
              </a:pathLst>
            </a:custGeom>
          </p:spPr>
          <p:style>
            <a:lnRef idx="1">
              <a:schemeClr val="accent3">
                <a:hueOff val="-10834521"/>
                <a:satOff val="-16297"/>
                <a:lumOff val="35883"/>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0493" tIns="70493" rIns="70493" bIns="567251" numCol="1" spcCol="1270" anchor="t" anchorCtr="0">
              <a:noAutofit/>
            </a:bodyPr>
            <a:lstStyle/>
            <a:p>
              <a:pPr marL="0" lvl="1" algn="l" defTabSz="400050">
                <a:lnSpc>
                  <a:spcPct val="90000"/>
                </a:lnSpc>
                <a:spcBef>
                  <a:spcPct val="0"/>
                </a:spcBef>
                <a:spcAft>
                  <a:spcPct val="15000"/>
                </a:spcAft>
              </a:pPr>
              <a:r>
                <a:rPr lang="en-IN" sz="1200" kern="1200"/>
                <a:t>Consolidates global utility consumption data; automates Scope 1 &amp; Scope 2 emissions calculations with real-time reporting.</a:t>
              </a:r>
            </a:p>
            <a:p>
              <a:pPr marL="0" lvl="1" algn="l" defTabSz="400050">
                <a:lnSpc>
                  <a:spcPct val="90000"/>
                </a:lnSpc>
                <a:spcBef>
                  <a:spcPct val="0"/>
                </a:spcBef>
                <a:spcAft>
                  <a:spcPct val="15000"/>
                </a:spcAft>
              </a:pPr>
              <a:endParaRPr lang="en-IN" sz="1200" kern="1200"/>
            </a:p>
            <a:p>
              <a:pPr marL="114300" lvl="2" indent="-57150" algn="l" defTabSz="400050">
                <a:lnSpc>
                  <a:spcPct val="90000"/>
                </a:lnSpc>
                <a:spcBef>
                  <a:spcPct val="0"/>
                </a:spcBef>
                <a:spcAft>
                  <a:spcPct val="15000"/>
                </a:spcAft>
                <a:buChar char="•"/>
              </a:pPr>
              <a:r>
                <a:rPr lang="en-IN" sz="1200" kern="1200"/>
                <a:t>Requirements &amp; Data Collection: Completed</a:t>
              </a:r>
            </a:p>
            <a:p>
              <a:pPr marL="114300" lvl="2" indent="-57150" algn="l" defTabSz="400050">
                <a:lnSpc>
                  <a:spcPct val="90000"/>
                </a:lnSpc>
                <a:spcBef>
                  <a:spcPct val="0"/>
                </a:spcBef>
                <a:spcAft>
                  <a:spcPct val="15000"/>
                </a:spcAft>
                <a:buChar char="•"/>
              </a:pPr>
              <a:r>
                <a:rPr lang="en-IN" sz="1200" kern="1200"/>
                <a:t>Design: Completed</a:t>
              </a:r>
            </a:p>
            <a:p>
              <a:pPr marL="114300" lvl="2" indent="-57150" algn="l" defTabSz="400050">
                <a:lnSpc>
                  <a:spcPct val="90000"/>
                </a:lnSpc>
                <a:spcBef>
                  <a:spcPct val="0"/>
                </a:spcBef>
                <a:spcAft>
                  <a:spcPct val="15000"/>
                </a:spcAft>
                <a:buChar char="•"/>
              </a:pPr>
              <a:r>
                <a:rPr lang="en-IN" sz="1200" kern="1200"/>
                <a:t>Ingestion: In Progress</a:t>
              </a:r>
            </a:p>
            <a:p>
              <a:pPr marL="114300" lvl="2" indent="-57150" algn="l" defTabSz="400050">
                <a:lnSpc>
                  <a:spcPct val="90000"/>
                </a:lnSpc>
                <a:spcBef>
                  <a:spcPct val="0"/>
                </a:spcBef>
                <a:spcAft>
                  <a:spcPct val="15000"/>
                </a:spcAft>
                <a:buChar char="•"/>
              </a:pPr>
              <a:r>
                <a:rPr lang="en-IN" sz="1200" kern="1200"/>
                <a:t>Next: Semantic Model Development</a:t>
              </a:r>
            </a:p>
          </p:txBody>
        </p:sp>
        <p:sp>
          <p:nvSpPr>
            <p:cNvPr id="16" name="Freeform: Shape 15">
              <a:extLst>
                <a:ext uri="{FF2B5EF4-FFF2-40B4-BE49-F238E27FC236}">
                  <a16:creationId xmlns:a16="http://schemas.microsoft.com/office/drawing/2014/main" id="{655250A4-B8E2-2B5F-556D-0BF737C8217D}"/>
                </a:ext>
              </a:extLst>
            </p:cNvPr>
            <p:cNvSpPr/>
            <p:nvPr/>
          </p:nvSpPr>
          <p:spPr>
            <a:xfrm>
              <a:off x="8892735" y="3767896"/>
              <a:ext cx="2186069" cy="794456"/>
            </a:xfrm>
            <a:custGeom>
              <a:avLst/>
              <a:gdLst>
                <a:gd name="csX0" fmla="*/ 0 w 2498364"/>
                <a:gd name="csY0" fmla="*/ 99352 h 993517"/>
                <a:gd name="csX1" fmla="*/ 99352 w 2498364"/>
                <a:gd name="csY1" fmla="*/ 0 h 993517"/>
                <a:gd name="csX2" fmla="*/ 2399012 w 2498364"/>
                <a:gd name="csY2" fmla="*/ 0 h 993517"/>
                <a:gd name="csX3" fmla="*/ 2498364 w 2498364"/>
                <a:gd name="csY3" fmla="*/ 99352 h 993517"/>
                <a:gd name="csX4" fmla="*/ 2498364 w 2498364"/>
                <a:gd name="csY4" fmla="*/ 894165 h 993517"/>
                <a:gd name="csX5" fmla="*/ 2399012 w 2498364"/>
                <a:gd name="csY5" fmla="*/ 993517 h 993517"/>
                <a:gd name="csX6" fmla="*/ 99352 w 2498364"/>
                <a:gd name="csY6" fmla="*/ 993517 h 993517"/>
                <a:gd name="csX7" fmla="*/ 0 w 2498364"/>
                <a:gd name="csY7" fmla="*/ 894165 h 993517"/>
                <a:gd name="csX8" fmla="*/ 0 w 2498364"/>
                <a:gd name="csY8" fmla="*/ 99352 h 9935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98364" h="993517">
                  <a:moveTo>
                    <a:pt x="0" y="99352"/>
                  </a:moveTo>
                  <a:cubicBezTo>
                    <a:pt x="0" y="44481"/>
                    <a:pt x="44481" y="0"/>
                    <a:pt x="99352" y="0"/>
                  </a:cubicBezTo>
                  <a:lnTo>
                    <a:pt x="2399012" y="0"/>
                  </a:lnTo>
                  <a:cubicBezTo>
                    <a:pt x="2453883" y="0"/>
                    <a:pt x="2498364" y="44481"/>
                    <a:pt x="2498364" y="99352"/>
                  </a:cubicBezTo>
                  <a:lnTo>
                    <a:pt x="2498364" y="894165"/>
                  </a:lnTo>
                  <a:cubicBezTo>
                    <a:pt x="2498364" y="949036"/>
                    <a:pt x="2453883" y="993517"/>
                    <a:pt x="2399012" y="993517"/>
                  </a:cubicBezTo>
                  <a:lnTo>
                    <a:pt x="99352" y="993517"/>
                  </a:lnTo>
                  <a:cubicBezTo>
                    <a:pt x="44481" y="993517"/>
                    <a:pt x="0" y="949036"/>
                    <a:pt x="0" y="894165"/>
                  </a:cubicBezTo>
                  <a:lnTo>
                    <a:pt x="0" y="99352"/>
                  </a:lnTo>
                  <a:close/>
                </a:path>
              </a:pathLst>
            </a:custGeom>
          </p:spPr>
          <p:style>
            <a:lnRef idx="0">
              <a:schemeClr val="lt1">
                <a:hueOff val="0"/>
                <a:satOff val="0"/>
                <a:lumOff val="0"/>
                <a:alphaOff val="0"/>
              </a:schemeClr>
            </a:lnRef>
            <a:fillRef idx="3">
              <a:schemeClr val="accent3">
                <a:hueOff val="-10834521"/>
                <a:satOff val="-16297"/>
                <a:lumOff val="35883"/>
                <a:alphaOff val="0"/>
              </a:schemeClr>
            </a:fillRef>
            <a:effectRef idx="2">
              <a:schemeClr val="accent3">
                <a:hueOff val="-10834521"/>
                <a:satOff val="-16297"/>
                <a:lumOff val="35883"/>
                <a:alphaOff val="0"/>
              </a:schemeClr>
            </a:effectRef>
            <a:fontRef idx="minor">
              <a:schemeClr val="lt1"/>
            </a:fontRef>
          </p:style>
          <p:txBody>
            <a:bodyPr spcFirstLastPara="0" vert="horz" wrap="square" lIns="86249" tIns="67199" rIns="86249" bIns="67199" numCol="1" spcCol="1270" anchor="ctr" anchorCtr="0">
              <a:noAutofit/>
            </a:bodyPr>
            <a:lstStyle/>
            <a:p>
              <a:pPr marL="0" lvl="0" indent="0" algn="ctr" defTabSz="1333500">
                <a:lnSpc>
                  <a:spcPct val="90000"/>
                </a:lnSpc>
                <a:spcBef>
                  <a:spcPct val="0"/>
                </a:spcBef>
                <a:spcAft>
                  <a:spcPct val="35000"/>
                </a:spcAft>
                <a:buNone/>
              </a:pPr>
              <a:r>
                <a:rPr lang="en-IN" b="1" kern="1200"/>
                <a:t>Sustainability</a:t>
              </a:r>
              <a:r>
                <a:rPr lang="en-IN" kern="1200"/>
                <a:t> </a:t>
              </a:r>
            </a:p>
          </p:txBody>
        </p:sp>
      </p:grpSp>
    </p:spTree>
    <p:extLst>
      <p:ext uri="{BB962C8B-B14F-4D97-AF65-F5344CB8AC3E}">
        <p14:creationId xmlns:p14="http://schemas.microsoft.com/office/powerpoint/2010/main" val="3131869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64985B1A-9C94-D6C6-057A-E8A6B30F8133}"/>
              </a:ext>
            </a:extLst>
          </p:cNvPr>
          <p:cNvSpPr/>
          <p:nvPr/>
        </p:nvSpPr>
        <p:spPr>
          <a:xfrm>
            <a:off x="8505912" y="1593344"/>
            <a:ext cx="3371430" cy="3051808"/>
          </a:xfrm>
          <a:prstGeom prst="roundRect">
            <a:avLst/>
          </a:prstGeom>
          <a:solidFill>
            <a:schemeClr val="bg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03DF5E55-D03E-8C67-24CB-69382FEC4126}"/>
              </a:ext>
            </a:extLst>
          </p:cNvPr>
          <p:cNvSpPr/>
          <p:nvPr/>
        </p:nvSpPr>
        <p:spPr>
          <a:xfrm>
            <a:off x="314658" y="1559056"/>
            <a:ext cx="3665330" cy="3569110"/>
          </a:xfrm>
          <a:prstGeom prst="roundRect">
            <a:avLst/>
          </a:prstGeom>
          <a:solidFill>
            <a:schemeClr val="bg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4C810A4-60AB-7608-6A77-252F3B42091B}"/>
              </a:ext>
            </a:extLst>
          </p:cNvPr>
          <p:cNvSpPr>
            <a:spLocks noGrp="1"/>
          </p:cNvSpPr>
          <p:nvPr>
            <p:ph type="title"/>
          </p:nvPr>
        </p:nvSpPr>
        <p:spPr/>
        <p:txBody>
          <a:bodyPr/>
          <a:lstStyle/>
          <a:p>
            <a:r>
              <a:rPr lang="en-US"/>
              <a:t>Engagement Overview + Journey</a:t>
            </a:r>
            <a:endParaRPr lang="en-IN"/>
          </a:p>
        </p:txBody>
      </p:sp>
      <p:sp>
        <p:nvSpPr>
          <p:cNvPr id="4" name="Slide Number Placeholder 3">
            <a:extLst>
              <a:ext uri="{FF2B5EF4-FFF2-40B4-BE49-F238E27FC236}">
                <a16:creationId xmlns:a16="http://schemas.microsoft.com/office/drawing/2014/main" id="{0A591D2B-F743-7793-1200-64F13CC5A5BE}"/>
              </a:ext>
            </a:extLst>
          </p:cNvPr>
          <p:cNvSpPr>
            <a:spLocks noGrp="1"/>
          </p:cNvSpPr>
          <p:nvPr>
            <p:ph type="sldNum" sz="quarter" idx="4"/>
          </p:nvPr>
        </p:nvSpPr>
        <p:spPr/>
        <p:txBody>
          <a:bodyPr/>
          <a:lstStyle/>
          <a:p>
            <a:fld id="{274CC3B9-6596-1243-9665-72A444B9047F}" type="slidenum">
              <a:rPr lang="en-CA" smtClean="0"/>
              <a:pPr/>
              <a:t>15</a:t>
            </a:fld>
            <a:endParaRPr lang="en-CA"/>
          </a:p>
        </p:txBody>
      </p:sp>
      <p:sp>
        <p:nvSpPr>
          <p:cNvPr id="3" name="TextBox 2">
            <a:extLst>
              <a:ext uri="{FF2B5EF4-FFF2-40B4-BE49-F238E27FC236}">
                <a16:creationId xmlns:a16="http://schemas.microsoft.com/office/drawing/2014/main" id="{36B2378A-E94E-8DDA-8753-3EB1B602BC9B}"/>
              </a:ext>
            </a:extLst>
          </p:cNvPr>
          <p:cNvSpPr txBox="1"/>
          <p:nvPr/>
        </p:nvSpPr>
        <p:spPr>
          <a:xfrm>
            <a:off x="1130069" y="1047315"/>
            <a:ext cx="2316862" cy="369332"/>
          </a:xfrm>
          <a:prstGeom prst="rect">
            <a:avLst/>
          </a:prstGeom>
          <a:noFill/>
        </p:spPr>
        <p:txBody>
          <a:bodyPr wrap="square" rtlCol="0">
            <a:spAutoFit/>
          </a:bodyPr>
          <a:lstStyle/>
          <a:p>
            <a:r>
              <a:rPr lang="en-US" b="1">
                <a:solidFill>
                  <a:schemeClr val="accent5">
                    <a:lumMod val="75000"/>
                  </a:schemeClr>
                </a:solidFill>
              </a:rPr>
              <a:t>Engagement Overview</a:t>
            </a:r>
            <a:endParaRPr lang="en-IN" b="1">
              <a:solidFill>
                <a:schemeClr val="accent5">
                  <a:lumMod val="75000"/>
                </a:schemeClr>
              </a:solidFill>
            </a:endParaRPr>
          </a:p>
        </p:txBody>
      </p:sp>
      <p:sp>
        <p:nvSpPr>
          <p:cNvPr id="5" name="Rectangle 1">
            <a:extLst>
              <a:ext uri="{FF2B5EF4-FFF2-40B4-BE49-F238E27FC236}">
                <a16:creationId xmlns:a16="http://schemas.microsoft.com/office/drawing/2014/main" id="{573FF5CE-C681-67EA-5721-EB77B8F1687F}"/>
              </a:ext>
            </a:extLst>
          </p:cNvPr>
          <p:cNvSpPr>
            <a:spLocks noChangeArrowheads="1"/>
          </p:cNvSpPr>
          <p:nvPr/>
        </p:nvSpPr>
        <p:spPr bwMode="auto">
          <a:xfrm>
            <a:off x="459532" y="1912450"/>
            <a:ext cx="340155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a:ln>
                  <a:noFill/>
                </a:ln>
                <a:solidFill>
                  <a:schemeClr val="tx1"/>
                </a:solidFill>
                <a:effectLst/>
              </a:rPr>
              <a:t>Nova Biomedical is a global leader in bioprocessing, clinical diagnostics, and veterinary solutions, driving innovation in patient outcomes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a:ln>
                  <a:noFill/>
                </a:ln>
                <a:solidFill>
                  <a:schemeClr val="tx1"/>
                </a:solidFill>
                <a:effectLst/>
              </a:rPr>
              <a:t>Rapid expansion led to fragmented data across Finance, Sales, Operations, and Supply Chain systems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a:ln>
                  <a:noFill/>
                </a:ln>
                <a:solidFill>
                  <a:schemeClr val="tx1"/>
                </a:solidFill>
                <a:effectLst/>
              </a:rPr>
              <a:t>Heavy reliance on Excel-based reporting and disconnected data sources limited visibility and slowed decision-making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a:ln>
                  <a:noFill/>
                </a:ln>
                <a:solidFill>
                  <a:schemeClr val="tx1"/>
                </a:solidFill>
                <a:effectLst/>
              </a:rPr>
              <a:t>DataPattern engaged to build a centralized, governed analytics platform on Microsoft Fabric (Nova Data Lake) </a:t>
            </a:r>
          </a:p>
        </p:txBody>
      </p:sp>
      <p:sp>
        <p:nvSpPr>
          <p:cNvPr id="6" name="TextBox 5">
            <a:extLst>
              <a:ext uri="{FF2B5EF4-FFF2-40B4-BE49-F238E27FC236}">
                <a16:creationId xmlns:a16="http://schemas.microsoft.com/office/drawing/2014/main" id="{0A21100D-0E30-C075-6CB4-48078798FB0E}"/>
              </a:ext>
            </a:extLst>
          </p:cNvPr>
          <p:cNvSpPr txBox="1"/>
          <p:nvPr/>
        </p:nvSpPr>
        <p:spPr>
          <a:xfrm>
            <a:off x="5032750" y="837888"/>
            <a:ext cx="2695404" cy="369332"/>
          </a:xfrm>
          <a:prstGeom prst="rect">
            <a:avLst/>
          </a:prstGeom>
          <a:noFill/>
        </p:spPr>
        <p:txBody>
          <a:bodyPr wrap="square" rtlCol="0">
            <a:spAutoFit/>
          </a:bodyPr>
          <a:lstStyle/>
          <a:p>
            <a:r>
              <a:rPr lang="en-US" b="1">
                <a:solidFill>
                  <a:schemeClr val="accent5">
                    <a:lumMod val="75000"/>
                  </a:schemeClr>
                </a:solidFill>
              </a:rPr>
              <a:t>Transformation Journey</a:t>
            </a:r>
            <a:endParaRPr lang="en-IN" b="1">
              <a:solidFill>
                <a:schemeClr val="accent5">
                  <a:lumMod val="75000"/>
                </a:schemeClr>
              </a:solidFill>
            </a:endParaRPr>
          </a:p>
        </p:txBody>
      </p:sp>
      <p:graphicFrame>
        <p:nvGraphicFramePr>
          <p:cNvPr id="9" name="Diagram 8">
            <a:extLst>
              <a:ext uri="{FF2B5EF4-FFF2-40B4-BE49-F238E27FC236}">
                <a16:creationId xmlns:a16="http://schemas.microsoft.com/office/drawing/2014/main" id="{BFA38D12-8F4B-7FCB-95A1-F307D4467FE0}"/>
              </a:ext>
            </a:extLst>
          </p:cNvPr>
          <p:cNvGraphicFramePr/>
          <p:nvPr>
            <p:extLst>
              <p:ext uri="{D42A27DB-BD31-4B8C-83A1-F6EECF244321}">
                <p14:modId xmlns:p14="http://schemas.microsoft.com/office/powerpoint/2010/main" val="506958308"/>
              </p:ext>
            </p:extLst>
          </p:nvPr>
        </p:nvGraphicFramePr>
        <p:xfrm>
          <a:off x="4243759" y="1217929"/>
          <a:ext cx="4166896" cy="46708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TextBox 16">
            <a:extLst>
              <a:ext uri="{FF2B5EF4-FFF2-40B4-BE49-F238E27FC236}">
                <a16:creationId xmlns:a16="http://schemas.microsoft.com/office/drawing/2014/main" id="{2056A8BA-180A-49A0-2ED9-67BEC5513BC6}"/>
              </a:ext>
            </a:extLst>
          </p:cNvPr>
          <p:cNvSpPr txBox="1"/>
          <p:nvPr/>
        </p:nvSpPr>
        <p:spPr>
          <a:xfrm>
            <a:off x="9463656" y="1113292"/>
            <a:ext cx="1500785" cy="369332"/>
          </a:xfrm>
          <a:prstGeom prst="rect">
            <a:avLst/>
          </a:prstGeom>
          <a:noFill/>
        </p:spPr>
        <p:txBody>
          <a:bodyPr wrap="square" rtlCol="0">
            <a:spAutoFit/>
          </a:bodyPr>
          <a:lstStyle/>
          <a:p>
            <a:r>
              <a:rPr lang="en-US" b="1">
                <a:solidFill>
                  <a:schemeClr val="accent5">
                    <a:lumMod val="75000"/>
                  </a:schemeClr>
                </a:solidFill>
              </a:rPr>
              <a:t>Current Focus</a:t>
            </a:r>
            <a:endParaRPr lang="en-IN" b="1">
              <a:solidFill>
                <a:schemeClr val="accent5">
                  <a:lumMod val="75000"/>
                </a:schemeClr>
              </a:solidFill>
            </a:endParaRPr>
          </a:p>
        </p:txBody>
      </p:sp>
      <p:sp>
        <p:nvSpPr>
          <p:cNvPr id="18" name="Rectangle 2">
            <a:extLst>
              <a:ext uri="{FF2B5EF4-FFF2-40B4-BE49-F238E27FC236}">
                <a16:creationId xmlns:a16="http://schemas.microsoft.com/office/drawing/2014/main" id="{82FC20CE-C202-758D-715E-B8E78F2E3CCD}"/>
              </a:ext>
            </a:extLst>
          </p:cNvPr>
          <p:cNvSpPr>
            <a:spLocks noChangeArrowheads="1"/>
          </p:cNvSpPr>
          <p:nvPr/>
        </p:nvSpPr>
        <p:spPr bwMode="auto">
          <a:xfrm>
            <a:off x="8674426" y="2057419"/>
            <a:ext cx="3034402"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a:ln>
                  <a:noFill/>
                </a:ln>
                <a:solidFill>
                  <a:schemeClr val="tx1"/>
                </a:solidFill>
                <a:effectLst/>
              </a:rPr>
              <a:t>Advancing real-time reporting (DirectQuery) and KPI standardization</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i="0" u="none" strike="noStrike" cap="none" normalizeH="0" baseline="0">
              <a:ln>
                <a:noFill/>
              </a:ln>
              <a:solidFill>
                <a:schemeClr val="tx1"/>
              </a:solidFill>
              <a:effectLst/>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a:ln>
                  <a:noFill/>
                </a:ln>
                <a:solidFill>
                  <a:schemeClr val="tx1"/>
                </a:solidFill>
                <a:effectLst/>
              </a:rPr>
              <a:t>Expanding cross-functional analytics (Finance, Supply Chain, Customer Ops)</a:t>
            </a:r>
          </a:p>
          <a:p>
            <a:pPr marR="0" lvl="0" algn="just" defTabSz="914400" rtl="0" eaLnBrk="0" fontAlgn="base" latinLnBrk="0" hangingPunct="0">
              <a:lnSpc>
                <a:spcPct val="100000"/>
              </a:lnSpc>
              <a:spcBef>
                <a:spcPct val="0"/>
              </a:spcBef>
              <a:spcAft>
                <a:spcPct val="0"/>
              </a:spcAft>
              <a:buClrTx/>
              <a:buSzTx/>
              <a:tabLst/>
            </a:pPr>
            <a:r>
              <a:rPr kumimoji="0" lang="en-US" altLang="en-US" sz="1200" i="0" u="none" strike="noStrike" cap="none" normalizeH="0" baseline="0">
                <a:ln>
                  <a:noFill/>
                </a:ln>
                <a:solidFill>
                  <a:schemeClr val="tx1"/>
                </a:solidFill>
                <a:effectLst/>
              </a:rPr>
              <a:t>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a:ln>
                  <a:noFill/>
                </a:ln>
                <a:solidFill>
                  <a:schemeClr val="tx1"/>
                </a:solidFill>
                <a:effectLst/>
              </a:rPr>
              <a:t>Scaling data pipelines and enterprise integrations</a:t>
            </a:r>
          </a:p>
          <a:p>
            <a:pPr marR="0" lvl="0" algn="just" defTabSz="914400" rtl="0" eaLnBrk="0" fontAlgn="base" latinLnBrk="0" hangingPunct="0">
              <a:lnSpc>
                <a:spcPct val="100000"/>
              </a:lnSpc>
              <a:spcBef>
                <a:spcPct val="0"/>
              </a:spcBef>
              <a:spcAft>
                <a:spcPct val="0"/>
              </a:spcAft>
              <a:buClrTx/>
              <a:buSzTx/>
              <a:tabLst/>
            </a:pPr>
            <a:r>
              <a:rPr kumimoji="0" lang="en-US" altLang="en-US" sz="1200" i="0" u="none" strike="noStrike" cap="none" normalizeH="0" baseline="0">
                <a:ln>
                  <a:noFill/>
                </a:ln>
                <a:solidFill>
                  <a:schemeClr val="tx1"/>
                </a:solidFill>
                <a:effectLst/>
              </a:rPr>
              <a:t>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a:ln>
                  <a:noFill/>
                </a:ln>
                <a:solidFill>
                  <a:schemeClr val="tx1"/>
                </a:solidFill>
                <a:effectLst/>
              </a:rPr>
              <a:t>Driving adoption of unified, business-ready dashboards </a:t>
            </a:r>
          </a:p>
        </p:txBody>
      </p:sp>
    </p:spTree>
    <p:extLst>
      <p:ext uri="{BB962C8B-B14F-4D97-AF65-F5344CB8AC3E}">
        <p14:creationId xmlns:p14="http://schemas.microsoft.com/office/powerpoint/2010/main" val="1271534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D1AAF09-EAF4-DD0F-673E-609B01527EFB}"/>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64571D98-8607-5696-0FD3-27B05AF48EF0}"/>
              </a:ext>
            </a:extLst>
          </p:cNvPr>
          <p:cNvSpPr/>
          <p:nvPr/>
        </p:nvSpPr>
        <p:spPr>
          <a:xfrm>
            <a:off x="6843024" y="1171118"/>
            <a:ext cx="5113100" cy="4809047"/>
          </a:xfrm>
          <a:prstGeom prst="roundRect">
            <a:avLst>
              <a:gd name="adj" fmla="val 9756"/>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IN">
              <a:solidFill>
                <a:schemeClr val="accent4">
                  <a:lumMod val="40000"/>
                  <a:lumOff val="60000"/>
                </a:schemeClr>
              </a:solidFill>
            </a:endParaRPr>
          </a:p>
        </p:txBody>
      </p:sp>
      <p:sp>
        <p:nvSpPr>
          <p:cNvPr id="17" name="Rectangle: Rounded Corners 16">
            <a:extLst>
              <a:ext uri="{FF2B5EF4-FFF2-40B4-BE49-F238E27FC236}">
                <a16:creationId xmlns:a16="http://schemas.microsoft.com/office/drawing/2014/main" id="{6DA20850-7339-D6D8-A3D5-AE06B0F7218B}"/>
              </a:ext>
            </a:extLst>
          </p:cNvPr>
          <p:cNvSpPr/>
          <p:nvPr/>
        </p:nvSpPr>
        <p:spPr>
          <a:xfrm>
            <a:off x="347606" y="1171118"/>
            <a:ext cx="6020651" cy="4818683"/>
          </a:xfrm>
          <a:prstGeom prst="roundRect">
            <a:avLst>
              <a:gd name="adj" fmla="val 5306"/>
            </a:avLst>
          </a:prstGeom>
          <a:solidFill>
            <a:schemeClr val="accent3">
              <a:lumMod val="20000"/>
              <a:lumOff val="80000"/>
            </a:schemeClr>
          </a:solidFill>
          <a:ln>
            <a:prstDash val="sysDot"/>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2235AB9-0588-3759-0D77-697CF2949544}"/>
              </a:ext>
            </a:extLst>
          </p:cNvPr>
          <p:cNvSpPr>
            <a:spLocks noGrp="1"/>
          </p:cNvSpPr>
          <p:nvPr>
            <p:ph type="title"/>
          </p:nvPr>
        </p:nvSpPr>
        <p:spPr/>
        <p:txBody>
          <a:bodyPr>
            <a:normAutofit/>
          </a:bodyPr>
          <a:lstStyle/>
          <a:p>
            <a:r>
              <a:rPr lang="en-US"/>
              <a:t>Project Overview - Nova Biomedical Technical Challenges &amp; Solution</a:t>
            </a:r>
            <a:endParaRPr lang="en-IN"/>
          </a:p>
        </p:txBody>
      </p:sp>
      <p:sp>
        <p:nvSpPr>
          <p:cNvPr id="4" name="Slide Number Placeholder 3">
            <a:extLst>
              <a:ext uri="{FF2B5EF4-FFF2-40B4-BE49-F238E27FC236}">
                <a16:creationId xmlns:a16="http://schemas.microsoft.com/office/drawing/2014/main" id="{297FE204-B0CE-65F2-126F-5A836481F73E}"/>
              </a:ext>
            </a:extLst>
          </p:cNvPr>
          <p:cNvSpPr>
            <a:spLocks noGrp="1"/>
          </p:cNvSpPr>
          <p:nvPr>
            <p:ph type="sldNum" sz="quarter" idx="4"/>
          </p:nvPr>
        </p:nvSpPr>
        <p:spPr>
          <a:xfrm>
            <a:off x="5073738" y="1840886"/>
            <a:ext cx="251927" cy="184666"/>
          </a:xfrm>
        </p:spPr>
        <p:txBody>
          <a:bodyPr/>
          <a:lstStyle/>
          <a:p>
            <a:fld id="{274CC3B9-6596-1243-9665-72A444B9047F}" type="slidenum">
              <a:rPr lang="en-CA" smtClean="0"/>
              <a:pPr/>
              <a:t>16</a:t>
            </a:fld>
            <a:endParaRPr lang="en-CA"/>
          </a:p>
        </p:txBody>
      </p:sp>
      <p:sp>
        <p:nvSpPr>
          <p:cNvPr id="11" name="TextBox 10">
            <a:extLst>
              <a:ext uri="{FF2B5EF4-FFF2-40B4-BE49-F238E27FC236}">
                <a16:creationId xmlns:a16="http://schemas.microsoft.com/office/drawing/2014/main" id="{3FD6C27E-CF9A-E983-BF8A-FB0CAF09E256}"/>
              </a:ext>
            </a:extLst>
          </p:cNvPr>
          <p:cNvSpPr txBox="1"/>
          <p:nvPr/>
        </p:nvSpPr>
        <p:spPr>
          <a:xfrm>
            <a:off x="6899040" y="1640515"/>
            <a:ext cx="5001068" cy="4339650"/>
          </a:xfrm>
          <a:prstGeom prst="rect">
            <a:avLst/>
          </a:prstGeom>
          <a:noFill/>
        </p:spPr>
        <p:txBody>
          <a:bodyPr wrap="square">
            <a:spAutoFit/>
          </a:bodyPr>
          <a:lstStyle/>
          <a:p>
            <a:pPr>
              <a:buNone/>
            </a:pPr>
            <a:r>
              <a:rPr lang="en-US" sz="1200">
                <a:solidFill>
                  <a:schemeClr val="bg2">
                    <a:lumMod val="10000"/>
                  </a:schemeClr>
                </a:solidFill>
              </a:rPr>
              <a:t>Nova Biomedical operates across multiple business functions (Finance, Sales, Operations, Supply Chain) with data flowing through:</a:t>
            </a:r>
            <a:br>
              <a:rPr lang="en-US" sz="1200">
                <a:solidFill>
                  <a:schemeClr val="bg2">
                    <a:lumMod val="10000"/>
                  </a:schemeClr>
                </a:solidFill>
              </a:rPr>
            </a:br>
            <a:endParaRPr lang="en-US" sz="1200">
              <a:solidFill>
                <a:schemeClr val="bg2">
                  <a:lumMod val="10000"/>
                </a:schemeClr>
              </a:solidFill>
            </a:endParaRPr>
          </a:p>
          <a:p>
            <a:r>
              <a:rPr lang="en-US" sz="1200" b="1">
                <a:solidFill>
                  <a:schemeClr val="bg2">
                    <a:lumMod val="10000"/>
                  </a:schemeClr>
                </a:solidFill>
              </a:rPr>
              <a:t>Source Systems:</a:t>
            </a:r>
            <a:r>
              <a:rPr lang="en-US" sz="1200">
                <a:solidFill>
                  <a:schemeClr val="bg2">
                    <a:lumMod val="10000"/>
                  </a:schemeClr>
                </a:solidFill>
              </a:rPr>
              <a:t> ERP, CRM, Financial &amp; Operational platforms (SAP, NetSuite, Salesforce, Epicor – SQL server etc.)</a:t>
            </a:r>
            <a:br>
              <a:rPr lang="en-US" sz="1200">
                <a:solidFill>
                  <a:schemeClr val="bg2">
                    <a:lumMod val="10000"/>
                  </a:schemeClr>
                </a:solidFill>
              </a:rPr>
            </a:br>
            <a:endParaRPr lang="en-US" sz="1200">
              <a:solidFill>
                <a:schemeClr val="bg2">
                  <a:lumMod val="10000"/>
                </a:schemeClr>
              </a:solidFill>
            </a:endParaRPr>
          </a:p>
          <a:p>
            <a:r>
              <a:rPr lang="en-US" sz="1200" b="1">
                <a:solidFill>
                  <a:schemeClr val="bg2">
                    <a:lumMod val="10000"/>
                  </a:schemeClr>
                </a:solidFill>
              </a:rPr>
              <a:t>Business Flow:</a:t>
            </a:r>
            <a:r>
              <a:rPr lang="en-US" sz="1200">
                <a:solidFill>
                  <a:schemeClr val="bg2">
                    <a:lumMod val="10000"/>
                  </a:schemeClr>
                </a:solidFill>
              </a:rPr>
              <a:t> </a:t>
            </a:r>
          </a:p>
          <a:p>
            <a:pPr marL="628650" lvl="1" indent="-171450">
              <a:buFont typeface="Arial" panose="020B0604020202020204" pitchFamily="34" charset="0"/>
              <a:buChar char="•"/>
            </a:pPr>
            <a:r>
              <a:rPr lang="en-US" sz="1200">
                <a:solidFill>
                  <a:schemeClr val="bg2">
                    <a:lumMod val="10000"/>
                  </a:schemeClr>
                </a:solidFill>
              </a:rPr>
              <a:t>Contracts → Orders → Shipments → Billing → Revenue</a:t>
            </a:r>
          </a:p>
          <a:p>
            <a:pPr marL="742950" lvl="1" indent="-285750">
              <a:buFont typeface="Arial" panose="020B0604020202020204" pitchFamily="34" charset="0"/>
              <a:buChar char="•"/>
            </a:pPr>
            <a:endParaRPr lang="en-US" sz="1200">
              <a:solidFill>
                <a:schemeClr val="bg2">
                  <a:lumMod val="10000"/>
                </a:schemeClr>
              </a:solidFill>
            </a:endParaRPr>
          </a:p>
          <a:p>
            <a:pPr marL="0" lvl="1"/>
            <a:r>
              <a:rPr lang="en-US" sz="1200" b="1">
                <a:solidFill>
                  <a:schemeClr val="bg2">
                    <a:lumMod val="10000"/>
                  </a:schemeClr>
                </a:solidFill>
              </a:rPr>
              <a:t>Centralized Data Lake : </a:t>
            </a:r>
          </a:p>
          <a:p>
            <a:pPr marL="628650" lvl="2" indent="-171450">
              <a:buFont typeface="Arial" panose="020B0604020202020204" pitchFamily="34" charset="0"/>
              <a:buChar char="•"/>
            </a:pPr>
            <a:r>
              <a:rPr lang="en-US" sz="1200">
                <a:solidFill>
                  <a:schemeClr val="bg2">
                    <a:lumMod val="10000"/>
                  </a:schemeClr>
                </a:solidFill>
              </a:rPr>
              <a:t>Source Data Integration &amp; Business Logic Transformations</a:t>
            </a:r>
          </a:p>
          <a:p>
            <a:pPr marL="628650" lvl="2" indent="-171450">
              <a:buFont typeface="Arial" panose="020B0604020202020204" pitchFamily="34" charset="0"/>
              <a:buChar char="•"/>
            </a:pPr>
            <a:r>
              <a:rPr lang="en-US" sz="1200">
                <a:solidFill>
                  <a:schemeClr val="bg2">
                    <a:lumMod val="10000"/>
                  </a:schemeClr>
                </a:solidFill>
              </a:rPr>
              <a:t>Medallion Architecture in Fabric</a:t>
            </a:r>
          </a:p>
          <a:p>
            <a:pPr marL="628650" lvl="2" indent="-171450">
              <a:buFont typeface="Arial" panose="020B0604020202020204" pitchFamily="34" charset="0"/>
              <a:buChar char="•"/>
            </a:pPr>
            <a:r>
              <a:rPr lang="en-US" sz="1200">
                <a:solidFill>
                  <a:schemeClr val="bg2">
                    <a:lumMod val="10000"/>
                  </a:schemeClr>
                </a:solidFill>
              </a:rPr>
              <a:t>Semantic Model Implementation</a:t>
            </a:r>
          </a:p>
          <a:p>
            <a:pPr marL="628650" lvl="2" indent="-171450">
              <a:buFont typeface="Arial" panose="020B0604020202020204" pitchFamily="34" charset="0"/>
              <a:buChar char="•"/>
            </a:pPr>
            <a:endParaRPr lang="en-US" sz="1200" b="1">
              <a:solidFill>
                <a:schemeClr val="bg2">
                  <a:lumMod val="10000"/>
                </a:schemeClr>
              </a:solidFill>
            </a:endParaRPr>
          </a:p>
          <a:p>
            <a:r>
              <a:rPr lang="en-US" sz="1200" b="1">
                <a:solidFill>
                  <a:schemeClr val="bg2">
                    <a:lumMod val="10000"/>
                  </a:schemeClr>
                </a:solidFill>
              </a:rPr>
              <a:t>Reporting Layer:</a:t>
            </a:r>
            <a:r>
              <a:rPr lang="en-US" sz="1200">
                <a:solidFill>
                  <a:schemeClr val="bg2">
                    <a:lumMod val="10000"/>
                  </a:schemeClr>
                </a:solidFill>
              </a:rPr>
              <a:t> </a:t>
            </a:r>
          </a:p>
          <a:p>
            <a:pPr marL="628650" lvl="1" indent="-171450">
              <a:buFont typeface="Arial" panose="020B0604020202020204" pitchFamily="34" charset="0"/>
              <a:buChar char="•"/>
            </a:pPr>
            <a:r>
              <a:rPr lang="en-US" sz="1200">
                <a:solidFill>
                  <a:schemeClr val="bg2">
                    <a:lumMod val="10000"/>
                  </a:schemeClr>
                </a:solidFill>
              </a:rPr>
              <a:t>Manual Report Process to Consolidated</a:t>
            </a:r>
          </a:p>
          <a:p>
            <a:pPr marL="628650" lvl="1" indent="-171450">
              <a:buFont typeface="Arial" panose="020B0604020202020204" pitchFamily="34" charset="0"/>
              <a:buChar char="•"/>
            </a:pPr>
            <a:r>
              <a:rPr lang="en-US" sz="1200">
                <a:solidFill>
                  <a:schemeClr val="bg2">
                    <a:lumMod val="10000"/>
                  </a:schemeClr>
                </a:solidFill>
              </a:rPr>
              <a:t>Separate reports for bookings, shipments, financials ,Sustainability</a:t>
            </a:r>
          </a:p>
          <a:p>
            <a:pPr marL="628650" lvl="1" indent="-171450">
              <a:buFont typeface="Arial" panose="020B0604020202020204" pitchFamily="34" charset="0"/>
              <a:buChar char="•"/>
            </a:pPr>
            <a:r>
              <a:rPr lang="en-US" sz="1200">
                <a:solidFill>
                  <a:schemeClr val="bg2">
                    <a:lumMod val="10000"/>
                  </a:schemeClr>
                </a:solidFill>
              </a:rPr>
              <a:t>Limited integration across systems and functions </a:t>
            </a:r>
            <a:br>
              <a:rPr lang="en-US" sz="1200">
                <a:solidFill>
                  <a:schemeClr val="bg2">
                    <a:lumMod val="10000"/>
                  </a:schemeClr>
                </a:solidFill>
              </a:rPr>
            </a:br>
            <a:endParaRPr lang="en-US" sz="1200" b="1">
              <a:solidFill>
                <a:schemeClr val="bg2">
                  <a:lumMod val="10000"/>
                </a:schemeClr>
              </a:solidFill>
            </a:endParaRPr>
          </a:p>
          <a:p>
            <a:pPr>
              <a:buNone/>
            </a:pPr>
            <a:r>
              <a:rPr lang="en-US" sz="1200" b="1">
                <a:solidFill>
                  <a:schemeClr val="bg2">
                    <a:lumMod val="10000"/>
                  </a:schemeClr>
                </a:solidFill>
              </a:rPr>
              <a:t>Business relies on this flow to track:</a:t>
            </a:r>
          </a:p>
          <a:p>
            <a:pPr marL="628650" lvl="1" indent="-171450">
              <a:buFont typeface="Arial" panose="020B0604020202020204" pitchFamily="34" charset="0"/>
              <a:buChar char="•"/>
            </a:pPr>
            <a:r>
              <a:rPr lang="en-US" sz="1200">
                <a:solidFill>
                  <a:schemeClr val="bg2">
                    <a:lumMod val="10000"/>
                  </a:schemeClr>
                </a:solidFill>
              </a:rPr>
              <a:t>Booking performance </a:t>
            </a:r>
          </a:p>
          <a:p>
            <a:pPr marL="628650" lvl="1" indent="-171450">
              <a:buFont typeface="Arial" panose="020B0604020202020204" pitchFamily="34" charset="0"/>
              <a:buChar char="•"/>
            </a:pPr>
            <a:r>
              <a:rPr lang="en-US" sz="1200">
                <a:solidFill>
                  <a:schemeClr val="bg2">
                    <a:lumMod val="10000"/>
                  </a:schemeClr>
                </a:solidFill>
              </a:rPr>
              <a:t>Contract fulfillment </a:t>
            </a:r>
          </a:p>
          <a:p>
            <a:pPr marL="628650" lvl="1" indent="-171450">
              <a:buFont typeface="Arial" panose="020B0604020202020204" pitchFamily="34" charset="0"/>
              <a:buChar char="•"/>
            </a:pPr>
            <a:r>
              <a:rPr lang="en-US" sz="1200">
                <a:solidFill>
                  <a:schemeClr val="bg2">
                    <a:lumMod val="10000"/>
                  </a:schemeClr>
                </a:solidFill>
              </a:rPr>
              <a:t>Financial outcomes</a:t>
            </a:r>
          </a:p>
        </p:txBody>
      </p:sp>
      <p:sp>
        <p:nvSpPr>
          <p:cNvPr id="18" name="Rectangle: Rounded Corners 17">
            <a:extLst>
              <a:ext uri="{FF2B5EF4-FFF2-40B4-BE49-F238E27FC236}">
                <a16:creationId xmlns:a16="http://schemas.microsoft.com/office/drawing/2014/main" id="{C15197AA-0043-9E08-D98F-25AF03BECA62}"/>
              </a:ext>
            </a:extLst>
          </p:cNvPr>
          <p:cNvSpPr/>
          <p:nvPr/>
        </p:nvSpPr>
        <p:spPr>
          <a:xfrm>
            <a:off x="505188" y="1280363"/>
            <a:ext cx="2831690" cy="1746077"/>
          </a:xfrm>
          <a:prstGeom prst="roundRect">
            <a:avLst>
              <a:gd name="adj" fmla="val 8784"/>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4D6243A-BDF4-025C-5E17-ACB61E3B30FA}"/>
              </a:ext>
            </a:extLst>
          </p:cNvPr>
          <p:cNvSpPr txBox="1"/>
          <p:nvPr/>
        </p:nvSpPr>
        <p:spPr>
          <a:xfrm>
            <a:off x="520383" y="1313183"/>
            <a:ext cx="2831690" cy="1615827"/>
          </a:xfrm>
          <a:prstGeom prst="rect">
            <a:avLst/>
          </a:prstGeom>
          <a:noFill/>
        </p:spPr>
        <p:txBody>
          <a:bodyPr wrap="square">
            <a:spAutoFit/>
          </a:bodyPr>
          <a:lstStyle/>
          <a:p>
            <a:pPr>
              <a:buNone/>
            </a:pPr>
            <a:r>
              <a:rPr lang="en-US" sz="1100" b="1"/>
              <a:t>1. Fragmented &amp; Disconnected Process</a:t>
            </a:r>
          </a:p>
          <a:p>
            <a:r>
              <a:rPr lang="en-US" sz="1100"/>
              <a:t>Data spread across multiple systems and reports</a:t>
            </a:r>
          </a:p>
          <a:p>
            <a:r>
              <a:rPr lang="en-US" sz="1100"/>
              <a:t>No unified view of: </a:t>
            </a:r>
          </a:p>
          <a:p>
            <a:pPr marL="171450" indent="-171450">
              <a:buFont typeface="Arial" panose="020B0604020202020204" pitchFamily="34" charset="0"/>
              <a:buChar char="•"/>
            </a:pPr>
            <a:r>
              <a:rPr lang="en-US" sz="1100"/>
              <a:t>Bookings </a:t>
            </a:r>
          </a:p>
          <a:p>
            <a:pPr marL="171450" indent="-171450">
              <a:buFont typeface="Arial" panose="020B0604020202020204" pitchFamily="34" charset="0"/>
              <a:buChar char="•"/>
            </a:pPr>
            <a:r>
              <a:rPr lang="en-US" sz="1100"/>
              <a:t>Shipments </a:t>
            </a:r>
          </a:p>
          <a:p>
            <a:pPr marL="171450" indent="-171450">
              <a:buFont typeface="Arial" panose="020B0604020202020204" pitchFamily="34" charset="0"/>
              <a:buChar char="•"/>
            </a:pPr>
            <a:r>
              <a:rPr lang="en-US" sz="1100"/>
              <a:t>Financial performance</a:t>
            </a:r>
          </a:p>
          <a:p>
            <a:pPr>
              <a:buNone/>
            </a:pPr>
            <a:r>
              <a:rPr lang="en-US" sz="1100"/>
              <a:t>👉 Impact: Inconsistent reporting and lack of a single source of truth</a:t>
            </a:r>
          </a:p>
        </p:txBody>
      </p:sp>
      <p:sp>
        <p:nvSpPr>
          <p:cNvPr id="20" name="Rectangle: Rounded Corners 19">
            <a:extLst>
              <a:ext uri="{FF2B5EF4-FFF2-40B4-BE49-F238E27FC236}">
                <a16:creationId xmlns:a16="http://schemas.microsoft.com/office/drawing/2014/main" id="{74098D17-4D50-E4EE-5D37-0D1A916A1A02}"/>
              </a:ext>
            </a:extLst>
          </p:cNvPr>
          <p:cNvSpPr/>
          <p:nvPr/>
        </p:nvSpPr>
        <p:spPr>
          <a:xfrm>
            <a:off x="3436722" y="1293969"/>
            <a:ext cx="2831690" cy="1746077"/>
          </a:xfrm>
          <a:prstGeom prst="roundRect">
            <a:avLst>
              <a:gd name="adj" fmla="val 8784"/>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A7320CC-AD26-4FBF-A895-DC6B1B13382E}"/>
              </a:ext>
            </a:extLst>
          </p:cNvPr>
          <p:cNvSpPr txBox="1"/>
          <p:nvPr/>
        </p:nvSpPr>
        <p:spPr>
          <a:xfrm>
            <a:off x="3460228" y="1313183"/>
            <a:ext cx="2831690" cy="1615827"/>
          </a:xfrm>
          <a:prstGeom prst="rect">
            <a:avLst/>
          </a:prstGeom>
          <a:noFill/>
        </p:spPr>
        <p:txBody>
          <a:bodyPr wrap="square">
            <a:spAutoFit/>
          </a:bodyPr>
          <a:lstStyle>
            <a:defPPr>
              <a:defRPr lang="en-US"/>
            </a:defPPr>
            <a:lvl1pPr>
              <a:buNone/>
              <a:defRPr sz="1100" b="1"/>
            </a:lvl1pPr>
            <a:lvl2pPr marL="742950" lvl="1" indent="-285750">
              <a:buFont typeface="Arial" panose="020B0604020202020204" pitchFamily="34" charset="0"/>
              <a:buChar char="•"/>
              <a:defRPr sz="1100"/>
            </a:lvl2pPr>
          </a:lstStyle>
          <a:p>
            <a:r>
              <a:rPr lang="en-US"/>
              <a:t>2. Misalignment Between Business Activity &amp; Financial Reporting</a:t>
            </a:r>
          </a:p>
          <a:p>
            <a:r>
              <a:rPr lang="en-US" b="0"/>
              <a:t>Booking recognition tied to billing instead of actual execution (shipment/orders) </a:t>
            </a:r>
          </a:p>
          <a:p>
            <a:endParaRPr lang="en-US" b="0"/>
          </a:p>
          <a:p>
            <a:r>
              <a:rPr lang="en-US" b="0"/>
              <a:t>Delay in reflecting true business performance</a:t>
            </a:r>
          </a:p>
          <a:p>
            <a:r>
              <a:rPr lang="en-US" b="0"/>
              <a:t> </a:t>
            </a:r>
          </a:p>
          <a:p>
            <a:r>
              <a:rPr lang="en-US"/>
              <a:t>👉 </a:t>
            </a:r>
            <a:r>
              <a:rPr lang="en-US" b="0"/>
              <a:t>Impact</a:t>
            </a:r>
            <a:r>
              <a:rPr lang="en-US"/>
              <a:t>: </a:t>
            </a:r>
            <a:r>
              <a:rPr lang="en-US" b="0"/>
              <a:t>Leadership lacks timely visibility into bookings</a:t>
            </a:r>
          </a:p>
        </p:txBody>
      </p:sp>
      <p:sp>
        <p:nvSpPr>
          <p:cNvPr id="21" name="Rectangle: Rounded Corners 20">
            <a:extLst>
              <a:ext uri="{FF2B5EF4-FFF2-40B4-BE49-F238E27FC236}">
                <a16:creationId xmlns:a16="http://schemas.microsoft.com/office/drawing/2014/main" id="{23F52037-828D-8261-F2F7-1EBBFA12B1D1}"/>
              </a:ext>
            </a:extLst>
          </p:cNvPr>
          <p:cNvSpPr/>
          <p:nvPr/>
        </p:nvSpPr>
        <p:spPr>
          <a:xfrm>
            <a:off x="505188" y="3122678"/>
            <a:ext cx="2831690" cy="1746077"/>
          </a:xfrm>
          <a:prstGeom prst="roundRect">
            <a:avLst>
              <a:gd name="adj" fmla="val 8784"/>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2B9E6870-3B56-CE03-CFD5-BA3CE0A47540}"/>
              </a:ext>
            </a:extLst>
          </p:cNvPr>
          <p:cNvSpPr txBox="1"/>
          <p:nvPr/>
        </p:nvSpPr>
        <p:spPr>
          <a:xfrm>
            <a:off x="520383" y="3162897"/>
            <a:ext cx="2831690" cy="1615827"/>
          </a:xfrm>
          <a:prstGeom prst="rect">
            <a:avLst/>
          </a:prstGeom>
          <a:noFill/>
        </p:spPr>
        <p:txBody>
          <a:bodyPr wrap="square">
            <a:spAutoFit/>
          </a:bodyPr>
          <a:lstStyle/>
          <a:p>
            <a:pPr>
              <a:buNone/>
            </a:pPr>
            <a:r>
              <a:rPr lang="en-US" sz="1100" b="1"/>
              <a:t>3. No End-to-End Visibility of Contract Performance</a:t>
            </a:r>
          </a:p>
          <a:p>
            <a:r>
              <a:rPr lang="en-US" sz="1100"/>
              <a:t>Contracts not directly linked to: </a:t>
            </a:r>
          </a:p>
          <a:p>
            <a:pPr marL="285750" indent="-285750">
              <a:buFont typeface="Arial" panose="020B0604020202020204" pitchFamily="34" charset="0"/>
              <a:buChar char="•"/>
            </a:pPr>
            <a:r>
              <a:rPr lang="en-US" sz="1100"/>
              <a:t>Actual bookings </a:t>
            </a:r>
          </a:p>
          <a:p>
            <a:pPr marL="285750" indent="-285750">
              <a:buFont typeface="Arial" panose="020B0604020202020204" pitchFamily="34" charset="0"/>
              <a:buChar char="•"/>
            </a:pPr>
            <a:r>
              <a:rPr lang="en-US" sz="1100"/>
              <a:t>Shipment execution</a:t>
            </a:r>
          </a:p>
          <a:p>
            <a:r>
              <a:rPr lang="en-US" sz="1100"/>
              <a:t>No structured tracking (monthly / quarterly / yearly) </a:t>
            </a:r>
          </a:p>
          <a:p>
            <a:pPr>
              <a:buNone/>
            </a:pPr>
            <a:r>
              <a:rPr lang="en-US" sz="1100"/>
              <a:t>👉 Impact: Inability to measure performance against commitments</a:t>
            </a:r>
          </a:p>
        </p:txBody>
      </p:sp>
      <p:sp>
        <p:nvSpPr>
          <p:cNvPr id="22" name="Rectangle: Rounded Corners 21">
            <a:extLst>
              <a:ext uri="{FF2B5EF4-FFF2-40B4-BE49-F238E27FC236}">
                <a16:creationId xmlns:a16="http://schemas.microsoft.com/office/drawing/2014/main" id="{847E157C-0C28-71AD-3D2B-2CED80599324}"/>
              </a:ext>
            </a:extLst>
          </p:cNvPr>
          <p:cNvSpPr/>
          <p:nvPr/>
        </p:nvSpPr>
        <p:spPr>
          <a:xfrm>
            <a:off x="3460228" y="3122677"/>
            <a:ext cx="2831690" cy="1746077"/>
          </a:xfrm>
          <a:prstGeom prst="roundRect">
            <a:avLst>
              <a:gd name="adj" fmla="val 8784"/>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34F8DB7-4345-4932-27FE-C873EDDBCD91}"/>
              </a:ext>
            </a:extLst>
          </p:cNvPr>
          <p:cNvSpPr txBox="1"/>
          <p:nvPr/>
        </p:nvSpPr>
        <p:spPr>
          <a:xfrm>
            <a:off x="3536567" y="3162897"/>
            <a:ext cx="2831690" cy="1446550"/>
          </a:xfrm>
          <a:prstGeom prst="rect">
            <a:avLst/>
          </a:prstGeom>
          <a:noFill/>
        </p:spPr>
        <p:txBody>
          <a:bodyPr wrap="square">
            <a:spAutoFit/>
          </a:bodyPr>
          <a:lstStyle/>
          <a:p>
            <a:pPr>
              <a:buNone/>
            </a:pPr>
            <a:r>
              <a:rPr lang="en-US" sz="1100" b="1"/>
              <a:t>4. Inconsistent Business Logic Across Systems</a:t>
            </a:r>
          </a:p>
          <a:p>
            <a:r>
              <a:rPr lang="en-US" sz="1100"/>
              <a:t>Differences in: </a:t>
            </a:r>
          </a:p>
          <a:p>
            <a:pPr marL="285750" indent="-285750">
              <a:buFont typeface="Arial" panose="020B0604020202020204" pitchFamily="34" charset="0"/>
              <a:buChar char="•"/>
            </a:pPr>
            <a:r>
              <a:rPr lang="en-US" sz="1100"/>
              <a:t>Booking definitions </a:t>
            </a:r>
          </a:p>
          <a:p>
            <a:pPr marL="285750" indent="-285750">
              <a:buFont typeface="Arial" panose="020B0604020202020204" pitchFamily="34" charset="0"/>
              <a:buChar char="•"/>
            </a:pPr>
            <a:r>
              <a:rPr lang="en-US" sz="1100"/>
              <a:t>Financial dimensions (profit centers, territories, forex) </a:t>
            </a:r>
          </a:p>
          <a:p>
            <a:r>
              <a:rPr lang="en-US" sz="1100"/>
              <a:t>Legacy systems (AI &amp; Nova) not aligned </a:t>
            </a:r>
          </a:p>
          <a:p>
            <a:pPr>
              <a:buNone/>
            </a:pPr>
            <a:r>
              <a:rPr lang="en-US" sz="1100"/>
              <a:t>👉 Impact: Conflicting metrics and reduced trust in data</a:t>
            </a:r>
          </a:p>
        </p:txBody>
      </p:sp>
      <p:sp>
        <p:nvSpPr>
          <p:cNvPr id="23" name="Rectangle: Rounded Corners 22">
            <a:extLst>
              <a:ext uri="{FF2B5EF4-FFF2-40B4-BE49-F238E27FC236}">
                <a16:creationId xmlns:a16="http://schemas.microsoft.com/office/drawing/2014/main" id="{16413501-9B03-310A-9740-21BAEFBF2ECC}"/>
              </a:ext>
            </a:extLst>
          </p:cNvPr>
          <p:cNvSpPr/>
          <p:nvPr/>
        </p:nvSpPr>
        <p:spPr>
          <a:xfrm>
            <a:off x="1528791" y="4948557"/>
            <a:ext cx="3862873" cy="931121"/>
          </a:xfrm>
          <a:prstGeom prst="roundRect">
            <a:avLst>
              <a:gd name="adj" fmla="val 8784"/>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9E69E836-E0DA-C42C-8101-BCE46FEF2A6C}"/>
              </a:ext>
            </a:extLst>
          </p:cNvPr>
          <p:cNvSpPr txBox="1"/>
          <p:nvPr/>
        </p:nvSpPr>
        <p:spPr>
          <a:xfrm>
            <a:off x="1668210" y="5031825"/>
            <a:ext cx="3671985" cy="738664"/>
          </a:xfrm>
          <a:prstGeom prst="rect">
            <a:avLst/>
          </a:prstGeom>
          <a:noFill/>
        </p:spPr>
        <p:txBody>
          <a:bodyPr wrap="square">
            <a:spAutoFit/>
          </a:bodyPr>
          <a:lstStyle/>
          <a:p>
            <a:pPr>
              <a:buNone/>
            </a:pPr>
            <a:r>
              <a:rPr lang="en-US" sz="1050" b="1"/>
              <a:t>5. Heavy Manual Effort &amp; Reporting Delays</a:t>
            </a:r>
          </a:p>
          <a:p>
            <a:r>
              <a:rPr lang="en-US" sz="1050"/>
              <a:t>Manual consolidation and reconciliation across systems </a:t>
            </a:r>
          </a:p>
          <a:p>
            <a:endParaRPr lang="en-US" sz="1050"/>
          </a:p>
          <a:p>
            <a:pPr>
              <a:buNone/>
            </a:pPr>
            <a:r>
              <a:rPr lang="en-US" sz="1050"/>
              <a:t>👉 Impact: Slow decision-making and increased operational risk</a:t>
            </a:r>
          </a:p>
        </p:txBody>
      </p:sp>
      <p:sp>
        <p:nvSpPr>
          <p:cNvPr id="25" name="TextBox 24">
            <a:extLst>
              <a:ext uri="{FF2B5EF4-FFF2-40B4-BE49-F238E27FC236}">
                <a16:creationId xmlns:a16="http://schemas.microsoft.com/office/drawing/2014/main" id="{D337E37E-1FD0-5C1E-7864-A363D054A695}"/>
              </a:ext>
            </a:extLst>
          </p:cNvPr>
          <p:cNvSpPr txBox="1"/>
          <p:nvPr/>
        </p:nvSpPr>
        <p:spPr>
          <a:xfrm>
            <a:off x="2166231" y="777568"/>
            <a:ext cx="2520821" cy="369332"/>
          </a:xfrm>
          <a:prstGeom prst="rect">
            <a:avLst/>
          </a:prstGeom>
          <a:noFill/>
        </p:spPr>
        <p:txBody>
          <a:bodyPr wrap="square">
            <a:spAutoFit/>
          </a:bodyPr>
          <a:lstStyle/>
          <a:p>
            <a:pPr>
              <a:buNone/>
            </a:pPr>
            <a:r>
              <a:rPr lang="en-US" b="1">
                <a:solidFill>
                  <a:schemeClr val="accent5">
                    <a:lumMod val="75000"/>
                  </a:schemeClr>
                </a:solidFill>
              </a:rPr>
              <a:t>Technical Challenges</a:t>
            </a:r>
          </a:p>
        </p:txBody>
      </p:sp>
      <p:sp>
        <p:nvSpPr>
          <p:cNvPr id="7" name="TextBox 6">
            <a:extLst>
              <a:ext uri="{FF2B5EF4-FFF2-40B4-BE49-F238E27FC236}">
                <a16:creationId xmlns:a16="http://schemas.microsoft.com/office/drawing/2014/main" id="{0DD94495-5172-52CE-3A11-44998FAA781B}"/>
              </a:ext>
            </a:extLst>
          </p:cNvPr>
          <p:cNvSpPr txBox="1"/>
          <p:nvPr/>
        </p:nvSpPr>
        <p:spPr>
          <a:xfrm>
            <a:off x="8546228" y="799332"/>
            <a:ext cx="1818724" cy="369332"/>
          </a:xfrm>
          <a:prstGeom prst="rect">
            <a:avLst/>
          </a:prstGeom>
          <a:noFill/>
        </p:spPr>
        <p:txBody>
          <a:bodyPr wrap="square">
            <a:spAutoFit/>
          </a:bodyPr>
          <a:lstStyle/>
          <a:p>
            <a:pPr>
              <a:buNone/>
            </a:pPr>
            <a:r>
              <a:rPr lang="en-US" b="1">
                <a:solidFill>
                  <a:srgbClr val="002060"/>
                </a:solidFill>
              </a:rPr>
              <a:t>Solution</a:t>
            </a:r>
          </a:p>
        </p:txBody>
      </p:sp>
      <p:sp>
        <p:nvSpPr>
          <p:cNvPr id="29" name="TextBox 28">
            <a:extLst>
              <a:ext uri="{FF2B5EF4-FFF2-40B4-BE49-F238E27FC236}">
                <a16:creationId xmlns:a16="http://schemas.microsoft.com/office/drawing/2014/main" id="{72A7E51D-3934-594B-1661-9263EF93BE04}"/>
              </a:ext>
            </a:extLst>
          </p:cNvPr>
          <p:cNvSpPr txBox="1"/>
          <p:nvPr/>
        </p:nvSpPr>
        <p:spPr>
          <a:xfrm>
            <a:off x="6955056" y="1265421"/>
            <a:ext cx="3925549" cy="307777"/>
          </a:xfrm>
          <a:prstGeom prst="rect">
            <a:avLst/>
          </a:prstGeom>
          <a:noFill/>
        </p:spPr>
        <p:txBody>
          <a:bodyPr wrap="square">
            <a:spAutoFit/>
          </a:bodyPr>
          <a:lstStyle/>
          <a:p>
            <a:r>
              <a:rPr lang="en-US" sz="1400" b="1">
                <a:solidFill>
                  <a:srgbClr val="002060"/>
                </a:solidFill>
              </a:rPr>
              <a:t>Current Engagement with DataPattern</a:t>
            </a:r>
            <a:endParaRPr lang="en-IN" sz="1400"/>
          </a:p>
        </p:txBody>
      </p:sp>
      <p:sp>
        <p:nvSpPr>
          <p:cNvPr id="30" name="Arrow: Right 29">
            <a:extLst>
              <a:ext uri="{FF2B5EF4-FFF2-40B4-BE49-F238E27FC236}">
                <a16:creationId xmlns:a16="http://schemas.microsoft.com/office/drawing/2014/main" id="{46F92DB3-90DF-AB1B-C73F-EE047E007FA7}"/>
              </a:ext>
            </a:extLst>
          </p:cNvPr>
          <p:cNvSpPr/>
          <p:nvPr/>
        </p:nvSpPr>
        <p:spPr>
          <a:xfrm>
            <a:off x="6476412" y="3299531"/>
            <a:ext cx="342411" cy="129470"/>
          </a:xfrm>
          <a:prstGeom prst="rightArrow">
            <a:avLst/>
          </a:prstGeom>
          <a:solidFill>
            <a:schemeClr val="tx2">
              <a:lumMod val="50000"/>
              <a:lumOff val="50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80320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7C33B-0CF4-6988-D104-FD02B7CA0F9A}"/>
              </a:ext>
            </a:extLst>
          </p:cNvPr>
          <p:cNvSpPr>
            <a:spLocks noGrp="1"/>
          </p:cNvSpPr>
          <p:nvPr>
            <p:ph type="title"/>
          </p:nvPr>
        </p:nvSpPr>
        <p:spPr/>
        <p:txBody>
          <a:bodyPr/>
          <a:lstStyle/>
          <a:p>
            <a:r>
              <a:rPr lang="pt-PT">
                <a:latin typeface="Arial" panose="020B0604020202020204" pitchFamily="34" charset="0"/>
                <a:cs typeface="Arial" panose="020B0604020202020204" pitchFamily="34" charset="0"/>
              </a:rPr>
              <a:t>NOVA Dataplatform- Data Democritization - Medallion Architecture(2026)</a:t>
            </a:r>
            <a:endParaRPr lang="en-US">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EAE30C8-F18D-56E2-EE36-C55130412F04}"/>
              </a:ext>
            </a:extLst>
          </p:cNvPr>
          <p:cNvSpPr>
            <a:spLocks noGrp="1"/>
          </p:cNvSpPr>
          <p:nvPr>
            <p:ph type="sldNum" sz="quarter" idx="4"/>
          </p:nvPr>
        </p:nvSpPr>
        <p:spPr/>
        <p:txBody>
          <a:bodyPr/>
          <a:lstStyle/>
          <a:p>
            <a:fld id="{274CC3B9-6596-1243-9665-72A444B9047F}" type="slidenum">
              <a:rPr lang="en-CA" smtClean="0"/>
              <a:pPr/>
              <a:t>17</a:t>
            </a:fld>
            <a:endParaRPr lang="en-CA"/>
          </a:p>
        </p:txBody>
      </p:sp>
      <p:pic>
        <p:nvPicPr>
          <p:cNvPr id="156" name="Picture 155">
            <a:extLst>
              <a:ext uri="{FF2B5EF4-FFF2-40B4-BE49-F238E27FC236}">
                <a16:creationId xmlns:a16="http://schemas.microsoft.com/office/drawing/2014/main" id="{CF86B9FD-F4C0-6479-4FA1-E7B42D1E236E}"/>
              </a:ext>
            </a:extLst>
          </p:cNvPr>
          <p:cNvPicPr>
            <a:picLocks noChangeAspect="1"/>
          </p:cNvPicPr>
          <p:nvPr/>
        </p:nvPicPr>
        <p:blipFill>
          <a:blip r:embed="rId2"/>
          <a:stretch>
            <a:fillRect/>
          </a:stretch>
        </p:blipFill>
        <p:spPr>
          <a:xfrm>
            <a:off x="426097" y="1056282"/>
            <a:ext cx="9187466" cy="4745435"/>
          </a:xfrm>
          <a:prstGeom prst="rect">
            <a:avLst/>
          </a:prstGeom>
        </p:spPr>
      </p:pic>
      <p:sp>
        <p:nvSpPr>
          <p:cNvPr id="157" name="TextBox 156">
            <a:extLst>
              <a:ext uri="{FF2B5EF4-FFF2-40B4-BE49-F238E27FC236}">
                <a16:creationId xmlns:a16="http://schemas.microsoft.com/office/drawing/2014/main" id="{0A126B2B-5509-2A73-B41D-99B9584E03EB}"/>
              </a:ext>
            </a:extLst>
          </p:cNvPr>
          <p:cNvSpPr txBox="1"/>
          <p:nvPr/>
        </p:nvSpPr>
        <p:spPr>
          <a:xfrm>
            <a:off x="10587176" y="1006435"/>
            <a:ext cx="1178727" cy="269801"/>
          </a:xfrm>
          <a:prstGeom prst="flowChartAlternateProcess">
            <a:avLst/>
          </a:prstGeom>
          <a:solidFill>
            <a:srgbClr val="00B05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a:solidFill>
                  <a:schemeClr val="bg1"/>
                </a:solidFill>
                <a:latin typeface="Arial" panose="020B0604020202020204" pitchFamily="34" charset="0"/>
                <a:cs typeface="Arial" panose="020B0604020202020204" pitchFamily="34" charset="0"/>
              </a:rPr>
              <a:t>Completed</a:t>
            </a:r>
          </a:p>
        </p:txBody>
      </p:sp>
      <p:sp>
        <p:nvSpPr>
          <p:cNvPr id="158" name="TextBox 157">
            <a:extLst>
              <a:ext uri="{FF2B5EF4-FFF2-40B4-BE49-F238E27FC236}">
                <a16:creationId xmlns:a16="http://schemas.microsoft.com/office/drawing/2014/main" id="{799F728B-90FE-A1BA-55B1-FD82FCF0FF72}"/>
              </a:ext>
            </a:extLst>
          </p:cNvPr>
          <p:cNvSpPr txBox="1"/>
          <p:nvPr/>
        </p:nvSpPr>
        <p:spPr>
          <a:xfrm>
            <a:off x="10587176" y="1310831"/>
            <a:ext cx="1178727" cy="269801"/>
          </a:xfrm>
          <a:prstGeom prst="flowChartAlternateProcess">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200">
                <a:solidFill>
                  <a:srgbClr val="FF0000"/>
                </a:solidFill>
                <a:latin typeface="Arial" panose="020B0604020202020204" pitchFamily="34" charset="0"/>
                <a:cs typeface="Arial" panose="020B0604020202020204" pitchFamily="34" charset="0"/>
              </a:rPr>
              <a:t>Pending</a:t>
            </a:r>
          </a:p>
        </p:txBody>
      </p:sp>
    </p:spTree>
    <p:extLst>
      <p:ext uri="{BB962C8B-B14F-4D97-AF65-F5344CB8AC3E}">
        <p14:creationId xmlns:p14="http://schemas.microsoft.com/office/powerpoint/2010/main" val="3020854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984F4-76CD-7F7A-7370-F6E84B19F0BA}"/>
              </a:ext>
            </a:extLst>
          </p:cNvPr>
          <p:cNvSpPr>
            <a:spLocks noGrp="1"/>
          </p:cNvSpPr>
          <p:nvPr>
            <p:ph type="title"/>
          </p:nvPr>
        </p:nvSpPr>
        <p:spPr>
          <a:xfrm>
            <a:off x="445882" y="84343"/>
            <a:ext cx="11300236" cy="714306"/>
          </a:xfrm>
        </p:spPr>
        <p:txBody>
          <a:bodyPr/>
          <a:lstStyle/>
          <a:p>
            <a:r>
              <a:rPr lang="en-IN"/>
              <a:t>Consolidated Booking Project Status , Milestone &amp; Updates</a:t>
            </a:r>
          </a:p>
        </p:txBody>
      </p:sp>
      <p:sp>
        <p:nvSpPr>
          <p:cNvPr id="4" name="Slide Number Placeholder 3">
            <a:extLst>
              <a:ext uri="{FF2B5EF4-FFF2-40B4-BE49-F238E27FC236}">
                <a16:creationId xmlns:a16="http://schemas.microsoft.com/office/drawing/2014/main" id="{8B146168-363E-D67A-4D8D-547C20270222}"/>
              </a:ext>
            </a:extLst>
          </p:cNvPr>
          <p:cNvSpPr>
            <a:spLocks noGrp="1"/>
          </p:cNvSpPr>
          <p:nvPr>
            <p:ph type="sldNum" sz="quarter" idx="4"/>
          </p:nvPr>
        </p:nvSpPr>
        <p:spPr/>
        <p:txBody>
          <a:bodyPr/>
          <a:lstStyle/>
          <a:p>
            <a:fld id="{274CC3B9-6596-1243-9665-72A444B9047F}" type="slidenum">
              <a:rPr lang="en-CA" smtClean="0"/>
              <a:pPr/>
              <a:t>18</a:t>
            </a:fld>
            <a:endParaRPr lang="en-CA"/>
          </a:p>
        </p:txBody>
      </p:sp>
      <p:pic>
        <p:nvPicPr>
          <p:cNvPr id="170" name="Picture 169">
            <a:extLst>
              <a:ext uri="{FF2B5EF4-FFF2-40B4-BE49-F238E27FC236}">
                <a16:creationId xmlns:a16="http://schemas.microsoft.com/office/drawing/2014/main" id="{87D46B76-84A6-AADE-F345-B2F462611BA9}"/>
              </a:ext>
            </a:extLst>
          </p:cNvPr>
          <p:cNvPicPr>
            <a:picLocks noChangeAspect="1"/>
          </p:cNvPicPr>
          <p:nvPr/>
        </p:nvPicPr>
        <p:blipFill>
          <a:blip r:embed="rId3"/>
          <a:stretch>
            <a:fillRect/>
          </a:stretch>
        </p:blipFill>
        <p:spPr>
          <a:xfrm>
            <a:off x="445882" y="1344044"/>
            <a:ext cx="7160429" cy="3612155"/>
          </a:xfrm>
          <a:prstGeom prst="rect">
            <a:avLst/>
          </a:prstGeom>
        </p:spPr>
      </p:pic>
      <p:sp>
        <p:nvSpPr>
          <p:cNvPr id="192" name="TextBox 191">
            <a:extLst>
              <a:ext uri="{FF2B5EF4-FFF2-40B4-BE49-F238E27FC236}">
                <a16:creationId xmlns:a16="http://schemas.microsoft.com/office/drawing/2014/main" id="{1ED6BB14-07C4-BD8C-18BB-7C8BFA8CAC0F}"/>
              </a:ext>
            </a:extLst>
          </p:cNvPr>
          <p:cNvSpPr txBox="1"/>
          <p:nvPr/>
        </p:nvSpPr>
        <p:spPr>
          <a:xfrm>
            <a:off x="7767324" y="995887"/>
            <a:ext cx="3854887" cy="5109091"/>
          </a:xfrm>
          <a:prstGeom prst="rect">
            <a:avLst/>
          </a:prstGeom>
          <a:noFill/>
        </p:spPr>
        <p:txBody>
          <a:bodyPr wrap="square">
            <a:spAutoFit/>
          </a:bodyPr>
          <a:lstStyle/>
          <a:p>
            <a:pPr algn="ctr">
              <a:buNone/>
            </a:pPr>
            <a:r>
              <a:rPr lang="en-IN" sz="1400" b="1"/>
              <a:t>Our Journey (Transformation Timeline)</a:t>
            </a:r>
            <a:br>
              <a:rPr lang="en-IN" sz="1200" b="1"/>
            </a:br>
            <a:endParaRPr lang="en-IN" sz="1200" b="1"/>
          </a:p>
          <a:p>
            <a:pPr>
              <a:buNone/>
            </a:pPr>
            <a:r>
              <a:rPr lang="en-IN" sz="1200" b="1"/>
              <a:t>December – Foundation Setup</a:t>
            </a:r>
            <a:endParaRPr lang="en-IN" sz="1200"/>
          </a:p>
          <a:p>
            <a:pPr marL="171450" indent="-171450">
              <a:buFont typeface="Arial" panose="020B0604020202020204" pitchFamily="34" charset="0"/>
              <a:buChar char="•"/>
            </a:pPr>
            <a:r>
              <a:rPr lang="en-IN" sz="1200"/>
              <a:t>Ingested data from BW, SAP, Pivotal, Adaptive, JDrive</a:t>
            </a:r>
          </a:p>
          <a:p>
            <a:pPr marL="171450" indent="-171450">
              <a:buFont typeface="Arial" panose="020B0604020202020204" pitchFamily="34" charset="0"/>
              <a:buChar char="•"/>
            </a:pPr>
            <a:r>
              <a:rPr lang="en-IN" sz="1200"/>
              <a:t>Established base data pipelines and storage</a:t>
            </a:r>
            <a:br>
              <a:rPr lang="en-IN" sz="1200"/>
            </a:br>
            <a:endParaRPr lang="en-IN" sz="1200"/>
          </a:p>
          <a:p>
            <a:pPr>
              <a:buNone/>
            </a:pPr>
            <a:r>
              <a:rPr lang="en-IN" sz="1200" b="1"/>
              <a:t>January – Business Alignment</a:t>
            </a:r>
            <a:endParaRPr lang="en-IN" sz="1200"/>
          </a:p>
          <a:p>
            <a:r>
              <a:rPr lang="en-IN" sz="1200"/>
              <a:t>Defined:</a:t>
            </a:r>
          </a:p>
          <a:p>
            <a:pPr marL="628650" lvl="1" indent="-171450">
              <a:buFont typeface="Arial" panose="020B0604020202020204" pitchFamily="34" charset="0"/>
              <a:buChar char="•"/>
            </a:pPr>
            <a:r>
              <a:rPr lang="en-IN" sz="1200"/>
              <a:t>Profit centers</a:t>
            </a:r>
          </a:p>
          <a:p>
            <a:pPr marL="628650" lvl="1" indent="-171450">
              <a:buFont typeface="Arial" panose="020B0604020202020204" pitchFamily="34" charset="0"/>
              <a:buChar char="•"/>
            </a:pPr>
            <a:r>
              <a:rPr lang="en-IN" sz="1200"/>
              <a:t>Territory mappings</a:t>
            </a:r>
          </a:p>
          <a:p>
            <a:pPr marL="628650" lvl="1" indent="-171450">
              <a:buFont typeface="Arial" panose="020B0604020202020204" pitchFamily="34" charset="0"/>
              <a:buChar char="•"/>
            </a:pPr>
            <a:r>
              <a:rPr lang="en-IN" sz="1200"/>
              <a:t>Forex logic</a:t>
            </a:r>
          </a:p>
          <a:p>
            <a:pPr marL="628650" lvl="1" indent="-171450">
              <a:buFont typeface="Arial" panose="020B0604020202020204" pitchFamily="34" charset="0"/>
              <a:buChar char="•"/>
            </a:pPr>
            <a:r>
              <a:rPr lang="en-IN" sz="1200"/>
              <a:t>Transaction classifications</a:t>
            </a:r>
          </a:p>
          <a:p>
            <a:pPr marL="628650" lvl="1" indent="-171450">
              <a:buFont typeface="Arial" panose="020B0604020202020204" pitchFamily="34" charset="0"/>
              <a:buChar char="•"/>
            </a:pPr>
            <a:endParaRPr lang="en-IN" sz="1200"/>
          </a:p>
          <a:p>
            <a:pPr>
              <a:buNone/>
            </a:pPr>
            <a:r>
              <a:rPr lang="en-IN" sz="1200" b="1"/>
              <a:t>February – Harmonization Phase</a:t>
            </a:r>
            <a:endParaRPr lang="en-IN" sz="1200"/>
          </a:p>
          <a:p>
            <a:r>
              <a:rPr lang="en-IN" sz="1200"/>
              <a:t>Unified logic across:</a:t>
            </a:r>
          </a:p>
          <a:p>
            <a:pPr marL="628650" lvl="1" indent="-171450">
              <a:buFont typeface="Arial" panose="020B0604020202020204" pitchFamily="34" charset="0"/>
              <a:buChar char="•"/>
            </a:pPr>
            <a:r>
              <a:rPr lang="en-IN" sz="1200"/>
              <a:t>Legacy AI workflows</a:t>
            </a:r>
          </a:p>
          <a:p>
            <a:pPr marL="628650" lvl="1" indent="-171450">
              <a:buFont typeface="Arial" panose="020B0604020202020204" pitchFamily="34" charset="0"/>
              <a:buChar char="•"/>
            </a:pPr>
            <a:r>
              <a:rPr lang="en-IN" sz="1200"/>
              <a:t>Legacy NOVA workflows</a:t>
            </a:r>
          </a:p>
          <a:p>
            <a:pPr marL="628650" lvl="1" indent="-171450">
              <a:buFont typeface="Arial" panose="020B0604020202020204" pitchFamily="34" charset="0"/>
              <a:buChar char="•"/>
            </a:pPr>
            <a:r>
              <a:rPr lang="en-IN" sz="1200"/>
              <a:t>Eliminated inconsistencies</a:t>
            </a:r>
          </a:p>
          <a:p>
            <a:pPr marL="628650" lvl="1" indent="-171450">
              <a:buFont typeface="Arial" panose="020B0604020202020204" pitchFamily="34" charset="0"/>
              <a:buChar char="•"/>
            </a:pPr>
            <a:endParaRPr lang="en-IN" sz="1200"/>
          </a:p>
          <a:p>
            <a:pPr>
              <a:buNone/>
            </a:pPr>
            <a:r>
              <a:rPr lang="en-IN" sz="1200" b="1"/>
              <a:t>March – Business Process Transformation</a:t>
            </a:r>
            <a:endParaRPr lang="en-IN" sz="1200"/>
          </a:p>
          <a:p>
            <a:pPr marL="685800" lvl="1" indent="-228600">
              <a:buFont typeface="Arial" panose="020B0604020202020204" pitchFamily="34" charset="0"/>
              <a:buChar char="•"/>
            </a:pPr>
            <a:r>
              <a:rPr lang="en-IN" sz="1200"/>
              <a:t>Contract booking redesign</a:t>
            </a:r>
          </a:p>
          <a:p>
            <a:pPr marL="685800" lvl="1" indent="-228600">
              <a:buFont typeface="Arial" panose="020B0604020202020204" pitchFamily="34" charset="0"/>
              <a:buChar char="•"/>
            </a:pPr>
            <a:r>
              <a:rPr lang="en-IN" sz="1200"/>
              <a:t>Historical data migration planning</a:t>
            </a:r>
          </a:p>
          <a:p>
            <a:pPr marL="685800" lvl="1" indent="-228600">
              <a:buFont typeface="Arial" panose="020B0604020202020204" pitchFamily="34" charset="0"/>
              <a:buChar char="•"/>
            </a:pPr>
            <a:endParaRPr lang="en-IN" sz="1200"/>
          </a:p>
          <a:p>
            <a:pPr>
              <a:buNone/>
            </a:pPr>
            <a:r>
              <a:rPr lang="en-IN" sz="1200" b="1"/>
              <a:t>April – Go-live (Target)</a:t>
            </a:r>
            <a:endParaRPr lang="en-IN" sz="1200"/>
          </a:p>
          <a:p>
            <a:pPr marL="628650" lvl="1" indent="-171450">
              <a:buFont typeface="Arial" panose="020B0604020202020204" pitchFamily="34" charset="0"/>
              <a:buChar char="•"/>
            </a:pPr>
            <a:r>
              <a:rPr lang="en-IN" sz="1200"/>
              <a:t>Booking dashboards</a:t>
            </a:r>
          </a:p>
          <a:p>
            <a:pPr marL="628650" lvl="1" indent="-171450">
              <a:buFont typeface="Arial" panose="020B0604020202020204" pitchFamily="34" charset="0"/>
              <a:buChar char="•"/>
            </a:pPr>
            <a:r>
              <a:rPr lang="en-IN" sz="1200"/>
              <a:t>Profitability reporting</a:t>
            </a:r>
          </a:p>
        </p:txBody>
      </p:sp>
      <p:sp>
        <p:nvSpPr>
          <p:cNvPr id="3" name="TextBox 2">
            <a:extLst>
              <a:ext uri="{FF2B5EF4-FFF2-40B4-BE49-F238E27FC236}">
                <a16:creationId xmlns:a16="http://schemas.microsoft.com/office/drawing/2014/main" id="{43171D50-DDC6-37DE-B188-D76688192A4C}"/>
              </a:ext>
            </a:extLst>
          </p:cNvPr>
          <p:cNvSpPr txBox="1"/>
          <p:nvPr/>
        </p:nvSpPr>
        <p:spPr>
          <a:xfrm>
            <a:off x="3711061" y="5408509"/>
            <a:ext cx="1427186" cy="276999"/>
          </a:xfrm>
          <a:prstGeom prst="rect">
            <a:avLst/>
          </a:prstGeom>
          <a:noFill/>
        </p:spPr>
        <p:txBody>
          <a:bodyPr wrap="none" rtlCol="0">
            <a:spAutoFit/>
          </a:bodyPr>
          <a:lstStyle/>
          <a:p>
            <a:r>
              <a:rPr lang="en-IN" sz="1200" b="1"/>
              <a:t>Project Status - </a:t>
            </a:r>
            <a:r>
              <a:rPr lang="en-IN" sz="1200"/>
              <a:t>Live</a:t>
            </a:r>
          </a:p>
        </p:txBody>
      </p:sp>
      <p:sp>
        <p:nvSpPr>
          <p:cNvPr id="6" name="TextBox 5">
            <a:extLst>
              <a:ext uri="{FF2B5EF4-FFF2-40B4-BE49-F238E27FC236}">
                <a16:creationId xmlns:a16="http://schemas.microsoft.com/office/drawing/2014/main" id="{3B9D31FA-492D-A4B3-F135-03A8B778FE5C}"/>
              </a:ext>
            </a:extLst>
          </p:cNvPr>
          <p:cNvSpPr txBox="1"/>
          <p:nvPr/>
        </p:nvSpPr>
        <p:spPr>
          <a:xfrm>
            <a:off x="525601" y="5792548"/>
            <a:ext cx="2077556" cy="276999"/>
          </a:xfrm>
          <a:prstGeom prst="rect">
            <a:avLst/>
          </a:prstGeom>
          <a:noFill/>
        </p:spPr>
        <p:txBody>
          <a:bodyPr wrap="none" rtlCol="0">
            <a:spAutoFit/>
          </a:bodyPr>
          <a:lstStyle/>
          <a:p>
            <a:r>
              <a:rPr lang="en-IN" sz="1200" b="1"/>
              <a:t>Project Kick off : </a:t>
            </a:r>
            <a:r>
              <a:rPr lang="en-IN" sz="1200"/>
              <a:t>01/12/2026</a:t>
            </a:r>
            <a:r>
              <a:rPr lang="en-IN" sz="1200" b="1"/>
              <a:t>  </a:t>
            </a:r>
            <a:endParaRPr lang="en-IN" sz="1200"/>
          </a:p>
        </p:txBody>
      </p:sp>
      <p:sp>
        <p:nvSpPr>
          <p:cNvPr id="7" name="TextBox 6">
            <a:extLst>
              <a:ext uri="{FF2B5EF4-FFF2-40B4-BE49-F238E27FC236}">
                <a16:creationId xmlns:a16="http://schemas.microsoft.com/office/drawing/2014/main" id="{5A0B09F0-CFD7-9420-BB46-71C03E563990}"/>
              </a:ext>
            </a:extLst>
          </p:cNvPr>
          <p:cNvSpPr txBox="1"/>
          <p:nvPr/>
        </p:nvSpPr>
        <p:spPr>
          <a:xfrm>
            <a:off x="3714579" y="5048065"/>
            <a:ext cx="1796069" cy="276999"/>
          </a:xfrm>
          <a:prstGeom prst="rect">
            <a:avLst/>
          </a:prstGeom>
          <a:noFill/>
        </p:spPr>
        <p:txBody>
          <a:bodyPr wrap="none" rtlCol="0">
            <a:spAutoFit/>
          </a:bodyPr>
          <a:lstStyle/>
          <a:p>
            <a:r>
              <a:rPr lang="en-IN" sz="1200" b="1"/>
              <a:t>Development by</a:t>
            </a:r>
            <a:r>
              <a:rPr lang="en-IN" sz="1200"/>
              <a:t> : Sridhar</a:t>
            </a:r>
          </a:p>
        </p:txBody>
      </p:sp>
      <p:sp>
        <p:nvSpPr>
          <p:cNvPr id="8" name="TextBox 7">
            <a:extLst>
              <a:ext uri="{FF2B5EF4-FFF2-40B4-BE49-F238E27FC236}">
                <a16:creationId xmlns:a16="http://schemas.microsoft.com/office/drawing/2014/main" id="{910B2723-8B5E-9ACD-B74D-3B6B5DBA8E51}"/>
              </a:ext>
            </a:extLst>
          </p:cNvPr>
          <p:cNvSpPr txBox="1"/>
          <p:nvPr/>
        </p:nvSpPr>
        <p:spPr>
          <a:xfrm>
            <a:off x="528426" y="5035345"/>
            <a:ext cx="2938497" cy="461665"/>
          </a:xfrm>
          <a:prstGeom prst="rect">
            <a:avLst/>
          </a:prstGeom>
          <a:noFill/>
        </p:spPr>
        <p:txBody>
          <a:bodyPr wrap="square" rtlCol="0">
            <a:spAutoFit/>
          </a:bodyPr>
          <a:lstStyle/>
          <a:p>
            <a:r>
              <a:rPr lang="en-IN" sz="1200" b="1"/>
              <a:t>Client</a:t>
            </a:r>
            <a:r>
              <a:rPr lang="en-IN" sz="1200"/>
              <a:t> :  </a:t>
            </a:r>
            <a:r>
              <a:rPr lang="en-US" sz="1200"/>
              <a:t>Xavier Boutin , Yanting Zeng 	&amp; Bower, Ryan</a:t>
            </a:r>
          </a:p>
        </p:txBody>
      </p:sp>
      <p:sp>
        <p:nvSpPr>
          <p:cNvPr id="9" name="TextBox 8">
            <a:extLst>
              <a:ext uri="{FF2B5EF4-FFF2-40B4-BE49-F238E27FC236}">
                <a16:creationId xmlns:a16="http://schemas.microsoft.com/office/drawing/2014/main" id="{5081F3A8-98DA-1279-859A-FAB5ABB7C801}"/>
              </a:ext>
            </a:extLst>
          </p:cNvPr>
          <p:cNvSpPr txBox="1"/>
          <p:nvPr/>
        </p:nvSpPr>
        <p:spPr>
          <a:xfrm>
            <a:off x="3714579" y="5761646"/>
            <a:ext cx="2381421" cy="276999"/>
          </a:xfrm>
          <a:prstGeom prst="rect">
            <a:avLst/>
          </a:prstGeom>
          <a:noFill/>
        </p:spPr>
        <p:txBody>
          <a:bodyPr wrap="none" rtlCol="0">
            <a:spAutoFit/>
          </a:bodyPr>
          <a:lstStyle/>
          <a:p>
            <a:r>
              <a:rPr lang="en-IN" sz="1200" b="1"/>
              <a:t>Project Completion Status  </a:t>
            </a:r>
            <a:r>
              <a:rPr lang="en-IN" sz="1200"/>
              <a:t>- 100 %</a:t>
            </a:r>
          </a:p>
        </p:txBody>
      </p:sp>
      <p:sp>
        <p:nvSpPr>
          <p:cNvPr id="10" name="TextBox 9">
            <a:extLst>
              <a:ext uri="{FF2B5EF4-FFF2-40B4-BE49-F238E27FC236}">
                <a16:creationId xmlns:a16="http://schemas.microsoft.com/office/drawing/2014/main" id="{8697BCE6-C629-E22D-5E16-156E8678468B}"/>
              </a:ext>
            </a:extLst>
          </p:cNvPr>
          <p:cNvSpPr txBox="1"/>
          <p:nvPr/>
        </p:nvSpPr>
        <p:spPr>
          <a:xfrm>
            <a:off x="528426" y="5469383"/>
            <a:ext cx="2377959" cy="276999"/>
          </a:xfrm>
          <a:prstGeom prst="rect">
            <a:avLst/>
          </a:prstGeom>
          <a:noFill/>
        </p:spPr>
        <p:txBody>
          <a:bodyPr wrap="none" rtlCol="0">
            <a:spAutoFit/>
          </a:bodyPr>
          <a:lstStyle/>
          <a:p>
            <a:r>
              <a:rPr lang="en-IN" sz="1200" b="1"/>
              <a:t>Project Owned by :</a:t>
            </a:r>
            <a:r>
              <a:rPr lang="en-IN" sz="1200"/>
              <a:t>Gopi Palamadai</a:t>
            </a:r>
          </a:p>
        </p:txBody>
      </p:sp>
      <p:sp>
        <p:nvSpPr>
          <p:cNvPr id="15" name="TextBox 14">
            <a:extLst>
              <a:ext uri="{FF2B5EF4-FFF2-40B4-BE49-F238E27FC236}">
                <a16:creationId xmlns:a16="http://schemas.microsoft.com/office/drawing/2014/main" id="{FF3810B4-1F3E-45AF-9767-9B84799DC614}"/>
              </a:ext>
            </a:extLst>
          </p:cNvPr>
          <p:cNvSpPr txBox="1"/>
          <p:nvPr/>
        </p:nvSpPr>
        <p:spPr>
          <a:xfrm>
            <a:off x="445882" y="809736"/>
            <a:ext cx="7690412" cy="492443"/>
          </a:xfrm>
          <a:prstGeom prst="rect">
            <a:avLst/>
          </a:prstGeom>
          <a:noFill/>
        </p:spPr>
        <p:txBody>
          <a:bodyPr wrap="square">
            <a:spAutoFit/>
          </a:bodyPr>
          <a:lstStyle/>
          <a:p>
            <a:r>
              <a:rPr lang="en-US" sz="1200"/>
              <a:t>The </a:t>
            </a:r>
            <a:r>
              <a:rPr lang="en-US" sz="1200" b="1"/>
              <a:t>Consolidated Booking Report</a:t>
            </a:r>
            <a:r>
              <a:rPr lang="en-US" sz="1200"/>
              <a:t> is a unified view of all booking (revenue/order) data across Legacy AI and Legacy Nova into a single, consistent data model for reporting and analysis</a:t>
            </a:r>
            <a:r>
              <a:rPr lang="en-US" sz="1400"/>
              <a:t>.</a:t>
            </a:r>
            <a:endParaRPr lang="en-IN" sz="1400"/>
          </a:p>
        </p:txBody>
      </p:sp>
    </p:spTree>
    <p:extLst>
      <p:ext uri="{BB962C8B-B14F-4D97-AF65-F5344CB8AC3E}">
        <p14:creationId xmlns:p14="http://schemas.microsoft.com/office/powerpoint/2010/main" val="4187956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519F9-0E40-9B82-4771-2FC1D11428A3}"/>
              </a:ext>
            </a:extLst>
          </p:cNvPr>
          <p:cNvSpPr>
            <a:spLocks noGrp="1"/>
          </p:cNvSpPr>
          <p:nvPr>
            <p:ph type="title"/>
          </p:nvPr>
        </p:nvSpPr>
        <p:spPr/>
        <p:txBody>
          <a:bodyPr/>
          <a:lstStyle/>
          <a:p>
            <a:r>
              <a:rPr lang="en-IN"/>
              <a:t>Consolidated Shipping Project Status , Milestone &amp; Updates</a:t>
            </a:r>
          </a:p>
        </p:txBody>
      </p:sp>
      <p:sp>
        <p:nvSpPr>
          <p:cNvPr id="4" name="Slide Number Placeholder 3">
            <a:extLst>
              <a:ext uri="{FF2B5EF4-FFF2-40B4-BE49-F238E27FC236}">
                <a16:creationId xmlns:a16="http://schemas.microsoft.com/office/drawing/2014/main" id="{3B33B885-B253-FAC9-B09B-151515759C67}"/>
              </a:ext>
            </a:extLst>
          </p:cNvPr>
          <p:cNvSpPr>
            <a:spLocks noGrp="1"/>
          </p:cNvSpPr>
          <p:nvPr>
            <p:ph type="sldNum" sz="quarter" idx="4"/>
          </p:nvPr>
        </p:nvSpPr>
        <p:spPr/>
        <p:txBody>
          <a:bodyPr/>
          <a:lstStyle/>
          <a:p>
            <a:fld id="{274CC3B9-6596-1243-9665-72A444B9047F}" type="slidenum">
              <a:rPr lang="en-CA" smtClean="0"/>
              <a:pPr/>
              <a:t>19</a:t>
            </a:fld>
            <a:endParaRPr lang="en-CA"/>
          </a:p>
        </p:txBody>
      </p:sp>
      <p:pic>
        <p:nvPicPr>
          <p:cNvPr id="6" name="Picture 5">
            <a:extLst>
              <a:ext uri="{FF2B5EF4-FFF2-40B4-BE49-F238E27FC236}">
                <a16:creationId xmlns:a16="http://schemas.microsoft.com/office/drawing/2014/main" id="{8C8A5E99-7EFC-2ED9-D0DF-9673C7AF73BA}"/>
              </a:ext>
            </a:extLst>
          </p:cNvPr>
          <p:cNvPicPr>
            <a:picLocks noChangeAspect="1"/>
          </p:cNvPicPr>
          <p:nvPr/>
        </p:nvPicPr>
        <p:blipFill>
          <a:blip r:embed="rId2"/>
          <a:stretch>
            <a:fillRect/>
          </a:stretch>
        </p:blipFill>
        <p:spPr>
          <a:xfrm>
            <a:off x="407146" y="1771120"/>
            <a:ext cx="7315877" cy="3249438"/>
          </a:xfrm>
          <a:prstGeom prst="rect">
            <a:avLst/>
          </a:prstGeom>
        </p:spPr>
      </p:pic>
      <p:sp>
        <p:nvSpPr>
          <p:cNvPr id="11" name="TextBox 10">
            <a:extLst>
              <a:ext uri="{FF2B5EF4-FFF2-40B4-BE49-F238E27FC236}">
                <a16:creationId xmlns:a16="http://schemas.microsoft.com/office/drawing/2014/main" id="{DB120128-FE8D-3526-4CAD-65371702A504}"/>
              </a:ext>
            </a:extLst>
          </p:cNvPr>
          <p:cNvSpPr txBox="1"/>
          <p:nvPr/>
        </p:nvSpPr>
        <p:spPr>
          <a:xfrm>
            <a:off x="8120653" y="2714824"/>
            <a:ext cx="3100016" cy="338554"/>
          </a:xfrm>
          <a:prstGeom prst="rect">
            <a:avLst/>
          </a:prstGeom>
          <a:noFill/>
        </p:spPr>
        <p:txBody>
          <a:bodyPr wrap="none" rtlCol="0">
            <a:spAutoFit/>
          </a:bodyPr>
          <a:lstStyle/>
          <a:p>
            <a:r>
              <a:rPr lang="en-IN" sz="1600" b="1"/>
              <a:t>Project Kick off Date</a:t>
            </a:r>
            <a:r>
              <a:rPr lang="en-IN" sz="1600"/>
              <a:t>: 03/03/2026  </a:t>
            </a:r>
          </a:p>
        </p:txBody>
      </p:sp>
      <p:sp>
        <p:nvSpPr>
          <p:cNvPr id="13" name="TextBox 12">
            <a:extLst>
              <a:ext uri="{FF2B5EF4-FFF2-40B4-BE49-F238E27FC236}">
                <a16:creationId xmlns:a16="http://schemas.microsoft.com/office/drawing/2014/main" id="{419E8E78-FCCD-2598-E541-9961DA975928}"/>
              </a:ext>
            </a:extLst>
          </p:cNvPr>
          <p:cNvSpPr txBox="1"/>
          <p:nvPr/>
        </p:nvSpPr>
        <p:spPr>
          <a:xfrm>
            <a:off x="8096500" y="1645083"/>
            <a:ext cx="3572898" cy="584775"/>
          </a:xfrm>
          <a:prstGeom prst="rect">
            <a:avLst/>
          </a:prstGeom>
          <a:noFill/>
        </p:spPr>
        <p:txBody>
          <a:bodyPr wrap="square" rtlCol="0">
            <a:spAutoFit/>
          </a:bodyPr>
          <a:lstStyle/>
          <a:p>
            <a:r>
              <a:rPr lang="en-IN" sz="1600" b="1"/>
              <a:t>Client</a:t>
            </a:r>
            <a:r>
              <a:rPr lang="en-IN" sz="1600" b="1">
                <a:latin typeface="Aptos" panose="020B0004020202020204" pitchFamily="34" charset="0"/>
              </a:rPr>
              <a:t> </a:t>
            </a:r>
            <a:r>
              <a:rPr lang="en-IN" sz="1600">
                <a:latin typeface="Aptos" panose="020B0004020202020204" pitchFamily="34" charset="0"/>
              </a:rPr>
              <a:t>:</a:t>
            </a:r>
            <a:r>
              <a:rPr lang="en-US" sz="1600"/>
              <a:t> Xavier Boutin , Yanting Zeng &amp; </a:t>
            </a:r>
          </a:p>
          <a:p>
            <a:r>
              <a:rPr lang="en-US" sz="1600"/>
              <a:t>                 Bower, Ryan</a:t>
            </a:r>
          </a:p>
        </p:txBody>
      </p:sp>
      <p:sp>
        <p:nvSpPr>
          <p:cNvPr id="15" name="TextBox 14">
            <a:extLst>
              <a:ext uri="{FF2B5EF4-FFF2-40B4-BE49-F238E27FC236}">
                <a16:creationId xmlns:a16="http://schemas.microsoft.com/office/drawing/2014/main" id="{5A886964-8330-D8DD-C90F-4C6EEF1ED460}"/>
              </a:ext>
            </a:extLst>
          </p:cNvPr>
          <p:cNvSpPr txBox="1"/>
          <p:nvPr/>
        </p:nvSpPr>
        <p:spPr>
          <a:xfrm>
            <a:off x="8103239" y="2270124"/>
            <a:ext cx="3193503" cy="338554"/>
          </a:xfrm>
          <a:prstGeom prst="rect">
            <a:avLst/>
          </a:prstGeom>
          <a:noFill/>
        </p:spPr>
        <p:txBody>
          <a:bodyPr wrap="none" rtlCol="0">
            <a:spAutoFit/>
          </a:bodyPr>
          <a:lstStyle/>
          <a:p>
            <a:r>
              <a:rPr lang="en-IN" sz="1600" b="1"/>
              <a:t>Project Owned by </a:t>
            </a:r>
            <a:r>
              <a:rPr lang="en-IN" sz="1600"/>
              <a:t>: Gopi </a:t>
            </a:r>
            <a:r>
              <a:rPr lang="en-IN" sz="1600" err="1"/>
              <a:t>Palamadai</a:t>
            </a:r>
            <a:r>
              <a:rPr lang="en-IN" sz="1600"/>
              <a:t> </a:t>
            </a:r>
          </a:p>
        </p:txBody>
      </p:sp>
      <p:sp>
        <p:nvSpPr>
          <p:cNvPr id="3" name="TextBox 2">
            <a:extLst>
              <a:ext uri="{FF2B5EF4-FFF2-40B4-BE49-F238E27FC236}">
                <a16:creationId xmlns:a16="http://schemas.microsoft.com/office/drawing/2014/main" id="{1B1908BE-8211-C9A3-FBE5-B0DE1F14093D}"/>
              </a:ext>
            </a:extLst>
          </p:cNvPr>
          <p:cNvSpPr txBox="1"/>
          <p:nvPr/>
        </p:nvSpPr>
        <p:spPr>
          <a:xfrm>
            <a:off x="8109382" y="3543917"/>
            <a:ext cx="2643544" cy="338554"/>
          </a:xfrm>
          <a:prstGeom prst="rect">
            <a:avLst/>
          </a:prstGeom>
          <a:noFill/>
        </p:spPr>
        <p:txBody>
          <a:bodyPr wrap="none" rtlCol="0">
            <a:spAutoFit/>
          </a:bodyPr>
          <a:lstStyle/>
          <a:p>
            <a:r>
              <a:rPr lang="en-IN" sz="1600" b="1"/>
              <a:t>Project Status :</a:t>
            </a:r>
            <a:r>
              <a:rPr lang="en-IN" sz="1600"/>
              <a:t> Development</a:t>
            </a:r>
          </a:p>
        </p:txBody>
      </p:sp>
      <p:sp>
        <p:nvSpPr>
          <p:cNvPr id="5" name="TextBox 4">
            <a:extLst>
              <a:ext uri="{FF2B5EF4-FFF2-40B4-BE49-F238E27FC236}">
                <a16:creationId xmlns:a16="http://schemas.microsoft.com/office/drawing/2014/main" id="{CAFF103D-5D84-E6E1-C162-738E8CCD9421}"/>
              </a:ext>
            </a:extLst>
          </p:cNvPr>
          <p:cNvSpPr txBox="1"/>
          <p:nvPr/>
        </p:nvSpPr>
        <p:spPr>
          <a:xfrm>
            <a:off x="8127232" y="5431105"/>
            <a:ext cx="2729337" cy="338554"/>
          </a:xfrm>
          <a:prstGeom prst="rect">
            <a:avLst/>
          </a:prstGeom>
          <a:noFill/>
        </p:spPr>
        <p:txBody>
          <a:bodyPr wrap="none" rtlCol="0">
            <a:spAutoFit/>
          </a:bodyPr>
          <a:lstStyle/>
          <a:p>
            <a:r>
              <a:rPr lang="en-IN" sz="1600" b="1"/>
              <a:t>Project Deadline </a:t>
            </a:r>
            <a:r>
              <a:rPr lang="en-IN" sz="1600"/>
              <a:t>: 03/27/2026</a:t>
            </a:r>
          </a:p>
        </p:txBody>
      </p:sp>
      <p:sp>
        <p:nvSpPr>
          <p:cNvPr id="7" name="TextBox 6">
            <a:extLst>
              <a:ext uri="{FF2B5EF4-FFF2-40B4-BE49-F238E27FC236}">
                <a16:creationId xmlns:a16="http://schemas.microsoft.com/office/drawing/2014/main" id="{6EBB7CD1-7C5E-0156-6781-8A66FD17CAE2}"/>
              </a:ext>
            </a:extLst>
          </p:cNvPr>
          <p:cNvSpPr txBox="1"/>
          <p:nvPr/>
        </p:nvSpPr>
        <p:spPr>
          <a:xfrm>
            <a:off x="8120653" y="3105226"/>
            <a:ext cx="2333139" cy="338554"/>
          </a:xfrm>
          <a:prstGeom prst="rect">
            <a:avLst/>
          </a:prstGeom>
          <a:noFill/>
        </p:spPr>
        <p:txBody>
          <a:bodyPr wrap="none" rtlCol="0">
            <a:spAutoFit/>
          </a:bodyPr>
          <a:lstStyle/>
          <a:p>
            <a:r>
              <a:rPr lang="en-IN" sz="1600" b="1"/>
              <a:t>Development by</a:t>
            </a:r>
            <a:r>
              <a:rPr lang="en-IN" sz="1600"/>
              <a:t> : Sridhar</a:t>
            </a:r>
          </a:p>
        </p:txBody>
      </p:sp>
      <p:sp>
        <p:nvSpPr>
          <p:cNvPr id="8" name="TextBox 7">
            <a:extLst>
              <a:ext uri="{FF2B5EF4-FFF2-40B4-BE49-F238E27FC236}">
                <a16:creationId xmlns:a16="http://schemas.microsoft.com/office/drawing/2014/main" id="{845140E1-7752-EE33-9621-B8560A79DB26}"/>
              </a:ext>
            </a:extLst>
          </p:cNvPr>
          <p:cNvSpPr txBox="1"/>
          <p:nvPr/>
        </p:nvSpPr>
        <p:spPr>
          <a:xfrm>
            <a:off x="8103239" y="4035749"/>
            <a:ext cx="2950038" cy="338554"/>
          </a:xfrm>
          <a:prstGeom prst="rect">
            <a:avLst/>
          </a:prstGeom>
          <a:noFill/>
        </p:spPr>
        <p:txBody>
          <a:bodyPr wrap="none" rtlCol="0">
            <a:spAutoFit/>
          </a:bodyPr>
          <a:lstStyle/>
          <a:p>
            <a:r>
              <a:rPr lang="en-IN" sz="1600" b="1"/>
              <a:t>Project Completion Status  :</a:t>
            </a:r>
            <a:r>
              <a:rPr lang="en-IN" sz="1600"/>
              <a:t> 60%</a:t>
            </a:r>
          </a:p>
        </p:txBody>
      </p:sp>
      <p:sp>
        <p:nvSpPr>
          <p:cNvPr id="18" name="TextBox 17">
            <a:extLst>
              <a:ext uri="{FF2B5EF4-FFF2-40B4-BE49-F238E27FC236}">
                <a16:creationId xmlns:a16="http://schemas.microsoft.com/office/drawing/2014/main" id="{F48908FA-26D6-6151-ECF8-4188020DF330}"/>
              </a:ext>
            </a:extLst>
          </p:cNvPr>
          <p:cNvSpPr txBox="1"/>
          <p:nvPr/>
        </p:nvSpPr>
        <p:spPr>
          <a:xfrm>
            <a:off x="9052558" y="4373010"/>
            <a:ext cx="1657826" cy="415498"/>
          </a:xfrm>
          <a:prstGeom prst="rect">
            <a:avLst/>
          </a:prstGeom>
          <a:noFill/>
        </p:spPr>
        <p:txBody>
          <a:bodyPr wrap="none" rtlCol="0">
            <a:spAutoFit/>
          </a:bodyPr>
          <a:lstStyle/>
          <a:p>
            <a:r>
              <a:rPr lang="en-IN" sz="1050"/>
              <a:t>Design -  Completed</a:t>
            </a:r>
          </a:p>
          <a:p>
            <a:r>
              <a:rPr lang="en-IN" sz="1050"/>
              <a:t>Development – In Progress</a:t>
            </a:r>
          </a:p>
        </p:txBody>
      </p:sp>
      <p:sp>
        <p:nvSpPr>
          <p:cNvPr id="19" name="TextBox 18">
            <a:extLst>
              <a:ext uri="{FF2B5EF4-FFF2-40B4-BE49-F238E27FC236}">
                <a16:creationId xmlns:a16="http://schemas.microsoft.com/office/drawing/2014/main" id="{C51EF5B3-D74E-929F-E3C6-2A4784B13B20}"/>
              </a:ext>
            </a:extLst>
          </p:cNvPr>
          <p:cNvSpPr txBox="1"/>
          <p:nvPr/>
        </p:nvSpPr>
        <p:spPr>
          <a:xfrm>
            <a:off x="8127232" y="4871927"/>
            <a:ext cx="3162771" cy="338554"/>
          </a:xfrm>
          <a:prstGeom prst="rect">
            <a:avLst/>
          </a:prstGeom>
          <a:noFill/>
        </p:spPr>
        <p:txBody>
          <a:bodyPr wrap="square" rtlCol="0">
            <a:spAutoFit/>
          </a:bodyPr>
          <a:lstStyle/>
          <a:p>
            <a:r>
              <a:rPr lang="en-IN" sz="1600" b="1"/>
              <a:t>Next stages :       -</a:t>
            </a:r>
            <a:endParaRPr lang="en-IN" sz="1600"/>
          </a:p>
        </p:txBody>
      </p:sp>
      <p:sp>
        <p:nvSpPr>
          <p:cNvPr id="22" name="TextBox 21">
            <a:extLst>
              <a:ext uri="{FF2B5EF4-FFF2-40B4-BE49-F238E27FC236}">
                <a16:creationId xmlns:a16="http://schemas.microsoft.com/office/drawing/2014/main" id="{5B58B7C0-5C52-B3B8-CFA4-0D4CBF222D3D}"/>
              </a:ext>
            </a:extLst>
          </p:cNvPr>
          <p:cNvSpPr txBox="1"/>
          <p:nvPr/>
        </p:nvSpPr>
        <p:spPr>
          <a:xfrm>
            <a:off x="566834" y="927242"/>
            <a:ext cx="9575541" cy="523220"/>
          </a:xfrm>
          <a:prstGeom prst="rect">
            <a:avLst/>
          </a:prstGeom>
          <a:noFill/>
        </p:spPr>
        <p:txBody>
          <a:bodyPr wrap="square">
            <a:spAutoFit/>
          </a:bodyPr>
          <a:lstStyle/>
          <a:p>
            <a:r>
              <a:rPr lang="en-US" sz="1400"/>
              <a:t>A centralized view of shipment and delivery data that tracks logistics performance, identifies delays, and improves supply chain visibility and efficiency across Legacy AI &amp; Legacy Nova</a:t>
            </a:r>
            <a:endParaRPr lang="en-IN" sz="1400"/>
          </a:p>
        </p:txBody>
      </p:sp>
    </p:spTree>
    <p:extLst>
      <p:ext uri="{BB962C8B-B14F-4D97-AF65-F5344CB8AC3E}">
        <p14:creationId xmlns:p14="http://schemas.microsoft.com/office/powerpoint/2010/main" val="3347796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49075-73D0-7C44-9FF8-E5EC6859CDD8}"/>
              </a:ext>
            </a:extLst>
          </p:cNvPr>
          <p:cNvSpPr>
            <a:spLocks noGrp="1"/>
          </p:cNvSpPr>
          <p:nvPr>
            <p:ph type="title"/>
          </p:nvPr>
        </p:nvSpPr>
        <p:spPr/>
        <p:txBody>
          <a:bodyPr>
            <a:normAutofit/>
          </a:bodyPr>
          <a:lstStyle/>
          <a:p>
            <a:r>
              <a:rPr lang="en-IN"/>
              <a:t>Sustainability Project Status , Milestone &amp; Updates</a:t>
            </a:r>
          </a:p>
        </p:txBody>
      </p:sp>
      <p:sp>
        <p:nvSpPr>
          <p:cNvPr id="4" name="Slide Number Placeholder 3">
            <a:extLst>
              <a:ext uri="{FF2B5EF4-FFF2-40B4-BE49-F238E27FC236}">
                <a16:creationId xmlns:a16="http://schemas.microsoft.com/office/drawing/2014/main" id="{CEE09B7B-CC5B-4439-F3B4-C8042E610FB0}"/>
              </a:ext>
            </a:extLst>
          </p:cNvPr>
          <p:cNvSpPr>
            <a:spLocks noGrp="1"/>
          </p:cNvSpPr>
          <p:nvPr>
            <p:ph type="sldNum" sz="quarter" idx="4"/>
          </p:nvPr>
        </p:nvSpPr>
        <p:spPr/>
        <p:txBody>
          <a:bodyPr/>
          <a:lstStyle/>
          <a:p>
            <a:fld id="{274CC3B9-6596-1243-9665-72A444B9047F}" type="slidenum">
              <a:rPr lang="en-CA" smtClean="0"/>
              <a:pPr/>
              <a:t>20</a:t>
            </a:fld>
            <a:endParaRPr lang="en-CA"/>
          </a:p>
        </p:txBody>
      </p:sp>
      <p:sp>
        <p:nvSpPr>
          <p:cNvPr id="9" name="TextBox 8">
            <a:extLst>
              <a:ext uri="{FF2B5EF4-FFF2-40B4-BE49-F238E27FC236}">
                <a16:creationId xmlns:a16="http://schemas.microsoft.com/office/drawing/2014/main" id="{C07C9419-9291-368A-9579-67A5AD51DE00}"/>
              </a:ext>
            </a:extLst>
          </p:cNvPr>
          <p:cNvSpPr txBox="1"/>
          <p:nvPr/>
        </p:nvSpPr>
        <p:spPr>
          <a:xfrm>
            <a:off x="7642558" y="3128268"/>
            <a:ext cx="2643544" cy="338554"/>
          </a:xfrm>
          <a:prstGeom prst="rect">
            <a:avLst/>
          </a:prstGeom>
          <a:noFill/>
        </p:spPr>
        <p:txBody>
          <a:bodyPr wrap="none" rtlCol="0">
            <a:spAutoFit/>
          </a:bodyPr>
          <a:lstStyle/>
          <a:p>
            <a:r>
              <a:rPr lang="en-IN" sz="1600" b="1"/>
              <a:t>Project Status </a:t>
            </a:r>
            <a:r>
              <a:rPr lang="en-IN" sz="1600"/>
              <a:t>- Development</a:t>
            </a:r>
          </a:p>
        </p:txBody>
      </p:sp>
      <p:sp>
        <p:nvSpPr>
          <p:cNvPr id="10" name="TextBox 9">
            <a:extLst>
              <a:ext uri="{FF2B5EF4-FFF2-40B4-BE49-F238E27FC236}">
                <a16:creationId xmlns:a16="http://schemas.microsoft.com/office/drawing/2014/main" id="{D81CCE71-A2A4-4CDD-F59A-95262C1F55CD}"/>
              </a:ext>
            </a:extLst>
          </p:cNvPr>
          <p:cNvSpPr txBox="1"/>
          <p:nvPr/>
        </p:nvSpPr>
        <p:spPr>
          <a:xfrm>
            <a:off x="7642558" y="5571514"/>
            <a:ext cx="2729337" cy="338554"/>
          </a:xfrm>
          <a:prstGeom prst="rect">
            <a:avLst/>
          </a:prstGeom>
          <a:noFill/>
        </p:spPr>
        <p:txBody>
          <a:bodyPr wrap="none" rtlCol="0">
            <a:spAutoFit/>
          </a:bodyPr>
          <a:lstStyle/>
          <a:p>
            <a:r>
              <a:rPr lang="en-IN" sz="1600" b="1"/>
              <a:t>Project Deadline </a:t>
            </a:r>
            <a:r>
              <a:rPr lang="en-IN" sz="1600"/>
              <a:t>: 04/03/2026</a:t>
            </a:r>
          </a:p>
        </p:txBody>
      </p:sp>
      <p:sp>
        <p:nvSpPr>
          <p:cNvPr id="11" name="TextBox 10">
            <a:extLst>
              <a:ext uri="{FF2B5EF4-FFF2-40B4-BE49-F238E27FC236}">
                <a16:creationId xmlns:a16="http://schemas.microsoft.com/office/drawing/2014/main" id="{ED583356-C097-5EB3-0AD4-3559BF2F6EF4}"/>
              </a:ext>
            </a:extLst>
          </p:cNvPr>
          <p:cNvSpPr txBox="1"/>
          <p:nvPr/>
        </p:nvSpPr>
        <p:spPr>
          <a:xfrm>
            <a:off x="7642558" y="2201646"/>
            <a:ext cx="2702086" cy="338554"/>
          </a:xfrm>
          <a:prstGeom prst="rect">
            <a:avLst/>
          </a:prstGeom>
          <a:noFill/>
        </p:spPr>
        <p:txBody>
          <a:bodyPr wrap="none" rtlCol="0">
            <a:spAutoFit/>
          </a:bodyPr>
          <a:lstStyle/>
          <a:p>
            <a:r>
              <a:rPr lang="en-IN" sz="1600" b="1"/>
              <a:t>Project Kick off </a:t>
            </a:r>
            <a:r>
              <a:rPr lang="en-IN" sz="1600"/>
              <a:t>–  02/20/2026</a:t>
            </a:r>
          </a:p>
        </p:txBody>
      </p:sp>
      <p:sp>
        <p:nvSpPr>
          <p:cNvPr id="12" name="TextBox 11">
            <a:extLst>
              <a:ext uri="{FF2B5EF4-FFF2-40B4-BE49-F238E27FC236}">
                <a16:creationId xmlns:a16="http://schemas.microsoft.com/office/drawing/2014/main" id="{0C9E2417-EAFE-9188-083B-1EEB1549DE0C}"/>
              </a:ext>
            </a:extLst>
          </p:cNvPr>
          <p:cNvSpPr txBox="1"/>
          <p:nvPr/>
        </p:nvSpPr>
        <p:spPr>
          <a:xfrm>
            <a:off x="7642558" y="2671014"/>
            <a:ext cx="2657459" cy="338554"/>
          </a:xfrm>
          <a:prstGeom prst="rect">
            <a:avLst/>
          </a:prstGeom>
          <a:noFill/>
        </p:spPr>
        <p:txBody>
          <a:bodyPr wrap="none" rtlCol="0">
            <a:spAutoFit/>
          </a:bodyPr>
          <a:lstStyle/>
          <a:p>
            <a:r>
              <a:rPr lang="en-IN" sz="1600" b="1"/>
              <a:t>Development by</a:t>
            </a:r>
            <a:r>
              <a:rPr lang="en-IN" sz="1600"/>
              <a:t> : Thenmozhi</a:t>
            </a:r>
          </a:p>
        </p:txBody>
      </p:sp>
      <p:sp>
        <p:nvSpPr>
          <p:cNvPr id="13" name="TextBox 12">
            <a:extLst>
              <a:ext uri="{FF2B5EF4-FFF2-40B4-BE49-F238E27FC236}">
                <a16:creationId xmlns:a16="http://schemas.microsoft.com/office/drawing/2014/main" id="{B6FDD5A0-A8B4-507B-7930-913246565D8A}"/>
              </a:ext>
            </a:extLst>
          </p:cNvPr>
          <p:cNvSpPr txBox="1"/>
          <p:nvPr/>
        </p:nvSpPr>
        <p:spPr>
          <a:xfrm>
            <a:off x="7625190" y="1322402"/>
            <a:ext cx="3572898" cy="338554"/>
          </a:xfrm>
          <a:prstGeom prst="rect">
            <a:avLst/>
          </a:prstGeom>
          <a:noFill/>
        </p:spPr>
        <p:txBody>
          <a:bodyPr wrap="square" rtlCol="0">
            <a:spAutoFit/>
          </a:bodyPr>
          <a:lstStyle/>
          <a:p>
            <a:r>
              <a:rPr lang="en-IN" sz="1600" b="1"/>
              <a:t>Client</a:t>
            </a:r>
            <a:r>
              <a:rPr lang="en-IN" sz="1600"/>
              <a:t> : Kyle White &amp; Bjoern Carle</a:t>
            </a:r>
          </a:p>
        </p:txBody>
      </p:sp>
      <p:sp>
        <p:nvSpPr>
          <p:cNvPr id="14" name="TextBox 13">
            <a:extLst>
              <a:ext uri="{FF2B5EF4-FFF2-40B4-BE49-F238E27FC236}">
                <a16:creationId xmlns:a16="http://schemas.microsoft.com/office/drawing/2014/main" id="{E3FF09C3-D04C-F0AA-B5AF-3B7710F7C07F}"/>
              </a:ext>
            </a:extLst>
          </p:cNvPr>
          <p:cNvSpPr txBox="1"/>
          <p:nvPr/>
        </p:nvSpPr>
        <p:spPr>
          <a:xfrm>
            <a:off x="7642558" y="3633078"/>
            <a:ext cx="2956450" cy="338554"/>
          </a:xfrm>
          <a:prstGeom prst="rect">
            <a:avLst/>
          </a:prstGeom>
          <a:noFill/>
        </p:spPr>
        <p:txBody>
          <a:bodyPr wrap="none" rtlCol="0">
            <a:spAutoFit/>
          </a:bodyPr>
          <a:lstStyle/>
          <a:p>
            <a:r>
              <a:rPr lang="en-IN" sz="1600" b="1"/>
              <a:t>Project Completion Status  </a:t>
            </a:r>
            <a:r>
              <a:rPr lang="en-IN" sz="1600"/>
              <a:t>- 50%</a:t>
            </a:r>
          </a:p>
        </p:txBody>
      </p:sp>
      <p:sp>
        <p:nvSpPr>
          <p:cNvPr id="15" name="TextBox 14">
            <a:extLst>
              <a:ext uri="{FF2B5EF4-FFF2-40B4-BE49-F238E27FC236}">
                <a16:creationId xmlns:a16="http://schemas.microsoft.com/office/drawing/2014/main" id="{A2B8EBB6-B78F-E79E-1BE3-7222599AF65E}"/>
              </a:ext>
            </a:extLst>
          </p:cNvPr>
          <p:cNvSpPr txBox="1"/>
          <p:nvPr/>
        </p:nvSpPr>
        <p:spPr>
          <a:xfrm>
            <a:off x="7642558" y="1721132"/>
            <a:ext cx="2618345" cy="338554"/>
          </a:xfrm>
          <a:prstGeom prst="rect">
            <a:avLst/>
          </a:prstGeom>
          <a:noFill/>
        </p:spPr>
        <p:txBody>
          <a:bodyPr wrap="none" rtlCol="0">
            <a:spAutoFit/>
          </a:bodyPr>
          <a:lstStyle/>
          <a:p>
            <a:r>
              <a:rPr lang="en-IN" sz="1600" b="1"/>
              <a:t>Project Owned by </a:t>
            </a:r>
            <a:r>
              <a:rPr lang="en-IN" sz="1600"/>
              <a:t>– Jay Jantz</a:t>
            </a:r>
          </a:p>
        </p:txBody>
      </p:sp>
      <p:sp>
        <p:nvSpPr>
          <p:cNvPr id="16" name="TextBox 15">
            <a:extLst>
              <a:ext uri="{FF2B5EF4-FFF2-40B4-BE49-F238E27FC236}">
                <a16:creationId xmlns:a16="http://schemas.microsoft.com/office/drawing/2014/main" id="{0E71151F-3F66-8D3C-C7F3-30D314306A9A}"/>
              </a:ext>
            </a:extLst>
          </p:cNvPr>
          <p:cNvSpPr txBox="1"/>
          <p:nvPr/>
        </p:nvSpPr>
        <p:spPr>
          <a:xfrm>
            <a:off x="7839045" y="3894706"/>
            <a:ext cx="2482924" cy="830997"/>
          </a:xfrm>
          <a:prstGeom prst="rect">
            <a:avLst/>
          </a:prstGeom>
          <a:noFill/>
        </p:spPr>
        <p:txBody>
          <a:bodyPr wrap="none" rtlCol="0">
            <a:spAutoFit/>
          </a:bodyPr>
          <a:lstStyle/>
          <a:p>
            <a:r>
              <a:rPr lang="en-IN" sz="1200"/>
              <a:t>Requirement Gathering – Completed</a:t>
            </a:r>
            <a:br>
              <a:rPr lang="en-IN" sz="1200"/>
            </a:br>
            <a:r>
              <a:rPr lang="en-IN" sz="1200"/>
              <a:t>Data Collection - Completed</a:t>
            </a:r>
            <a:br>
              <a:rPr lang="en-IN" sz="1200"/>
            </a:br>
            <a:r>
              <a:rPr lang="en-IN" sz="1200"/>
              <a:t>Design -  Completed</a:t>
            </a:r>
          </a:p>
          <a:p>
            <a:r>
              <a:rPr lang="en-IN" sz="1200"/>
              <a:t>Ingestion - In Progress</a:t>
            </a:r>
          </a:p>
        </p:txBody>
      </p:sp>
      <p:sp>
        <p:nvSpPr>
          <p:cNvPr id="17" name="TextBox 16">
            <a:extLst>
              <a:ext uri="{FF2B5EF4-FFF2-40B4-BE49-F238E27FC236}">
                <a16:creationId xmlns:a16="http://schemas.microsoft.com/office/drawing/2014/main" id="{52F6A24A-4FF1-921F-80F3-5A283DB7BDD9}"/>
              </a:ext>
            </a:extLst>
          </p:cNvPr>
          <p:cNvSpPr txBox="1"/>
          <p:nvPr/>
        </p:nvSpPr>
        <p:spPr>
          <a:xfrm>
            <a:off x="7642558" y="4986720"/>
            <a:ext cx="3830985" cy="338554"/>
          </a:xfrm>
          <a:prstGeom prst="rect">
            <a:avLst/>
          </a:prstGeom>
          <a:noFill/>
        </p:spPr>
        <p:txBody>
          <a:bodyPr wrap="none" rtlCol="0">
            <a:spAutoFit/>
          </a:bodyPr>
          <a:lstStyle/>
          <a:p>
            <a:r>
              <a:rPr lang="en-IN" sz="1600" b="1"/>
              <a:t>Next stages </a:t>
            </a:r>
            <a:r>
              <a:rPr lang="en-IN" sz="1600"/>
              <a:t>: Semantic Model Development</a:t>
            </a:r>
          </a:p>
        </p:txBody>
      </p:sp>
      <p:pic>
        <p:nvPicPr>
          <p:cNvPr id="34" name="Picture 33">
            <a:extLst>
              <a:ext uri="{FF2B5EF4-FFF2-40B4-BE49-F238E27FC236}">
                <a16:creationId xmlns:a16="http://schemas.microsoft.com/office/drawing/2014/main" id="{F007C840-0634-5CE6-8B8A-3ED20674DDCE}"/>
              </a:ext>
            </a:extLst>
          </p:cNvPr>
          <p:cNvPicPr>
            <a:picLocks noChangeAspect="1"/>
          </p:cNvPicPr>
          <p:nvPr/>
        </p:nvPicPr>
        <p:blipFill>
          <a:blip r:embed="rId2"/>
          <a:stretch>
            <a:fillRect/>
          </a:stretch>
        </p:blipFill>
        <p:spPr>
          <a:xfrm>
            <a:off x="1101011" y="4457742"/>
            <a:ext cx="5265013" cy="1526723"/>
          </a:xfrm>
          <a:prstGeom prst="rect">
            <a:avLst/>
          </a:prstGeom>
        </p:spPr>
      </p:pic>
      <p:pic>
        <p:nvPicPr>
          <p:cNvPr id="36" name="Picture 35">
            <a:extLst>
              <a:ext uri="{FF2B5EF4-FFF2-40B4-BE49-F238E27FC236}">
                <a16:creationId xmlns:a16="http://schemas.microsoft.com/office/drawing/2014/main" id="{8D20B47F-7965-26BB-2C4D-94B98BFA522E}"/>
              </a:ext>
            </a:extLst>
          </p:cNvPr>
          <p:cNvPicPr>
            <a:picLocks noChangeAspect="1"/>
          </p:cNvPicPr>
          <p:nvPr/>
        </p:nvPicPr>
        <p:blipFill>
          <a:blip r:embed="rId3"/>
          <a:stretch>
            <a:fillRect/>
          </a:stretch>
        </p:blipFill>
        <p:spPr>
          <a:xfrm>
            <a:off x="1535464" y="1322401"/>
            <a:ext cx="4266464" cy="3019967"/>
          </a:xfrm>
          <a:prstGeom prst="rect">
            <a:avLst/>
          </a:prstGeom>
        </p:spPr>
      </p:pic>
      <p:sp>
        <p:nvSpPr>
          <p:cNvPr id="38" name="TextBox 37">
            <a:extLst>
              <a:ext uri="{FF2B5EF4-FFF2-40B4-BE49-F238E27FC236}">
                <a16:creationId xmlns:a16="http://schemas.microsoft.com/office/drawing/2014/main" id="{BAAAEB57-D259-8CDF-ACB3-B3F67B016D6A}"/>
              </a:ext>
            </a:extLst>
          </p:cNvPr>
          <p:cNvSpPr txBox="1"/>
          <p:nvPr/>
        </p:nvSpPr>
        <p:spPr>
          <a:xfrm>
            <a:off x="465667" y="826006"/>
            <a:ext cx="10824374" cy="461665"/>
          </a:xfrm>
          <a:prstGeom prst="rect">
            <a:avLst/>
          </a:prstGeom>
          <a:noFill/>
        </p:spPr>
        <p:txBody>
          <a:bodyPr wrap="square">
            <a:spAutoFit/>
          </a:bodyPr>
          <a:lstStyle/>
          <a:p>
            <a:r>
              <a:rPr lang="en-US" sz="1200"/>
              <a:t>Sustainability report consolidates all global Nova and AI utility consumption data, automates Scope 1 and Scope 2 emissions calculations, and enables real-time reporting throughout the year. </a:t>
            </a:r>
            <a:endParaRPr lang="en-IN" sz="1200"/>
          </a:p>
        </p:txBody>
      </p:sp>
    </p:spTree>
    <p:extLst>
      <p:ext uri="{BB962C8B-B14F-4D97-AF65-F5344CB8AC3E}">
        <p14:creationId xmlns:p14="http://schemas.microsoft.com/office/powerpoint/2010/main" val="1840151882"/>
      </p:ext>
    </p:extLst>
  </p:cSld>
  <p:clrMapOvr>
    <a:masterClrMapping/>
  </p:clrMapOvr>
</p:sld>
</file>

<file path=ppt/theme/theme1.xml><?xml version="1.0" encoding="utf-8"?>
<a:theme xmlns:a="http://schemas.openxmlformats.org/drawingml/2006/main" name="4_Office Theme">
  <a:themeElements>
    <a:clrScheme name="Custom 2">
      <a:dk1>
        <a:srgbClr val="3F3F3F"/>
      </a:dk1>
      <a:lt1>
        <a:srgbClr val="FFFFFF"/>
      </a:lt1>
      <a:dk2>
        <a:srgbClr val="002060"/>
      </a:dk2>
      <a:lt2>
        <a:srgbClr val="E7E6E6"/>
      </a:lt2>
      <a:accent1>
        <a:srgbClr val="D8D8D8"/>
      </a:accent1>
      <a:accent2>
        <a:srgbClr val="7F7F7F"/>
      </a:accent2>
      <a:accent3>
        <a:srgbClr val="0070C0"/>
      </a:accent3>
      <a:accent4>
        <a:srgbClr val="F4B183"/>
      </a:accent4>
      <a:accent5>
        <a:srgbClr val="000066"/>
      </a:accent5>
      <a:accent6>
        <a:srgbClr val="ED7D31"/>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48aca04-575f-490f-b824-883528be4c9e">
      <Terms xmlns="http://schemas.microsoft.com/office/infopath/2007/PartnerControls"/>
    </lcf76f155ced4ddcb4097134ff3c332f>
    <TaxCatchAll xmlns="5d6593c5-e4e3-4069-8908-67830756f2c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84A132C21D1ED47BE53CCDBFC9DAD65" ma:contentTypeVersion="10" ma:contentTypeDescription="Create a new document." ma:contentTypeScope="" ma:versionID="cd660a76007682086f7f32db33061f3e">
  <xsd:schema xmlns:xsd="http://www.w3.org/2001/XMLSchema" xmlns:xs="http://www.w3.org/2001/XMLSchema" xmlns:p="http://schemas.microsoft.com/office/2006/metadata/properties" xmlns:ns2="948aca04-575f-490f-b824-883528be4c9e" xmlns:ns3="5d6593c5-e4e3-4069-8908-67830756f2c7" targetNamespace="http://schemas.microsoft.com/office/2006/metadata/properties" ma:root="true" ma:fieldsID="89c51b9272f4787bd75e3956010924a0" ns2:_="" ns3:_="">
    <xsd:import namespace="948aca04-575f-490f-b824-883528be4c9e"/>
    <xsd:import namespace="5d6593c5-e4e3-4069-8908-67830756f2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8aca04-575f-490f-b824-883528be4c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222d1f1-43e3-4405-90dd-222f4591eb2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d6593c5-e4e3-4069-8908-67830756f2c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334cb06-5bd9-4681-ae05-828fb9ec4524}" ma:internalName="TaxCatchAll" ma:showField="CatchAllData" ma:web="5d6593c5-e4e3-4069-8908-67830756f2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598447-3FD9-450E-AE49-94A1B8B448FE}">
  <ds:schemaRefs>
    <ds:schemaRef ds:uri="5d6593c5-e4e3-4069-8908-67830756f2c7"/>
    <ds:schemaRef ds:uri="948aca04-575f-490f-b824-883528be4c9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37FBD6F-D087-4A22-BD85-6CDBC40CAD14}">
  <ds:schemaRefs>
    <ds:schemaRef ds:uri="http://schemas.microsoft.com/sharepoint/v3/contenttype/forms"/>
  </ds:schemaRefs>
</ds:datastoreItem>
</file>

<file path=customXml/itemProps3.xml><?xml version="1.0" encoding="utf-8"?>
<ds:datastoreItem xmlns:ds="http://schemas.openxmlformats.org/officeDocument/2006/customXml" ds:itemID="{92B5FF8D-B902-46B1-8762-504A9E152D97}">
  <ds:schemaRefs>
    <ds:schemaRef ds:uri="5d6593c5-e4e3-4069-8908-67830756f2c7"/>
    <ds:schemaRef ds:uri="948aca04-575f-490f-b824-883528be4c9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19</TotalTime>
  <Words>3010</Words>
  <Application>Microsoft Office PowerPoint</Application>
  <PresentationFormat>Widescreen</PresentationFormat>
  <Paragraphs>524</Paragraphs>
  <Slides>20</Slides>
  <Notes>5</Notes>
  <HiddenSlides>3</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Aptos</vt:lpstr>
      <vt:lpstr>Arial</vt:lpstr>
      <vt:lpstr>Calibri</vt:lpstr>
      <vt:lpstr>Exo</vt:lpstr>
      <vt:lpstr>Garamond</vt:lpstr>
      <vt:lpstr>Montserrat SemiBold</vt:lpstr>
      <vt:lpstr>Roboto</vt:lpstr>
      <vt:lpstr>Roboto Condensed Light</vt:lpstr>
      <vt:lpstr>Segoe UI Historic</vt:lpstr>
      <vt:lpstr>Wingdings</vt:lpstr>
      <vt:lpstr>4_Office Theme</vt:lpstr>
      <vt:lpstr>PowerPoint Presentation</vt:lpstr>
      <vt:lpstr>Engagement Summary</vt:lpstr>
      <vt:lpstr>PowerPoint Presentation</vt:lpstr>
      <vt:lpstr>PowerPoint Presentation</vt:lpstr>
      <vt:lpstr>Team Structure &amp; Escalation Model</vt:lpstr>
      <vt:lpstr>Monitoring &amp; Governance Capabilities</vt:lpstr>
      <vt:lpstr>Engagement Model - How We Operate</vt:lpstr>
      <vt:lpstr>AI Nova Biomedical Knowledge Agent</vt:lpstr>
      <vt:lpstr>Weekly Status Report – Nova Biomedical Management Report : | Week of August 31– September 04, 2026</vt:lpstr>
      <vt:lpstr>Professional Accomplishment</vt:lpstr>
      <vt:lpstr>Client Testimonial </vt:lpstr>
      <vt:lpstr>PowerPoint Presentation</vt:lpstr>
      <vt:lpstr>Nova Biomedical – Business Process</vt:lpstr>
      <vt:lpstr>Project Coverage</vt:lpstr>
      <vt:lpstr>Engagement Overview + Journey</vt:lpstr>
      <vt:lpstr>Project Overview - Nova Biomedical Technical Challenges &amp; Solution</vt:lpstr>
      <vt:lpstr>NOVA Dataplatform- Data Democritization - Medallion Architecture(2026)</vt:lpstr>
      <vt:lpstr>Consolidated Booking Project Status , Milestone &amp; Updates</vt:lpstr>
      <vt:lpstr>Consolidated Shipping Project Status , Milestone &amp; Updates</vt:lpstr>
      <vt:lpstr>Sustainability Project Status , Milestone &amp; Updates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Yakin V</dc:creator>
  <cp:lastModifiedBy>Ravi M</cp:lastModifiedBy>
  <cp:revision>6</cp:revision>
  <dcterms:created xsi:type="dcterms:W3CDTF">2026-03-24T22:50:57Z</dcterms:created>
  <dcterms:modified xsi:type="dcterms:W3CDTF">2026-09-23T12:31:18Z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0x010100784A132C21D1ED47BE53CCDBFC9DAD65</vt:lpwstr>
  </property>
  <property fmtid="{D5CDD505-2E9C-101B-9397-08002B2CF9AE}" pid="3" name="MediaServiceImageTags">
    <vt:lpwstr/>
  </property>
</Properties>
</file>
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3419" r:id="rId5"/>
    <p:sldId id="5462" r:id="rId6"/>
    <p:sldId id="5466" r:id="rId7"/>
    <p:sldId id="5461" r:id="rId8"/>
    <p:sldId id="259" r:id="rId9"/>
    <p:sldId id="54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D7DEA1-6C15-4278-B357-8EB70E0DDDB5}">
          <p14:sldIdLst>
            <p14:sldId id="3419"/>
            <p14:sldId id="5462"/>
            <p14:sldId id="5466"/>
            <p14:sldId id="5461"/>
            <p14:sldId id="259"/>
            <p14:sldId id="5465"/>
          </p14:sldIdLst>
        </p14:section>
        <p14:section name="Appendix" id="{B1004C36-53E7-4F07-8DF9-F0DD85748B6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FF"/>
    <a:srgbClr val="FBC3C4"/>
    <a:srgbClr val="C1F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125D1-FA27-DDEA-E4D4-E41D022B1064}" v="15" dt="2026-08-17T13:47:56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FD70FD-4E7F-44AB-8D11-D2BA66FA06CF}" type="doc">
      <dgm:prSet loTypeId="urn:microsoft.com/office/officeart/2005/8/layout/process2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D4CFC292-7C9E-4C46-9DE4-A711EE37016E}">
      <dgm:prSet phldrT="[Text]" phldr="0" custT="1"/>
      <dgm:spPr/>
      <dgm:t>
        <a:bodyPr/>
        <a:lstStyle/>
        <a:p>
          <a:pPr rtl="0"/>
          <a:r>
            <a:rPr lang="en-US" sz="1800" b="1">
              <a:latin typeface="Calibri" panose="020F0502020204030204"/>
            </a:rPr>
            <a:t>Technical Team</a:t>
          </a:r>
          <a:endParaRPr lang="en-US" sz="1800" b="1"/>
        </a:p>
      </dgm:t>
    </dgm:pt>
    <dgm:pt modelId="{46F60B05-3AE5-4A48-A167-B596B5940AE4}" type="parTrans" cxnId="{571F9FBC-0C1F-4FBB-A94B-DE13E58B8822}">
      <dgm:prSet/>
      <dgm:spPr/>
      <dgm:t>
        <a:bodyPr/>
        <a:lstStyle/>
        <a:p>
          <a:endParaRPr lang="en-IN"/>
        </a:p>
      </dgm:t>
    </dgm:pt>
    <dgm:pt modelId="{6D39D551-BD99-464F-A520-2932911D488E}" type="sibTrans" cxnId="{571F9FBC-0C1F-4FBB-A94B-DE13E58B8822}">
      <dgm:prSet/>
      <dgm:spPr/>
      <dgm:t>
        <a:bodyPr/>
        <a:lstStyle/>
        <a:p>
          <a:endParaRPr lang="en-US"/>
        </a:p>
      </dgm:t>
    </dgm:pt>
    <dgm:pt modelId="{89DCF10A-9EF9-49D4-A8C4-F3444D0DD4A8}">
      <dgm:prSet phldrT="[Text]" phldr="0" custT="1"/>
      <dgm:spPr/>
      <dgm:t>
        <a:bodyPr/>
        <a:lstStyle/>
        <a:p>
          <a:pPr rtl="0"/>
          <a:r>
            <a:rPr lang="en-US" sz="1600" b="1">
              <a:latin typeface="Calibri" panose="020F0502020204030204"/>
            </a:rPr>
            <a:t>Delivery Manager</a:t>
          </a:r>
          <a:endParaRPr lang="en-US" sz="1600" b="1"/>
        </a:p>
      </dgm:t>
    </dgm:pt>
    <dgm:pt modelId="{61AE9345-80B7-4A8F-BE79-BF6B7BE09094}" type="parTrans" cxnId="{D541761C-7ECA-4296-9E10-1D7D8BF5B36C}">
      <dgm:prSet/>
      <dgm:spPr/>
      <dgm:t>
        <a:bodyPr/>
        <a:lstStyle/>
        <a:p>
          <a:endParaRPr lang="en-IN"/>
        </a:p>
      </dgm:t>
    </dgm:pt>
    <dgm:pt modelId="{734DBF20-9BBE-489C-8587-47781C06FC24}" type="sibTrans" cxnId="{D541761C-7ECA-4296-9E10-1D7D8BF5B36C}">
      <dgm:prSet/>
      <dgm:spPr/>
      <dgm:t>
        <a:bodyPr/>
        <a:lstStyle/>
        <a:p>
          <a:endParaRPr lang="en-US"/>
        </a:p>
      </dgm:t>
    </dgm:pt>
    <dgm:pt modelId="{89A2445B-896C-40AA-A6EA-AC586F399032}">
      <dgm:prSet phldrT="[Text]" phldr="0" custT="1"/>
      <dgm:spPr/>
      <dgm:t>
        <a:bodyPr/>
        <a:lstStyle/>
        <a:p>
          <a:pPr rtl="0"/>
          <a:r>
            <a:rPr lang="en-US" sz="1800" b="1">
              <a:latin typeface="Calibri" panose="020F0502020204030204"/>
            </a:rPr>
            <a:t>Program</a:t>
          </a:r>
          <a:br>
            <a:rPr lang="en-US" sz="1800" b="1">
              <a:latin typeface="Calibri" panose="020F0502020204030204"/>
            </a:rPr>
          </a:br>
          <a:r>
            <a:rPr lang="en-US" sz="1800" b="1">
              <a:latin typeface="Calibri" panose="020F0502020204030204"/>
            </a:rPr>
            <a:t>Manager</a:t>
          </a:r>
          <a:endParaRPr lang="en-US" sz="1800" b="1"/>
        </a:p>
      </dgm:t>
    </dgm:pt>
    <dgm:pt modelId="{D3A7EC3B-FC15-4798-9F43-FB65C573D0D8}" type="parTrans" cxnId="{0B827A08-65AD-41C1-BF0A-E997CEDE7861}">
      <dgm:prSet/>
      <dgm:spPr/>
      <dgm:t>
        <a:bodyPr/>
        <a:lstStyle/>
        <a:p>
          <a:endParaRPr lang="en-IN"/>
        </a:p>
      </dgm:t>
    </dgm:pt>
    <dgm:pt modelId="{58C82A68-5DEE-469F-9083-78210DF587FB}" type="sibTrans" cxnId="{0B827A08-65AD-41C1-BF0A-E997CEDE7861}">
      <dgm:prSet/>
      <dgm:spPr/>
      <dgm:t>
        <a:bodyPr/>
        <a:lstStyle/>
        <a:p>
          <a:endParaRPr lang="en-IN"/>
        </a:p>
      </dgm:t>
    </dgm:pt>
    <dgm:pt modelId="{792B3B9F-EF83-4FE3-A094-3B61FDDA4025}" type="pres">
      <dgm:prSet presAssocID="{BAFD70FD-4E7F-44AB-8D11-D2BA66FA06CF}" presName="linearFlow" presStyleCnt="0">
        <dgm:presLayoutVars>
          <dgm:resizeHandles val="exact"/>
        </dgm:presLayoutVars>
      </dgm:prSet>
      <dgm:spPr/>
    </dgm:pt>
    <dgm:pt modelId="{F2DA9A74-2CC2-42E5-9A34-787AC5C50837}" type="pres">
      <dgm:prSet presAssocID="{D4CFC292-7C9E-4C46-9DE4-A711EE37016E}" presName="node" presStyleLbl="node1" presStyleIdx="0" presStyleCnt="3">
        <dgm:presLayoutVars>
          <dgm:bulletEnabled val="1"/>
        </dgm:presLayoutVars>
      </dgm:prSet>
      <dgm:spPr/>
    </dgm:pt>
    <dgm:pt modelId="{2F3F86FD-0A2A-4E9A-A864-56C4FF3A4080}" type="pres">
      <dgm:prSet presAssocID="{6D39D551-BD99-464F-A520-2932911D488E}" presName="sibTrans" presStyleLbl="sibTrans2D1" presStyleIdx="0" presStyleCnt="2"/>
      <dgm:spPr/>
    </dgm:pt>
    <dgm:pt modelId="{0B761F35-BC3C-4D20-A8B9-DD5356EE34E9}" type="pres">
      <dgm:prSet presAssocID="{6D39D551-BD99-464F-A520-2932911D488E}" presName="connectorText" presStyleLbl="sibTrans2D1" presStyleIdx="0" presStyleCnt="2"/>
      <dgm:spPr/>
    </dgm:pt>
    <dgm:pt modelId="{2166222E-D09A-4620-AF42-6BCBAF39FCB7}" type="pres">
      <dgm:prSet presAssocID="{89DCF10A-9EF9-49D4-A8C4-F3444D0DD4A8}" presName="node" presStyleLbl="node1" presStyleIdx="1" presStyleCnt="3">
        <dgm:presLayoutVars>
          <dgm:bulletEnabled val="1"/>
        </dgm:presLayoutVars>
      </dgm:prSet>
      <dgm:spPr/>
    </dgm:pt>
    <dgm:pt modelId="{35454EEE-9E0D-4292-BDC7-5F927045E79C}" type="pres">
      <dgm:prSet presAssocID="{734DBF20-9BBE-489C-8587-47781C06FC24}" presName="sibTrans" presStyleLbl="sibTrans2D1" presStyleIdx="1" presStyleCnt="2"/>
      <dgm:spPr/>
    </dgm:pt>
    <dgm:pt modelId="{C6C7296B-032D-4324-80B0-40DC1F83F372}" type="pres">
      <dgm:prSet presAssocID="{734DBF20-9BBE-489C-8587-47781C06FC24}" presName="connectorText" presStyleLbl="sibTrans2D1" presStyleIdx="1" presStyleCnt="2"/>
      <dgm:spPr/>
    </dgm:pt>
    <dgm:pt modelId="{0384D156-41B6-46B2-8B47-EFCC5CD1F664}" type="pres">
      <dgm:prSet presAssocID="{89A2445B-896C-40AA-A6EA-AC586F399032}" presName="node" presStyleLbl="node1" presStyleIdx="2" presStyleCnt="3">
        <dgm:presLayoutVars>
          <dgm:bulletEnabled val="1"/>
        </dgm:presLayoutVars>
      </dgm:prSet>
      <dgm:spPr/>
    </dgm:pt>
  </dgm:ptLst>
  <dgm:cxnLst>
    <dgm:cxn modelId="{0B827A08-65AD-41C1-BF0A-E997CEDE7861}" srcId="{BAFD70FD-4E7F-44AB-8D11-D2BA66FA06CF}" destId="{89A2445B-896C-40AA-A6EA-AC586F399032}" srcOrd="2" destOrd="0" parTransId="{D3A7EC3B-FC15-4798-9F43-FB65C573D0D8}" sibTransId="{58C82A68-5DEE-469F-9083-78210DF587FB}"/>
    <dgm:cxn modelId="{D541761C-7ECA-4296-9E10-1D7D8BF5B36C}" srcId="{BAFD70FD-4E7F-44AB-8D11-D2BA66FA06CF}" destId="{89DCF10A-9EF9-49D4-A8C4-F3444D0DD4A8}" srcOrd="1" destOrd="0" parTransId="{61AE9345-80B7-4A8F-BE79-BF6B7BE09094}" sibTransId="{734DBF20-9BBE-489C-8587-47781C06FC24}"/>
    <dgm:cxn modelId="{8B013C55-3854-4C69-B434-632AD3861743}" type="presOf" srcId="{D4CFC292-7C9E-4C46-9DE4-A711EE37016E}" destId="{F2DA9A74-2CC2-42E5-9A34-787AC5C50837}" srcOrd="0" destOrd="0" presId="urn:microsoft.com/office/officeart/2005/8/layout/process2"/>
    <dgm:cxn modelId="{072B2685-FFC6-4A60-ACB7-1A349A085234}" type="presOf" srcId="{734DBF20-9BBE-489C-8587-47781C06FC24}" destId="{35454EEE-9E0D-4292-BDC7-5F927045E79C}" srcOrd="0" destOrd="0" presId="urn:microsoft.com/office/officeart/2005/8/layout/process2"/>
    <dgm:cxn modelId="{F696339D-CDAD-4F0A-94F0-EE4FB7F01841}" type="presOf" srcId="{89DCF10A-9EF9-49D4-A8C4-F3444D0DD4A8}" destId="{2166222E-D09A-4620-AF42-6BCBAF39FCB7}" srcOrd="0" destOrd="0" presId="urn:microsoft.com/office/officeart/2005/8/layout/process2"/>
    <dgm:cxn modelId="{103A199F-9F02-47D6-B496-D90E88A7B984}" type="presOf" srcId="{89A2445B-896C-40AA-A6EA-AC586F399032}" destId="{0384D156-41B6-46B2-8B47-EFCC5CD1F664}" srcOrd="0" destOrd="0" presId="urn:microsoft.com/office/officeart/2005/8/layout/process2"/>
    <dgm:cxn modelId="{EC17CAAB-3995-47FE-95E1-20D134B1CA20}" type="presOf" srcId="{BAFD70FD-4E7F-44AB-8D11-D2BA66FA06CF}" destId="{792B3B9F-EF83-4FE3-A094-3B61FDDA4025}" srcOrd="0" destOrd="0" presId="urn:microsoft.com/office/officeart/2005/8/layout/process2"/>
    <dgm:cxn modelId="{EB9CF7AE-99A8-4D47-8F23-B8E91DE9C838}" type="presOf" srcId="{6D39D551-BD99-464F-A520-2932911D488E}" destId="{0B761F35-BC3C-4D20-A8B9-DD5356EE34E9}" srcOrd="1" destOrd="0" presId="urn:microsoft.com/office/officeart/2005/8/layout/process2"/>
    <dgm:cxn modelId="{571F9FBC-0C1F-4FBB-A94B-DE13E58B8822}" srcId="{BAFD70FD-4E7F-44AB-8D11-D2BA66FA06CF}" destId="{D4CFC292-7C9E-4C46-9DE4-A711EE37016E}" srcOrd="0" destOrd="0" parTransId="{46F60B05-3AE5-4A48-A167-B596B5940AE4}" sibTransId="{6D39D551-BD99-464F-A520-2932911D488E}"/>
    <dgm:cxn modelId="{FE5799CB-D3AB-47F9-A67E-36C449FA9C5E}" type="presOf" srcId="{6D39D551-BD99-464F-A520-2932911D488E}" destId="{2F3F86FD-0A2A-4E9A-A864-56C4FF3A4080}" srcOrd="0" destOrd="0" presId="urn:microsoft.com/office/officeart/2005/8/layout/process2"/>
    <dgm:cxn modelId="{CAF3BED1-1B51-4338-B300-9D82E4D4B48D}" type="presOf" srcId="{734DBF20-9BBE-489C-8587-47781C06FC24}" destId="{C6C7296B-032D-4324-80B0-40DC1F83F372}" srcOrd="1" destOrd="0" presId="urn:microsoft.com/office/officeart/2005/8/layout/process2"/>
    <dgm:cxn modelId="{4A45DC44-5BCE-423A-8789-0DFABB768FC4}" type="presParOf" srcId="{792B3B9F-EF83-4FE3-A094-3B61FDDA4025}" destId="{F2DA9A74-2CC2-42E5-9A34-787AC5C50837}" srcOrd="0" destOrd="0" presId="urn:microsoft.com/office/officeart/2005/8/layout/process2"/>
    <dgm:cxn modelId="{61144B36-E09A-4242-886B-7DE728A3D875}" type="presParOf" srcId="{792B3B9F-EF83-4FE3-A094-3B61FDDA4025}" destId="{2F3F86FD-0A2A-4E9A-A864-56C4FF3A4080}" srcOrd="1" destOrd="0" presId="urn:microsoft.com/office/officeart/2005/8/layout/process2"/>
    <dgm:cxn modelId="{41925B35-9D78-4986-A4A0-3E37BA670F9D}" type="presParOf" srcId="{2F3F86FD-0A2A-4E9A-A864-56C4FF3A4080}" destId="{0B761F35-BC3C-4D20-A8B9-DD5356EE34E9}" srcOrd="0" destOrd="0" presId="urn:microsoft.com/office/officeart/2005/8/layout/process2"/>
    <dgm:cxn modelId="{F764E5E3-E7A0-4A3C-98F5-8EF0C9973744}" type="presParOf" srcId="{792B3B9F-EF83-4FE3-A094-3B61FDDA4025}" destId="{2166222E-D09A-4620-AF42-6BCBAF39FCB7}" srcOrd="2" destOrd="0" presId="urn:microsoft.com/office/officeart/2005/8/layout/process2"/>
    <dgm:cxn modelId="{91845CFF-8D27-44C8-9EB6-71D571E85C27}" type="presParOf" srcId="{792B3B9F-EF83-4FE3-A094-3B61FDDA4025}" destId="{35454EEE-9E0D-4292-BDC7-5F927045E79C}" srcOrd="3" destOrd="0" presId="urn:microsoft.com/office/officeart/2005/8/layout/process2"/>
    <dgm:cxn modelId="{CAFBF25B-F632-4C74-81E6-006CA754AAC7}" type="presParOf" srcId="{35454EEE-9E0D-4292-BDC7-5F927045E79C}" destId="{C6C7296B-032D-4324-80B0-40DC1F83F372}" srcOrd="0" destOrd="0" presId="urn:microsoft.com/office/officeart/2005/8/layout/process2"/>
    <dgm:cxn modelId="{D17421FA-6E3F-404B-AF7E-219F1DAA5399}" type="presParOf" srcId="{792B3B9F-EF83-4FE3-A094-3B61FDDA4025}" destId="{0384D156-41B6-46B2-8B47-EFCC5CD1F66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A9A74-2CC2-42E5-9A34-787AC5C50837}">
      <dsp:nvSpPr>
        <dsp:cNvPr id="0" name=""/>
        <dsp:cNvSpPr/>
      </dsp:nvSpPr>
      <dsp:spPr>
        <a:xfrm>
          <a:off x="206433" y="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anose="020F0502020204030204"/>
            </a:rPr>
            <a:t>Technical Team</a:t>
          </a:r>
          <a:endParaRPr lang="en-US" sz="1800" b="1" kern="1200"/>
        </a:p>
      </dsp:txBody>
      <dsp:txXfrm>
        <a:off x="233215" y="26782"/>
        <a:ext cx="1592355" cy="860835"/>
      </dsp:txXfrm>
    </dsp:sp>
    <dsp:sp modelId="{2F3F86FD-0A2A-4E9A-A864-56C4FF3A4080}">
      <dsp:nvSpPr>
        <dsp:cNvPr id="0" name=""/>
        <dsp:cNvSpPr/>
      </dsp:nvSpPr>
      <dsp:spPr>
        <a:xfrm rot="5400000">
          <a:off x="857943" y="937260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905949" y="971550"/>
        <a:ext cx="246887" cy="240029"/>
      </dsp:txXfrm>
    </dsp:sp>
    <dsp:sp modelId="{2166222E-D09A-4620-AF42-6BCBAF39FCB7}">
      <dsp:nvSpPr>
        <dsp:cNvPr id="0" name=""/>
        <dsp:cNvSpPr/>
      </dsp:nvSpPr>
      <dsp:spPr>
        <a:xfrm>
          <a:off x="206433" y="1371600"/>
          <a:ext cx="1645919" cy="9143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 panose="020F0502020204030204"/>
            </a:rPr>
            <a:t>Delivery Manager</a:t>
          </a:r>
          <a:endParaRPr lang="en-US" sz="1600" b="1" kern="1200"/>
        </a:p>
      </dsp:txBody>
      <dsp:txXfrm>
        <a:off x="233215" y="1398382"/>
        <a:ext cx="1592355" cy="860835"/>
      </dsp:txXfrm>
    </dsp:sp>
    <dsp:sp modelId="{35454EEE-9E0D-4292-BDC7-5F927045E79C}">
      <dsp:nvSpPr>
        <dsp:cNvPr id="0" name=""/>
        <dsp:cNvSpPr/>
      </dsp:nvSpPr>
      <dsp:spPr>
        <a:xfrm rot="5400000">
          <a:off x="857943" y="2308859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905949" y="2343149"/>
        <a:ext cx="246887" cy="240029"/>
      </dsp:txXfrm>
    </dsp:sp>
    <dsp:sp modelId="{0384D156-41B6-46B2-8B47-EFCC5CD1F664}">
      <dsp:nvSpPr>
        <dsp:cNvPr id="0" name=""/>
        <dsp:cNvSpPr/>
      </dsp:nvSpPr>
      <dsp:spPr>
        <a:xfrm>
          <a:off x="206433" y="2743199"/>
          <a:ext cx="1645919" cy="9143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anose="020F0502020204030204"/>
            </a:rPr>
            <a:t>Program</a:t>
          </a:r>
          <a:br>
            <a:rPr lang="en-US" sz="1800" b="1" kern="1200">
              <a:latin typeface="Calibri" panose="020F0502020204030204"/>
            </a:rPr>
          </a:br>
          <a:r>
            <a:rPr lang="en-US" sz="1800" b="1" kern="1200">
              <a:latin typeface="Calibri" panose="020F0502020204030204"/>
            </a:rPr>
            <a:t>Manager</a:t>
          </a:r>
          <a:endParaRPr lang="en-US" sz="1800" b="1" kern="1200"/>
        </a:p>
      </dsp:txBody>
      <dsp:txXfrm>
        <a:off x="233215" y="2769981"/>
        <a:ext cx="1592355" cy="860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E0F67-5A34-4A6C-8F52-5BBC43100952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818C8-CFED-431A-BEDC-6D39737FF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7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3265B3-8C42-44B6-98C6-0C281FBC15B3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350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818C8-CFED-431A-BEDC-6D39737FF32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67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818C8-CFED-431A-BEDC-6D39737FF32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055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1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46" t="40603" r="18637" b="43215"/>
          <a:stretch/>
        </p:blipFill>
        <p:spPr bwMode="gray">
          <a:xfrm>
            <a:off x="203200" y="128408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2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9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1" y="1945558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3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8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29810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gray">
          <a:xfrm>
            <a:off x="81281" y="650240"/>
            <a:ext cx="5963920" cy="6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2" name="Freeform 11"/>
          <p:cNvSpPr/>
          <p:nvPr userDrawn="1"/>
        </p:nvSpPr>
        <p:spPr bwMode="gray">
          <a:xfrm flipH="1">
            <a:off x="0" y="982483"/>
            <a:ext cx="6144594" cy="4847604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040420" y="1"/>
            <a:ext cx="6151580" cy="6007261"/>
          </a:xfrm>
          <a:custGeom>
            <a:avLst/>
            <a:gdLst>
              <a:gd name="connsiteX0" fmla="*/ 0 w 6151580"/>
              <a:gd name="connsiteY0" fmla="*/ 0 h 6007261"/>
              <a:gd name="connsiteX1" fmla="*/ 6151580 w 6151580"/>
              <a:gd name="connsiteY1" fmla="*/ 0 h 6007261"/>
              <a:gd name="connsiteX2" fmla="*/ 6151580 w 6151580"/>
              <a:gd name="connsiteY2" fmla="*/ 6007261 h 6007261"/>
              <a:gd name="connsiteX3" fmla="*/ 1532351 w 6151580"/>
              <a:gd name="connsiteY3" fmla="*/ 6007261 h 6007261"/>
              <a:gd name="connsiteX4" fmla="*/ 672896 w 6151580"/>
              <a:gd name="connsiteY4" fmla="*/ 5127585 h 6007261"/>
              <a:gd name="connsiteX5" fmla="*/ 0 w 6151580"/>
              <a:gd name="connsiteY5" fmla="*/ 3006093 h 60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1580" h="6007261">
                <a:moveTo>
                  <a:pt x="0" y="0"/>
                </a:moveTo>
                <a:lnTo>
                  <a:pt x="6151580" y="0"/>
                </a:lnTo>
                <a:lnTo>
                  <a:pt x="6151580" y="6007261"/>
                </a:lnTo>
                <a:lnTo>
                  <a:pt x="1532351" y="6007261"/>
                </a:lnTo>
                <a:lnTo>
                  <a:pt x="672896" y="5127585"/>
                </a:lnTo>
                <a:lnTo>
                  <a:pt x="0" y="3006093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5B43289-77A9-544C-A6F7-09F3B0DD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46" t="40603" r="18637" b="43215"/>
          <a:stretch/>
        </p:blipFill>
        <p:spPr bwMode="gray">
          <a:xfrm>
            <a:off x="203200" y="128408"/>
            <a:ext cx="3119120" cy="612374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203200" y="6007262"/>
            <a:ext cx="11195728" cy="393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3" name="Freeform 12"/>
          <p:cNvSpPr/>
          <p:nvPr userDrawn="1"/>
        </p:nvSpPr>
        <p:spPr bwMode="gray">
          <a:xfrm flipH="1">
            <a:off x="0" y="1180619"/>
            <a:ext cx="5944496" cy="4649469"/>
          </a:xfrm>
          <a:custGeom>
            <a:avLst/>
            <a:gdLst>
              <a:gd name="connsiteX0" fmla="*/ 1209872 w 6187440"/>
              <a:gd name="connsiteY0" fmla="*/ 0 h 4839487"/>
              <a:gd name="connsiteX1" fmla="*/ 6187440 w 6187440"/>
              <a:gd name="connsiteY1" fmla="*/ 0 h 4839487"/>
              <a:gd name="connsiteX2" fmla="*/ 6187440 w 6187440"/>
              <a:gd name="connsiteY2" fmla="*/ 4839487 h 4839487"/>
              <a:gd name="connsiteX3" fmla="*/ 0 w 6187440"/>
              <a:gd name="connsiteY3" fmla="*/ 4839487 h 483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0" h="4839487">
                <a:moveTo>
                  <a:pt x="1209872" y="0"/>
                </a:moveTo>
                <a:lnTo>
                  <a:pt x="6187440" y="0"/>
                </a:lnTo>
                <a:lnTo>
                  <a:pt x="6187440" y="4839487"/>
                </a:lnTo>
                <a:lnTo>
                  <a:pt x="0" y="48394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16" name="Parallelogram 15"/>
          <p:cNvSpPr/>
          <p:nvPr userDrawn="1"/>
        </p:nvSpPr>
        <p:spPr>
          <a:xfrm flipH="1">
            <a:off x="4982141" y="1945558"/>
            <a:ext cx="973931" cy="2929573"/>
          </a:xfrm>
          <a:prstGeom prst="parallelogram">
            <a:avLst>
              <a:gd name="adj" fmla="val 74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CCCD-27A9-874E-AA29-C68B1F8FC7FF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359411" y="2164173"/>
            <a:ext cx="4724400" cy="189325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49CA0-BCBE-534A-A649-EB08B1C6BFE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 bwMode="gray">
          <a:xfrm>
            <a:off x="359411" y="4405183"/>
            <a:ext cx="4724400" cy="332399"/>
          </a:xfrm>
        </p:spPr>
        <p:txBody>
          <a:bodyPr/>
          <a:lstStyle>
            <a:lvl1pPr marL="0" indent="0" algn="l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Parallelogram 17"/>
          <p:cNvSpPr/>
          <p:nvPr userDrawn="1"/>
        </p:nvSpPr>
        <p:spPr>
          <a:xfrm flipH="1">
            <a:off x="5127508" y="2072640"/>
            <a:ext cx="889434" cy="2675406"/>
          </a:xfrm>
          <a:prstGeom prst="parallelogram">
            <a:avLst>
              <a:gd name="adj" fmla="val 740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319201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C233-40C0-3242-AF16-F0072A21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7" y="106790"/>
            <a:ext cx="11300236" cy="714306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00-A1A8-084B-93A1-73B8FAB78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079292"/>
            <a:ext cx="11300236" cy="1381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8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3" y="6357328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018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FC27-AD7F-1A46-A6F9-2C9507026F9D}" type="datetime1">
              <a:rPr lang="en-US" smtClean="0"/>
              <a:t>9/15/2026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1" y="295730"/>
            <a:ext cx="838199" cy="184666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5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Freeform 5"/>
          <p:cNvSpPr/>
          <p:nvPr userDrawn="1"/>
        </p:nvSpPr>
        <p:spPr bwMode="gray">
          <a:xfrm rot="16200000">
            <a:off x="3747182" y="3268821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97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294149" y="685802"/>
            <a:ext cx="10289680" cy="13815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E9A-2755-1B49-9094-02250BA934C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9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F20CFB-DA38-4B74-8407-53A35B39569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8002" y="1178428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Roboto" pitchFamily="2" charset="0"/>
                <a:ea typeface="Roboto" panose="02000000000000000000" pitchFamily="2" charset="0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3"/>
            </a:lvl3pPr>
            <a:lvl4pPr marL="1828801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1" indent="0">
              <a:buNone/>
              <a:defRPr sz="1200"/>
            </a:lvl8pPr>
            <a:lvl9pPr marL="4876801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2A53B-FD84-4867-BC11-F7CCE4E0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455086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bg1">
                    <a:lumMod val="50000"/>
                  </a:schemeClr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650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63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1" y="295730"/>
            <a:ext cx="838199" cy="184666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5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Freeform 5"/>
          <p:cNvSpPr/>
          <p:nvPr userDrawn="1"/>
        </p:nvSpPr>
        <p:spPr bwMode="gray">
          <a:xfrm rot="16200000">
            <a:off x="3747182" y="3268821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23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294149" y="685802"/>
            <a:ext cx="10289680" cy="13815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5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6E250-8C04-4D62-9CB2-2B7E46FF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1F2D-E3A3-B34A-8C97-CD0456629075}" type="datetime1">
              <a:rPr lang="en-US" smtClean="0"/>
              <a:t>9/15/2026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F2B3-A0E6-4327-8D38-D8F2690C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91ED-28E0-4D7F-B506-44A67BDF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253-7455-46C9-BD4C-CB6661B7FE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938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FC27-AD7F-1A46-A6F9-2C9507026F9D}" type="datetime1">
              <a:rPr lang="en-US" smtClean="0"/>
              <a:t>9/15/2026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B64086E-D480-C64D-8011-1ACDE93C9D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1" y="295730"/>
            <a:ext cx="838199" cy="184666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" name="Flowchart: Process 28"/>
          <p:cNvSpPr/>
          <p:nvPr userDrawn="1"/>
        </p:nvSpPr>
        <p:spPr>
          <a:xfrm>
            <a:off x="476250" y="462025"/>
            <a:ext cx="6381912" cy="593395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10000 w 10000"/>
              <a:gd name="connsiteY2" fmla="*/ 10016 h 10016"/>
              <a:gd name="connsiteX3" fmla="*/ 0 w 10000"/>
              <a:gd name="connsiteY3" fmla="*/ 10016 h 10016"/>
              <a:gd name="connsiteX4" fmla="*/ 0 w 10000"/>
              <a:gd name="connsiteY4" fmla="*/ 16 h 10016"/>
              <a:gd name="connsiteX0" fmla="*/ 0 w 10000"/>
              <a:gd name="connsiteY0" fmla="*/ 16 h 10016"/>
              <a:gd name="connsiteX1" fmla="*/ 9415 w 10000"/>
              <a:gd name="connsiteY1" fmla="*/ 0 h 10016"/>
              <a:gd name="connsiteX2" fmla="*/ 9740 w 10000"/>
              <a:gd name="connsiteY2" fmla="*/ 5596 h 10016"/>
              <a:gd name="connsiteX3" fmla="*/ 10000 w 10000"/>
              <a:gd name="connsiteY3" fmla="*/ 10016 h 10016"/>
              <a:gd name="connsiteX4" fmla="*/ 0 w 10000"/>
              <a:gd name="connsiteY4" fmla="*/ 10016 h 10016"/>
              <a:gd name="connsiteX5" fmla="*/ 0 w 10000"/>
              <a:gd name="connsiteY5" fmla="*/ 16 h 10016"/>
              <a:gd name="connsiteX0" fmla="*/ 0 w 9750"/>
              <a:gd name="connsiteY0" fmla="*/ 16 h 10032"/>
              <a:gd name="connsiteX1" fmla="*/ 9415 w 9750"/>
              <a:gd name="connsiteY1" fmla="*/ 0 h 10032"/>
              <a:gd name="connsiteX2" fmla="*/ 9740 w 9750"/>
              <a:gd name="connsiteY2" fmla="*/ 5596 h 10032"/>
              <a:gd name="connsiteX3" fmla="*/ 9423 w 9750"/>
              <a:gd name="connsiteY3" fmla="*/ 10032 h 10032"/>
              <a:gd name="connsiteX4" fmla="*/ 0 w 9750"/>
              <a:gd name="connsiteY4" fmla="*/ 10016 h 10032"/>
              <a:gd name="connsiteX5" fmla="*/ 0 w 9750"/>
              <a:gd name="connsiteY5" fmla="*/ 16 h 10032"/>
              <a:gd name="connsiteX0" fmla="*/ 0 w 10010"/>
              <a:gd name="connsiteY0" fmla="*/ 16 h 10000"/>
              <a:gd name="connsiteX1" fmla="*/ 9656 w 10010"/>
              <a:gd name="connsiteY1" fmla="*/ 0 h 10000"/>
              <a:gd name="connsiteX2" fmla="*/ 9990 w 10010"/>
              <a:gd name="connsiteY2" fmla="*/ 5578 h 10000"/>
              <a:gd name="connsiteX3" fmla="*/ 9665 w 10010"/>
              <a:gd name="connsiteY3" fmla="*/ 10000 h 10000"/>
              <a:gd name="connsiteX4" fmla="*/ 0 w 10010"/>
              <a:gd name="connsiteY4" fmla="*/ 9984 h 10000"/>
              <a:gd name="connsiteX5" fmla="*/ 0 w 10010"/>
              <a:gd name="connsiteY5" fmla="*/ 16 h 10000"/>
              <a:gd name="connsiteX0" fmla="*/ 0 w 10004"/>
              <a:gd name="connsiteY0" fmla="*/ 16 h 10000"/>
              <a:gd name="connsiteX1" fmla="*/ 9656 w 10004"/>
              <a:gd name="connsiteY1" fmla="*/ 0 h 10000"/>
              <a:gd name="connsiteX2" fmla="*/ 9990 w 10004"/>
              <a:gd name="connsiteY2" fmla="*/ 5578 h 10000"/>
              <a:gd name="connsiteX3" fmla="*/ 9665 w 10004"/>
              <a:gd name="connsiteY3" fmla="*/ 10000 h 10000"/>
              <a:gd name="connsiteX4" fmla="*/ 0 w 10004"/>
              <a:gd name="connsiteY4" fmla="*/ 9984 h 10000"/>
              <a:gd name="connsiteX5" fmla="*/ 0 w 10004"/>
              <a:gd name="connsiteY5" fmla="*/ 16 h 10000"/>
              <a:gd name="connsiteX0" fmla="*/ 0 w 9838"/>
              <a:gd name="connsiteY0" fmla="*/ 16 h 10000"/>
              <a:gd name="connsiteX1" fmla="*/ 9656 w 9838"/>
              <a:gd name="connsiteY1" fmla="*/ 0 h 10000"/>
              <a:gd name="connsiteX2" fmla="*/ 9815 w 9838"/>
              <a:gd name="connsiteY2" fmla="*/ 5498 h 10000"/>
              <a:gd name="connsiteX3" fmla="*/ 9665 w 9838"/>
              <a:gd name="connsiteY3" fmla="*/ 10000 h 10000"/>
              <a:gd name="connsiteX4" fmla="*/ 0 w 9838"/>
              <a:gd name="connsiteY4" fmla="*/ 9984 h 10000"/>
              <a:gd name="connsiteX5" fmla="*/ 0 w 9838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10005"/>
              <a:gd name="connsiteY0" fmla="*/ 16 h 10000"/>
              <a:gd name="connsiteX1" fmla="*/ 9815 w 10005"/>
              <a:gd name="connsiteY1" fmla="*/ 0 h 10000"/>
              <a:gd name="connsiteX2" fmla="*/ 9977 w 10005"/>
              <a:gd name="connsiteY2" fmla="*/ 5498 h 10000"/>
              <a:gd name="connsiteX3" fmla="*/ 9824 w 10005"/>
              <a:gd name="connsiteY3" fmla="*/ 10000 h 10000"/>
              <a:gd name="connsiteX4" fmla="*/ 0 w 10005"/>
              <a:gd name="connsiteY4" fmla="*/ 9984 h 10000"/>
              <a:gd name="connsiteX5" fmla="*/ 0 w 10005"/>
              <a:gd name="connsiteY5" fmla="*/ 16 h 10000"/>
              <a:gd name="connsiteX0" fmla="*/ 0 w 9992"/>
              <a:gd name="connsiteY0" fmla="*/ 16 h 10000"/>
              <a:gd name="connsiteX1" fmla="*/ 9636 w 9992"/>
              <a:gd name="connsiteY1" fmla="*/ 0 h 10000"/>
              <a:gd name="connsiteX2" fmla="*/ 9977 w 9992"/>
              <a:gd name="connsiteY2" fmla="*/ 5498 h 10000"/>
              <a:gd name="connsiteX3" fmla="*/ 9824 w 9992"/>
              <a:gd name="connsiteY3" fmla="*/ 10000 h 10000"/>
              <a:gd name="connsiteX4" fmla="*/ 0 w 9992"/>
              <a:gd name="connsiteY4" fmla="*/ 9984 h 10000"/>
              <a:gd name="connsiteX5" fmla="*/ 0 w 9992"/>
              <a:gd name="connsiteY5" fmla="*/ 1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2" h="10000">
                <a:moveTo>
                  <a:pt x="0" y="16"/>
                </a:moveTo>
                <a:lnTo>
                  <a:pt x="9636" y="0"/>
                </a:lnTo>
                <a:cubicBezTo>
                  <a:pt x="9749" y="1859"/>
                  <a:pt x="10067" y="3527"/>
                  <a:pt x="9977" y="5498"/>
                </a:cubicBezTo>
                <a:cubicBezTo>
                  <a:pt x="9982" y="6950"/>
                  <a:pt x="9877" y="8532"/>
                  <a:pt x="9824" y="10000"/>
                </a:cubicBezTo>
                <a:lnTo>
                  <a:pt x="0" y="9984"/>
                </a:lnTo>
                <a:lnTo>
                  <a:pt x="0" y="16"/>
                </a:lnTo>
                <a:close/>
              </a:path>
            </a:pathLst>
          </a:custGeom>
          <a:solidFill>
            <a:srgbClr val="F47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Freeform 5"/>
          <p:cNvSpPr/>
          <p:nvPr userDrawn="1"/>
        </p:nvSpPr>
        <p:spPr bwMode="gray">
          <a:xfrm rot="16200000">
            <a:off x="3747182" y="3268821"/>
            <a:ext cx="6053670" cy="320359"/>
          </a:xfrm>
          <a:custGeom>
            <a:avLst/>
            <a:gdLst>
              <a:gd name="connsiteX0" fmla="*/ 0 w 10000"/>
              <a:gd name="connsiteY0" fmla="*/ 0 h 9963"/>
              <a:gd name="connsiteX1" fmla="*/ 0 w 10000"/>
              <a:gd name="connsiteY1" fmla="*/ 9963 h 9963"/>
              <a:gd name="connsiteX2" fmla="*/ 10000 w 10000"/>
              <a:gd name="connsiteY2" fmla="*/ 5824 h 9963"/>
              <a:gd name="connsiteX3" fmla="*/ 10000 w 10000"/>
              <a:gd name="connsiteY3" fmla="*/ 9 h 9963"/>
              <a:gd name="connsiteX4" fmla="*/ 10000 w 10000"/>
              <a:gd name="connsiteY4" fmla="*/ 9 h 9963"/>
              <a:gd name="connsiteX5" fmla="*/ 9773 w 10000"/>
              <a:gd name="connsiteY5" fmla="*/ 195 h 9963"/>
              <a:gd name="connsiteX6" fmla="*/ 9547 w 10000"/>
              <a:gd name="connsiteY6" fmla="*/ 373 h 9963"/>
              <a:gd name="connsiteX7" fmla="*/ 9320 w 10000"/>
              <a:gd name="connsiteY7" fmla="*/ 546 h 9963"/>
              <a:gd name="connsiteX8" fmla="*/ 9092 w 10000"/>
              <a:gd name="connsiteY8" fmla="*/ 695 h 9963"/>
              <a:gd name="connsiteX9" fmla="*/ 8865 w 10000"/>
              <a:gd name="connsiteY9" fmla="*/ 845 h 9963"/>
              <a:gd name="connsiteX10" fmla="*/ 8637 w 10000"/>
              <a:gd name="connsiteY10" fmla="*/ 985 h 9963"/>
              <a:gd name="connsiteX11" fmla="*/ 8412 w 10000"/>
              <a:gd name="connsiteY11" fmla="*/ 1105 h 9963"/>
              <a:gd name="connsiteX12" fmla="*/ 8184 w 10000"/>
              <a:gd name="connsiteY12" fmla="*/ 1219 h 9963"/>
              <a:gd name="connsiteX13" fmla="*/ 7957 w 10000"/>
              <a:gd name="connsiteY13" fmla="*/ 1323 h 9963"/>
              <a:gd name="connsiteX14" fmla="*/ 7734 w 10000"/>
              <a:gd name="connsiteY14" fmla="*/ 1413 h 9963"/>
              <a:gd name="connsiteX15" fmla="*/ 7508 w 10000"/>
              <a:gd name="connsiteY15" fmla="*/ 1503 h 9963"/>
              <a:gd name="connsiteX16" fmla="*/ 7285 w 10000"/>
              <a:gd name="connsiteY16" fmla="*/ 1578 h 9963"/>
              <a:gd name="connsiteX17" fmla="*/ 7062 w 10000"/>
              <a:gd name="connsiteY17" fmla="*/ 1636 h 9963"/>
              <a:gd name="connsiteX18" fmla="*/ 6840 w 10000"/>
              <a:gd name="connsiteY18" fmla="*/ 1698 h 9963"/>
              <a:gd name="connsiteX19" fmla="*/ 6620 w 10000"/>
              <a:gd name="connsiteY19" fmla="*/ 1749 h 9963"/>
              <a:gd name="connsiteX20" fmla="*/ 6402 w 10000"/>
              <a:gd name="connsiteY20" fmla="*/ 1785 h 9963"/>
              <a:gd name="connsiteX21" fmla="*/ 6184 w 10000"/>
              <a:gd name="connsiteY21" fmla="*/ 1816 h 9963"/>
              <a:gd name="connsiteX22" fmla="*/ 5968 w 10000"/>
              <a:gd name="connsiteY22" fmla="*/ 1846 h 9963"/>
              <a:gd name="connsiteX23" fmla="*/ 5755 w 10000"/>
              <a:gd name="connsiteY23" fmla="*/ 1860 h 9963"/>
              <a:gd name="connsiteX24" fmla="*/ 5542 w 10000"/>
              <a:gd name="connsiteY24" fmla="*/ 1875 h 9963"/>
              <a:gd name="connsiteX25" fmla="*/ 5332 w 10000"/>
              <a:gd name="connsiteY25" fmla="*/ 1883 h 9963"/>
              <a:gd name="connsiteX26" fmla="*/ 5124 w 10000"/>
              <a:gd name="connsiteY26" fmla="*/ 1875 h 9963"/>
              <a:gd name="connsiteX27" fmla="*/ 4918 w 10000"/>
              <a:gd name="connsiteY27" fmla="*/ 1875 h 9963"/>
              <a:gd name="connsiteX28" fmla="*/ 4714 w 10000"/>
              <a:gd name="connsiteY28" fmla="*/ 1860 h 9963"/>
              <a:gd name="connsiteX29" fmla="*/ 4514 w 10000"/>
              <a:gd name="connsiteY29" fmla="*/ 1838 h 9963"/>
              <a:gd name="connsiteX30" fmla="*/ 4316 w 10000"/>
              <a:gd name="connsiteY30" fmla="*/ 1816 h 9963"/>
              <a:gd name="connsiteX31" fmla="*/ 4122 w 10000"/>
              <a:gd name="connsiteY31" fmla="*/ 1793 h 9963"/>
              <a:gd name="connsiteX32" fmla="*/ 3929 w 10000"/>
              <a:gd name="connsiteY32" fmla="*/ 1756 h 9963"/>
              <a:gd name="connsiteX33" fmla="*/ 3739 w 10000"/>
              <a:gd name="connsiteY33" fmla="*/ 1718 h 9963"/>
              <a:gd name="connsiteX34" fmla="*/ 3553 w 10000"/>
              <a:gd name="connsiteY34" fmla="*/ 1683 h 9963"/>
              <a:gd name="connsiteX35" fmla="*/ 3190 w 10000"/>
              <a:gd name="connsiteY35" fmla="*/ 1584 h 9963"/>
              <a:gd name="connsiteX36" fmla="*/ 2842 w 10000"/>
              <a:gd name="connsiteY36" fmla="*/ 1479 h 9963"/>
              <a:gd name="connsiteX37" fmla="*/ 2508 w 10000"/>
              <a:gd name="connsiteY37" fmla="*/ 1369 h 9963"/>
              <a:gd name="connsiteX38" fmla="*/ 2192 w 10000"/>
              <a:gd name="connsiteY38" fmla="*/ 1248 h 9963"/>
              <a:gd name="connsiteX39" fmla="*/ 1890 w 10000"/>
              <a:gd name="connsiteY39" fmla="*/ 1121 h 9963"/>
              <a:gd name="connsiteX40" fmla="*/ 1610 w 10000"/>
              <a:gd name="connsiteY40" fmla="*/ 985 h 9963"/>
              <a:gd name="connsiteX41" fmla="*/ 1347 w 10000"/>
              <a:gd name="connsiteY41" fmla="*/ 851 h 9963"/>
              <a:gd name="connsiteX42" fmla="*/ 1105 w 10000"/>
              <a:gd name="connsiteY42" fmla="*/ 718 h 9963"/>
              <a:gd name="connsiteX43" fmla="*/ 883 w 10000"/>
              <a:gd name="connsiteY43" fmla="*/ 591 h 9963"/>
              <a:gd name="connsiteX44" fmla="*/ 686 w 10000"/>
              <a:gd name="connsiteY44" fmla="*/ 471 h 9963"/>
              <a:gd name="connsiteX45" fmla="*/ 508 w 10000"/>
              <a:gd name="connsiteY45" fmla="*/ 358 h 9963"/>
              <a:gd name="connsiteX46" fmla="*/ 358 w 10000"/>
              <a:gd name="connsiteY46" fmla="*/ 263 h 9963"/>
              <a:gd name="connsiteX47" fmla="*/ 232 w 10000"/>
              <a:gd name="connsiteY47" fmla="*/ 173 h 9963"/>
              <a:gd name="connsiteX48" fmla="*/ 59 w 10000"/>
              <a:gd name="connsiteY48" fmla="*/ 44 h 9963"/>
              <a:gd name="connsiteX49" fmla="*/ 0 w 10000"/>
              <a:gd name="connsiteY49" fmla="*/ 0 h 9963"/>
              <a:gd name="connsiteX50" fmla="*/ 0 w 10000"/>
              <a:gd name="connsiteY50" fmla="*/ 0 h 9963"/>
              <a:gd name="connsiteX0" fmla="*/ 0 w 10000"/>
              <a:gd name="connsiteY0" fmla="*/ 0 h 5961"/>
              <a:gd name="connsiteX1" fmla="*/ 16 w 10000"/>
              <a:gd name="connsiteY1" fmla="*/ 5961 h 5961"/>
              <a:gd name="connsiteX2" fmla="*/ 10000 w 10000"/>
              <a:gd name="connsiteY2" fmla="*/ 5846 h 5961"/>
              <a:gd name="connsiteX3" fmla="*/ 10000 w 10000"/>
              <a:gd name="connsiteY3" fmla="*/ 9 h 5961"/>
              <a:gd name="connsiteX4" fmla="*/ 10000 w 10000"/>
              <a:gd name="connsiteY4" fmla="*/ 9 h 5961"/>
              <a:gd name="connsiteX5" fmla="*/ 9773 w 10000"/>
              <a:gd name="connsiteY5" fmla="*/ 196 h 5961"/>
              <a:gd name="connsiteX6" fmla="*/ 9547 w 10000"/>
              <a:gd name="connsiteY6" fmla="*/ 374 h 5961"/>
              <a:gd name="connsiteX7" fmla="*/ 9320 w 10000"/>
              <a:gd name="connsiteY7" fmla="*/ 548 h 5961"/>
              <a:gd name="connsiteX8" fmla="*/ 9092 w 10000"/>
              <a:gd name="connsiteY8" fmla="*/ 698 h 5961"/>
              <a:gd name="connsiteX9" fmla="*/ 8865 w 10000"/>
              <a:gd name="connsiteY9" fmla="*/ 848 h 5961"/>
              <a:gd name="connsiteX10" fmla="*/ 8637 w 10000"/>
              <a:gd name="connsiteY10" fmla="*/ 989 h 5961"/>
              <a:gd name="connsiteX11" fmla="*/ 8412 w 10000"/>
              <a:gd name="connsiteY11" fmla="*/ 1109 h 5961"/>
              <a:gd name="connsiteX12" fmla="*/ 8184 w 10000"/>
              <a:gd name="connsiteY12" fmla="*/ 1224 h 5961"/>
              <a:gd name="connsiteX13" fmla="*/ 7957 w 10000"/>
              <a:gd name="connsiteY13" fmla="*/ 1328 h 5961"/>
              <a:gd name="connsiteX14" fmla="*/ 7734 w 10000"/>
              <a:gd name="connsiteY14" fmla="*/ 1418 h 5961"/>
              <a:gd name="connsiteX15" fmla="*/ 7508 w 10000"/>
              <a:gd name="connsiteY15" fmla="*/ 1509 h 5961"/>
              <a:gd name="connsiteX16" fmla="*/ 7285 w 10000"/>
              <a:gd name="connsiteY16" fmla="*/ 1584 h 5961"/>
              <a:gd name="connsiteX17" fmla="*/ 7062 w 10000"/>
              <a:gd name="connsiteY17" fmla="*/ 1642 h 5961"/>
              <a:gd name="connsiteX18" fmla="*/ 6840 w 10000"/>
              <a:gd name="connsiteY18" fmla="*/ 1704 h 5961"/>
              <a:gd name="connsiteX19" fmla="*/ 6620 w 10000"/>
              <a:gd name="connsiteY19" fmla="*/ 1755 h 5961"/>
              <a:gd name="connsiteX20" fmla="*/ 6402 w 10000"/>
              <a:gd name="connsiteY20" fmla="*/ 1792 h 5961"/>
              <a:gd name="connsiteX21" fmla="*/ 6184 w 10000"/>
              <a:gd name="connsiteY21" fmla="*/ 1823 h 5961"/>
              <a:gd name="connsiteX22" fmla="*/ 5968 w 10000"/>
              <a:gd name="connsiteY22" fmla="*/ 1853 h 5961"/>
              <a:gd name="connsiteX23" fmla="*/ 5755 w 10000"/>
              <a:gd name="connsiteY23" fmla="*/ 1867 h 5961"/>
              <a:gd name="connsiteX24" fmla="*/ 5542 w 10000"/>
              <a:gd name="connsiteY24" fmla="*/ 1882 h 5961"/>
              <a:gd name="connsiteX25" fmla="*/ 5332 w 10000"/>
              <a:gd name="connsiteY25" fmla="*/ 1890 h 5961"/>
              <a:gd name="connsiteX26" fmla="*/ 5124 w 10000"/>
              <a:gd name="connsiteY26" fmla="*/ 1882 h 5961"/>
              <a:gd name="connsiteX27" fmla="*/ 4918 w 10000"/>
              <a:gd name="connsiteY27" fmla="*/ 1882 h 5961"/>
              <a:gd name="connsiteX28" fmla="*/ 4714 w 10000"/>
              <a:gd name="connsiteY28" fmla="*/ 1867 h 5961"/>
              <a:gd name="connsiteX29" fmla="*/ 4514 w 10000"/>
              <a:gd name="connsiteY29" fmla="*/ 1845 h 5961"/>
              <a:gd name="connsiteX30" fmla="*/ 4316 w 10000"/>
              <a:gd name="connsiteY30" fmla="*/ 1823 h 5961"/>
              <a:gd name="connsiteX31" fmla="*/ 4122 w 10000"/>
              <a:gd name="connsiteY31" fmla="*/ 1800 h 5961"/>
              <a:gd name="connsiteX32" fmla="*/ 3929 w 10000"/>
              <a:gd name="connsiteY32" fmla="*/ 1763 h 5961"/>
              <a:gd name="connsiteX33" fmla="*/ 3739 w 10000"/>
              <a:gd name="connsiteY33" fmla="*/ 1724 h 5961"/>
              <a:gd name="connsiteX34" fmla="*/ 3553 w 10000"/>
              <a:gd name="connsiteY34" fmla="*/ 1689 h 5961"/>
              <a:gd name="connsiteX35" fmla="*/ 3190 w 10000"/>
              <a:gd name="connsiteY35" fmla="*/ 1590 h 5961"/>
              <a:gd name="connsiteX36" fmla="*/ 2842 w 10000"/>
              <a:gd name="connsiteY36" fmla="*/ 1484 h 5961"/>
              <a:gd name="connsiteX37" fmla="*/ 2508 w 10000"/>
              <a:gd name="connsiteY37" fmla="*/ 1374 h 5961"/>
              <a:gd name="connsiteX38" fmla="*/ 2192 w 10000"/>
              <a:gd name="connsiteY38" fmla="*/ 1253 h 5961"/>
              <a:gd name="connsiteX39" fmla="*/ 1890 w 10000"/>
              <a:gd name="connsiteY39" fmla="*/ 1125 h 5961"/>
              <a:gd name="connsiteX40" fmla="*/ 1610 w 10000"/>
              <a:gd name="connsiteY40" fmla="*/ 989 h 5961"/>
              <a:gd name="connsiteX41" fmla="*/ 1347 w 10000"/>
              <a:gd name="connsiteY41" fmla="*/ 854 h 5961"/>
              <a:gd name="connsiteX42" fmla="*/ 1105 w 10000"/>
              <a:gd name="connsiteY42" fmla="*/ 721 h 5961"/>
              <a:gd name="connsiteX43" fmla="*/ 883 w 10000"/>
              <a:gd name="connsiteY43" fmla="*/ 593 h 5961"/>
              <a:gd name="connsiteX44" fmla="*/ 686 w 10000"/>
              <a:gd name="connsiteY44" fmla="*/ 473 h 5961"/>
              <a:gd name="connsiteX45" fmla="*/ 508 w 10000"/>
              <a:gd name="connsiteY45" fmla="*/ 359 h 5961"/>
              <a:gd name="connsiteX46" fmla="*/ 358 w 10000"/>
              <a:gd name="connsiteY46" fmla="*/ 264 h 5961"/>
              <a:gd name="connsiteX47" fmla="*/ 232 w 10000"/>
              <a:gd name="connsiteY47" fmla="*/ 174 h 5961"/>
              <a:gd name="connsiteX48" fmla="*/ 59 w 10000"/>
              <a:gd name="connsiteY48" fmla="*/ 44 h 5961"/>
              <a:gd name="connsiteX49" fmla="*/ 0 w 10000"/>
              <a:gd name="connsiteY49" fmla="*/ 0 h 5961"/>
              <a:gd name="connsiteX50" fmla="*/ 0 w 10000"/>
              <a:gd name="connsiteY50" fmla="*/ 0 h 5961"/>
              <a:gd name="connsiteX0" fmla="*/ 0 w 10000"/>
              <a:gd name="connsiteY0" fmla="*/ 0 h 10000"/>
              <a:gd name="connsiteX1" fmla="*/ 16 w 10000"/>
              <a:gd name="connsiteY1" fmla="*/ 10000 h 10000"/>
              <a:gd name="connsiteX2" fmla="*/ 9953 w 10000"/>
              <a:gd name="connsiteY2" fmla="*/ 1370 h 10000"/>
              <a:gd name="connsiteX3" fmla="*/ 10000 w 10000"/>
              <a:gd name="connsiteY3" fmla="*/ 15 h 10000"/>
              <a:gd name="connsiteX4" fmla="*/ 10000 w 10000"/>
              <a:gd name="connsiteY4" fmla="*/ 15 h 10000"/>
              <a:gd name="connsiteX5" fmla="*/ 9773 w 10000"/>
              <a:gd name="connsiteY5" fmla="*/ 329 h 10000"/>
              <a:gd name="connsiteX6" fmla="*/ 9547 w 10000"/>
              <a:gd name="connsiteY6" fmla="*/ 627 h 10000"/>
              <a:gd name="connsiteX7" fmla="*/ 9320 w 10000"/>
              <a:gd name="connsiteY7" fmla="*/ 919 h 10000"/>
              <a:gd name="connsiteX8" fmla="*/ 9092 w 10000"/>
              <a:gd name="connsiteY8" fmla="*/ 1171 h 10000"/>
              <a:gd name="connsiteX9" fmla="*/ 8865 w 10000"/>
              <a:gd name="connsiteY9" fmla="*/ 1423 h 10000"/>
              <a:gd name="connsiteX10" fmla="*/ 8637 w 10000"/>
              <a:gd name="connsiteY10" fmla="*/ 1659 h 10000"/>
              <a:gd name="connsiteX11" fmla="*/ 8412 w 10000"/>
              <a:gd name="connsiteY11" fmla="*/ 1860 h 10000"/>
              <a:gd name="connsiteX12" fmla="*/ 8184 w 10000"/>
              <a:gd name="connsiteY12" fmla="*/ 2053 h 10000"/>
              <a:gd name="connsiteX13" fmla="*/ 7957 w 10000"/>
              <a:gd name="connsiteY13" fmla="*/ 2228 h 10000"/>
              <a:gd name="connsiteX14" fmla="*/ 7734 w 10000"/>
              <a:gd name="connsiteY14" fmla="*/ 2379 h 10000"/>
              <a:gd name="connsiteX15" fmla="*/ 7508 w 10000"/>
              <a:gd name="connsiteY15" fmla="*/ 2531 h 10000"/>
              <a:gd name="connsiteX16" fmla="*/ 7285 w 10000"/>
              <a:gd name="connsiteY16" fmla="*/ 2657 h 10000"/>
              <a:gd name="connsiteX17" fmla="*/ 7062 w 10000"/>
              <a:gd name="connsiteY17" fmla="*/ 2755 h 10000"/>
              <a:gd name="connsiteX18" fmla="*/ 6840 w 10000"/>
              <a:gd name="connsiteY18" fmla="*/ 2859 h 10000"/>
              <a:gd name="connsiteX19" fmla="*/ 6620 w 10000"/>
              <a:gd name="connsiteY19" fmla="*/ 2944 h 10000"/>
              <a:gd name="connsiteX20" fmla="*/ 6402 w 10000"/>
              <a:gd name="connsiteY20" fmla="*/ 3006 h 10000"/>
              <a:gd name="connsiteX21" fmla="*/ 6184 w 10000"/>
              <a:gd name="connsiteY21" fmla="*/ 3058 h 10000"/>
              <a:gd name="connsiteX22" fmla="*/ 5968 w 10000"/>
              <a:gd name="connsiteY22" fmla="*/ 3109 h 10000"/>
              <a:gd name="connsiteX23" fmla="*/ 5755 w 10000"/>
              <a:gd name="connsiteY23" fmla="*/ 3132 h 10000"/>
              <a:gd name="connsiteX24" fmla="*/ 5542 w 10000"/>
              <a:gd name="connsiteY24" fmla="*/ 3157 h 10000"/>
              <a:gd name="connsiteX25" fmla="*/ 5332 w 10000"/>
              <a:gd name="connsiteY25" fmla="*/ 3171 h 10000"/>
              <a:gd name="connsiteX26" fmla="*/ 5124 w 10000"/>
              <a:gd name="connsiteY26" fmla="*/ 3157 h 10000"/>
              <a:gd name="connsiteX27" fmla="*/ 4918 w 10000"/>
              <a:gd name="connsiteY27" fmla="*/ 3157 h 10000"/>
              <a:gd name="connsiteX28" fmla="*/ 4714 w 10000"/>
              <a:gd name="connsiteY28" fmla="*/ 3132 h 10000"/>
              <a:gd name="connsiteX29" fmla="*/ 4514 w 10000"/>
              <a:gd name="connsiteY29" fmla="*/ 3095 h 10000"/>
              <a:gd name="connsiteX30" fmla="*/ 4316 w 10000"/>
              <a:gd name="connsiteY30" fmla="*/ 3058 h 10000"/>
              <a:gd name="connsiteX31" fmla="*/ 4122 w 10000"/>
              <a:gd name="connsiteY31" fmla="*/ 3020 h 10000"/>
              <a:gd name="connsiteX32" fmla="*/ 3929 w 10000"/>
              <a:gd name="connsiteY32" fmla="*/ 2958 h 10000"/>
              <a:gd name="connsiteX33" fmla="*/ 3739 w 10000"/>
              <a:gd name="connsiteY33" fmla="*/ 2892 h 10000"/>
              <a:gd name="connsiteX34" fmla="*/ 3553 w 10000"/>
              <a:gd name="connsiteY34" fmla="*/ 2833 h 10000"/>
              <a:gd name="connsiteX35" fmla="*/ 3190 w 10000"/>
              <a:gd name="connsiteY35" fmla="*/ 2667 h 10000"/>
              <a:gd name="connsiteX36" fmla="*/ 2842 w 10000"/>
              <a:gd name="connsiteY36" fmla="*/ 2490 h 10000"/>
              <a:gd name="connsiteX37" fmla="*/ 2508 w 10000"/>
              <a:gd name="connsiteY37" fmla="*/ 2305 h 10000"/>
              <a:gd name="connsiteX38" fmla="*/ 2192 w 10000"/>
              <a:gd name="connsiteY38" fmla="*/ 2102 h 10000"/>
              <a:gd name="connsiteX39" fmla="*/ 1890 w 10000"/>
              <a:gd name="connsiteY39" fmla="*/ 1887 h 10000"/>
              <a:gd name="connsiteX40" fmla="*/ 1610 w 10000"/>
              <a:gd name="connsiteY40" fmla="*/ 1659 h 10000"/>
              <a:gd name="connsiteX41" fmla="*/ 1347 w 10000"/>
              <a:gd name="connsiteY41" fmla="*/ 1433 h 10000"/>
              <a:gd name="connsiteX42" fmla="*/ 1105 w 10000"/>
              <a:gd name="connsiteY42" fmla="*/ 1210 h 10000"/>
              <a:gd name="connsiteX43" fmla="*/ 883 w 10000"/>
              <a:gd name="connsiteY43" fmla="*/ 995 h 10000"/>
              <a:gd name="connsiteX44" fmla="*/ 686 w 10000"/>
              <a:gd name="connsiteY44" fmla="*/ 793 h 10000"/>
              <a:gd name="connsiteX45" fmla="*/ 508 w 10000"/>
              <a:gd name="connsiteY45" fmla="*/ 602 h 10000"/>
              <a:gd name="connsiteX46" fmla="*/ 358 w 10000"/>
              <a:gd name="connsiteY46" fmla="*/ 443 h 10000"/>
              <a:gd name="connsiteX47" fmla="*/ 232 w 10000"/>
              <a:gd name="connsiteY47" fmla="*/ 292 h 10000"/>
              <a:gd name="connsiteX48" fmla="*/ 59 w 10000"/>
              <a:gd name="connsiteY48" fmla="*/ 74 h 10000"/>
              <a:gd name="connsiteX49" fmla="*/ 0 w 10000"/>
              <a:gd name="connsiteY49" fmla="*/ 0 h 10000"/>
              <a:gd name="connsiteX50" fmla="*/ 0 w 10000"/>
              <a:gd name="connsiteY50" fmla="*/ 0 h 10000"/>
              <a:gd name="connsiteX0" fmla="*/ 0 w 10000"/>
              <a:gd name="connsiteY0" fmla="*/ 0 h 7955"/>
              <a:gd name="connsiteX1" fmla="*/ 32 w 10000"/>
              <a:gd name="connsiteY1" fmla="*/ 7955 h 7955"/>
              <a:gd name="connsiteX2" fmla="*/ 9953 w 10000"/>
              <a:gd name="connsiteY2" fmla="*/ 1370 h 7955"/>
              <a:gd name="connsiteX3" fmla="*/ 10000 w 10000"/>
              <a:gd name="connsiteY3" fmla="*/ 15 h 7955"/>
              <a:gd name="connsiteX4" fmla="*/ 10000 w 10000"/>
              <a:gd name="connsiteY4" fmla="*/ 15 h 7955"/>
              <a:gd name="connsiteX5" fmla="*/ 9773 w 10000"/>
              <a:gd name="connsiteY5" fmla="*/ 329 h 7955"/>
              <a:gd name="connsiteX6" fmla="*/ 9547 w 10000"/>
              <a:gd name="connsiteY6" fmla="*/ 627 h 7955"/>
              <a:gd name="connsiteX7" fmla="*/ 9320 w 10000"/>
              <a:gd name="connsiteY7" fmla="*/ 919 h 7955"/>
              <a:gd name="connsiteX8" fmla="*/ 9092 w 10000"/>
              <a:gd name="connsiteY8" fmla="*/ 1171 h 7955"/>
              <a:gd name="connsiteX9" fmla="*/ 8865 w 10000"/>
              <a:gd name="connsiteY9" fmla="*/ 1423 h 7955"/>
              <a:gd name="connsiteX10" fmla="*/ 8637 w 10000"/>
              <a:gd name="connsiteY10" fmla="*/ 1659 h 7955"/>
              <a:gd name="connsiteX11" fmla="*/ 8412 w 10000"/>
              <a:gd name="connsiteY11" fmla="*/ 1860 h 7955"/>
              <a:gd name="connsiteX12" fmla="*/ 8184 w 10000"/>
              <a:gd name="connsiteY12" fmla="*/ 2053 h 7955"/>
              <a:gd name="connsiteX13" fmla="*/ 7957 w 10000"/>
              <a:gd name="connsiteY13" fmla="*/ 2228 h 7955"/>
              <a:gd name="connsiteX14" fmla="*/ 7734 w 10000"/>
              <a:gd name="connsiteY14" fmla="*/ 2379 h 7955"/>
              <a:gd name="connsiteX15" fmla="*/ 7508 w 10000"/>
              <a:gd name="connsiteY15" fmla="*/ 2531 h 7955"/>
              <a:gd name="connsiteX16" fmla="*/ 7285 w 10000"/>
              <a:gd name="connsiteY16" fmla="*/ 2657 h 7955"/>
              <a:gd name="connsiteX17" fmla="*/ 7062 w 10000"/>
              <a:gd name="connsiteY17" fmla="*/ 2755 h 7955"/>
              <a:gd name="connsiteX18" fmla="*/ 6840 w 10000"/>
              <a:gd name="connsiteY18" fmla="*/ 2859 h 7955"/>
              <a:gd name="connsiteX19" fmla="*/ 6620 w 10000"/>
              <a:gd name="connsiteY19" fmla="*/ 2944 h 7955"/>
              <a:gd name="connsiteX20" fmla="*/ 6402 w 10000"/>
              <a:gd name="connsiteY20" fmla="*/ 3006 h 7955"/>
              <a:gd name="connsiteX21" fmla="*/ 6184 w 10000"/>
              <a:gd name="connsiteY21" fmla="*/ 3058 h 7955"/>
              <a:gd name="connsiteX22" fmla="*/ 5968 w 10000"/>
              <a:gd name="connsiteY22" fmla="*/ 3109 h 7955"/>
              <a:gd name="connsiteX23" fmla="*/ 5755 w 10000"/>
              <a:gd name="connsiteY23" fmla="*/ 3132 h 7955"/>
              <a:gd name="connsiteX24" fmla="*/ 5542 w 10000"/>
              <a:gd name="connsiteY24" fmla="*/ 3157 h 7955"/>
              <a:gd name="connsiteX25" fmla="*/ 5332 w 10000"/>
              <a:gd name="connsiteY25" fmla="*/ 3171 h 7955"/>
              <a:gd name="connsiteX26" fmla="*/ 5124 w 10000"/>
              <a:gd name="connsiteY26" fmla="*/ 3157 h 7955"/>
              <a:gd name="connsiteX27" fmla="*/ 4918 w 10000"/>
              <a:gd name="connsiteY27" fmla="*/ 3157 h 7955"/>
              <a:gd name="connsiteX28" fmla="*/ 4714 w 10000"/>
              <a:gd name="connsiteY28" fmla="*/ 3132 h 7955"/>
              <a:gd name="connsiteX29" fmla="*/ 4514 w 10000"/>
              <a:gd name="connsiteY29" fmla="*/ 3095 h 7955"/>
              <a:gd name="connsiteX30" fmla="*/ 4316 w 10000"/>
              <a:gd name="connsiteY30" fmla="*/ 3058 h 7955"/>
              <a:gd name="connsiteX31" fmla="*/ 4122 w 10000"/>
              <a:gd name="connsiteY31" fmla="*/ 3020 h 7955"/>
              <a:gd name="connsiteX32" fmla="*/ 3929 w 10000"/>
              <a:gd name="connsiteY32" fmla="*/ 2958 h 7955"/>
              <a:gd name="connsiteX33" fmla="*/ 3739 w 10000"/>
              <a:gd name="connsiteY33" fmla="*/ 2892 h 7955"/>
              <a:gd name="connsiteX34" fmla="*/ 3553 w 10000"/>
              <a:gd name="connsiteY34" fmla="*/ 2833 h 7955"/>
              <a:gd name="connsiteX35" fmla="*/ 3190 w 10000"/>
              <a:gd name="connsiteY35" fmla="*/ 2667 h 7955"/>
              <a:gd name="connsiteX36" fmla="*/ 2842 w 10000"/>
              <a:gd name="connsiteY36" fmla="*/ 2490 h 7955"/>
              <a:gd name="connsiteX37" fmla="*/ 2508 w 10000"/>
              <a:gd name="connsiteY37" fmla="*/ 2305 h 7955"/>
              <a:gd name="connsiteX38" fmla="*/ 2192 w 10000"/>
              <a:gd name="connsiteY38" fmla="*/ 2102 h 7955"/>
              <a:gd name="connsiteX39" fmla="*/ 1890 w 10000"/>
              <a:gd name="connsiteY39" fmla="*/ 1887 h 7955"/>
              <a:gd name="connsiteX40" fmla="*/ 1610 w 10000"/>
              <a:gd name="connsiteY40" fmla="*/ 1659 h 7955"/>
              <a:gd name="connsiteX41" fmla="*/ 1347 w 10000"/>
              <a:gd name="connsiteY41" fmla="*/ 1433 h 7955"/>
              <a:gd name="connsiteX42" fmla="*/ 1105 w 10000"/>
              <a:gd name="connsiteY42" fmla="*/ 1210 h 7955"/>
              <a:gd name="connsiteX43" fmla="*/ 883 w 10000"/>
              <a:gd name="connsiteY43" fmla="*/ 995 h 7955"/>
              <a:gd name="connsiteX44" fmla="*/ 686 w 10000"/>
              <a:gd name="connsiteY44" fmla="*/ 793 h 7955"/>
              <a:gd name="connsiteX45" fmla="*/ 508 w 10000"/>
              <a:gd name="connsiteY45" fmla="*/ 602 h 7955"/>
              <a:gd name="connsiteX46" fmla="*/ 358 w 10000"/>
              <a:gd name="connsiteY46" fmla="*/ 443 h 7955"/>
              <a:gd name="connsiteX47" fmla="*/ 232 w 10000"/>
              <a:gd name="connsiteY47" fmla="*/ 292 h 7955"/>
              <a:gd name="connsiteX48" fmla="*/ 59 w 10000"/>
              <a:gd name="connsiteY48" fmla="*/ 74 h 7955"/>
              <a:gd name="connsiteX49" fmla="*/ 0 w 10000"/>
              <a:gd name="connsiteY49" fmla="*/ 0 h 7955"/>
              <a:gd name="connsiteX50" fmla="*/ 0 w 10000"/>
              <a:gd name="connsiteY50" fmla="*/ 0 h 7955"/>
              <a:gd name="connsiteX0" fmla="*/ 0 w 10000"/>
              <a:gd name="connsiteY0" fmla="*/ 0 h 10000"/>
              <a:gd name="connsiteX1" fmla="*/ 32 w 10000"/>
              <a:gd name="connsiteY1" fmla="*/ 10000 h 10000"/>
              <a:gd name="connsiteX2" fmla="*/ 5409 w 10000"/>
              <a:gd name="connsiteY2" fmla="*/ 5405 h 10000"/>
              <a:gd name="connsiteX3" fmla="*/ 9953 w 10000"/>
              <a:gd name="connsiteY3" fmla="*/ 1722 h 10000"/>
              <a:gd name="connsiteX4" fmla="*/ 10000 w 10000"/>
              <a:gd name="connsiteY4" fmla="*/ 19 h 10000"/>
              <a:gd name="connsiteX5" fmla="*/ 10000 w 10000"/>
              <a:gd name="connsiteY5" fmla="*/ 19 h 10000"/>
              <a:gd name="connsiteX6" fmla="*/ 9773 w 10000"/>
              <a:gd name="connsiteY6" fmla="*/ 414 h 10000"/>
              <a:gd name="connsiteX7" fmla="*/ 9547 w 10000"/>
              <a:gd name="connsiteY7" fmla="*/ 788 h 10000"/>
              <a:gd name="connsiteX8" fmla="*/ 9320 w 10000"/>
              <a:gd name="connsiteY8" fmla="*/ 1155 h 10000"/>
              <a:gd name="connsiteX9" fmla="*/ 9092 w 10000"/>
              <a:gd name="connsiteY9" fmla="*/ 1472 h 10000"/>
              <a:gd name="connsiteX10" fmla="*/ 8865 w 10000"/>
              <a:gd name="connsiteY10" fmla="*/ 1789 h 10000"/>
              <a:gd name="connsiteX11" fmla="*/ 8637 w 10000"/>
              <a:gd name="connsiteY11" fmla="*/ 2085 h 10000"/>
              <a:gd name="connsiteX12" fmla="*/ 8412 w 10000"/>
              <a:gd name="connsiteY12" fmla="*/ 2338 h 10000"/>
              <a:gd name="connsiteX13" fmla="*/ 8184 w 10000"/>
              <a:gd name="connsiteY13" fmla="*/ 2581 h 10000"/>
              <a:gd name="connsiteX14" fmla="*/ 7957 w 10000"/>
              <a:gd name="connsiteY14" fmla="*/ 2801 h 10000"/>
              <a:gd name="connsiteX15" fmla="*/ 7734 w 10000"/>
              <a:gd name="connsiteY15" fmla="*/ 2991 h 10000"/>
              <a:gd name="connsiteX16" fmla="*/ 7508 w 10000"/>
              <a:gd name="connsiteY16" fmla="*/ 3182 h 10000"/>
              <a:gd name="connsiteX17" fmla="*/ 7285 w 10000"/>
              <a:gd name="connsiteY17" fmla="*/ 3340 h 10000"/>
              <a:gd name="connsiteX18" fmla="*/ 7062 w 10000"/>
              <a:gd name="connsiteY18" fmla="*/ 3463 h 10000"/>
              <a:gd name="connsiteX19" fmla="*/ 6840 w 10000"/>
              <a:gd name="connsiteY19" fmla="*/ 3594 h 10000"/>
              <a:gd name="connsiteX20" fmla="*/ 6620 w 10000"/>
              <a:gd name="connsiteY20" fmla="*/ 3701 h 10000"/>
              <a:gd name="connsiteX21" fmla="*/ 6402 w 10000"/>
              <a:gd name="connsiteY21" fmla="*/ 3779 h 10000"/>
              <a:gd name="connsiteX22" fmla="*/ 6184 w 10000"/>
              <a:gd name="connsiteY22" fmla="*/ 3844 h 10000"/>
              <a:gd name="connsiteX23" fmla="*/ 5968 w 10000"/>
              <a:gd name="connsiteY23" fmla="*/ 3908 h 10000"/>
              <a:gd name="connsiteX24" fmla="*/ 5755 w 10000"/>
              <a:gd name="connsiteY24" fmla="*/ 3937 h 10000"/>
              <a:gd name="connsiteX25" fmla="*/ 5542 w 10000"/>
              <a:gd name="connsiteY25" fmla="*/ 3969 h 10000"/>
              <a:gd name="connsiteX26" fmla="*/ 5332 w 10000"/>
              <a:gd name="connsiteY26" fmla="*/ 3986 h 10000"/>
              <a:gd name="connsiteX27" fmla="*/ 5124 w 10000"/>
              <a:gd name="connsiteY27" fmla="*/ 3969 h 10000"/>
              <a:gd name="connsiteX28" fmla="*/ 4918 w 10000"/>
              <a:gd name="connsiteY28" fmla="*/ 3969 h 10000"/>
              <a:gd name="connsiteX29" fmla="*/ 4714 w 10000"/>
              <a:gd name="connsiteY29" fmla="*/ 3937 h 10000"/>
              <a:gd name="connsiteX30" fmla="*/ 4514 w 10000"/>
              <a:gd name="connsiteY30" fmla="*/ 3891 h 10000"/>
              <a:gd name="connsiteX31" fmla="*/ 4316 w 10000"/>
              <a:gd name="connsiteY31" fmla="*/ 3844 h 10000"/>
              <a:gd name="connsiteX32" fmla="*/ 4122 w 10000"/>
              <a:gd name="connsiteY32" fmla="*/ 3796 h 10000"/>
              <a:gd name="connsiteX33" fmla="*/ 3929 w 10000"/>
              <a:gd name="connsiteY33" fmla="*/ 3718 h 10000"/>
              <a:gd name="connsiteX34" fmla="*/ 3739 w 10000"/>
              <a:gd name="connsiteY34" fmla="*/ 3635 h 10000"/>
              <a:gd name="connsiteX35" fmla="*/ 3553 w 10000"/>
              <a:gd name="connsiteY35" fmla="*/ 3561 h 10000"/>
              <a:gd name="connsiteX36" fmla="*/ 3190 w 10000"/>
              <a:gd name="connsiteY36" fmla="*/ 3353 h 10000"/>
              <a:gd name="connsiteX37" fmla="*/ 2842 w 10000"/>
              <a:gd name="connsiteY37" fmla="*/ 3130 h 10000"/>
              <a:gd name="connsiteX38" fmla="*/ 2508 w 10000"/>
              <a:gd name="connsiteY38" fmla="*/ 2898 h 10000"/>
              <a:gd name="connsiteX39" fmla="*/ 2192 w 10000"/>
              <a:gd name="connsiteY39" fmla="*/ 2642 h 10000"/>
              <a:gd name="connsiteX40" fmla="*/ 1890 w 10000"/>
              <a:gd name="connsiteY40" fmla="*/ 2372 h 10000"/>
              <a:gd name="connsiteX41" fmla="*/ 1610 w 10000"/>
              <a:gd name="connsiteY41" fmla="*/ 2085 h 10000"/>
              <a:gd name="connsiteX42" fmla="*/ 1347 w 10000"/>
              <a:gd name="connsiteY42" fmla="*/ 1801 h 10000"/>
              <a:gd name="connsiteX43" fmla="*/ 1105 w 10000"/>
              <a:gd name="connsiteY43" fmla="*/ 1521 h 10000"/>
              <a:gd name="connsiteX44" fmla="*/ 883 w 10000"/>
              <a:gd name="connsiteY44" fmla="*/ 1251 h 10000"/>
              <a:gd name="connsiteX45" fmla="*/ 686 w 10000"/>
              <a:gd name="connsiteY45" fmla="*/ 997 h 10000"/>
              <a:gd name="connsiteX46" fmla="*/ 508 w 10000"/>
              <a:gd name="connsiteY46" fmla="*/ 757 h 10000"/>
              <a:gd name="connsiteX47" fmla="*/ 358 w 10000"/>
              <a:gd name="connsiteY47" fmla="*/ 557 h 10000"/>
              <a:gd name="connsiteX48" fmla="*/ 232 w 10000"/>
              <a:gd name="connsiteY48" fmla="*/ 367 h 10000"/>
              <a:gd name="connsiteX49" fmla="*/ 59 w 10000"/>
              <a:gd name="connsiteY49" fmla="*/ 93 h 10000"/>
              <a:gd name="connsiteX50" fmla="*/ 0 w 10000"/>
              <a:gd name="connsiteY50" fmla="*/ 0 h 10000"/>
              <a:gd name="connsiteX51" fmla="*/ 0 w 10000"/>
              <a:gd name="connsiteY51" fmla="*/ 0 h 10000"/>
              <a:gd name="connsiteX0" fmla="*/ 0 w 10000"/>
              <a:gd name="connsiteY0" fmla="*/ 0 h 5405"/>
              <a:gd name="connsiteX1" fmla="*/ 16 w 10000"/>
              <a:gd name="connsiteY1" fmla="*/ 2608 h 5405"/>
              <a:gd name="connsiteX2" fmla="*/ 5409 w 10000"/>
              <a:gd name="connsiteY2" fmla="*/ 5405 h 5405"/>
              <a:gd name="connsiteX3" fmla="*/ 9953 w 10000"/>
              <a:gd name="connsiteY3" fmla="*/ 1722 h 5405"/>
              <a:gd name="connsiteX4" fmla="*/ 10000 w 10000"/>
              <a:gd name="connsiteY4" fmla="*/ 19 h 5405"/>
              <a:gd name="connsiteX5" fmla="*/ 10000 w 10000"/>
              <a:gd name="connsiteY5" fmla="*/ 19 h 5405"/>
              <a:gd name="connsiteX6" fmla="*/ 9773 w 10000"/>
              <a:gd name="connsiteY6" fmla="*/ 414 h 5405"/>
              <a:gd name="connsiteX7" fmla="*/ 9547 w 10000"/>
              <a:gd name="connsiteY7" fmla="*/ 788 h 5405"/>
              <a:gd name="connsiteX8" fmla="*/ 9320 w 10000"/>
              <a:gd name="connsiteY8" fmla="*/ 1155 h 5405"/>
              <a:gd name="connsiteX9" fmla="*/ 9092 w 10000"/>
              <a:gd name="connsiteY9" fmla="*/ 1472 h 5405"/>
              <a:gd name="connsiteX10" fmla="*/ 8865 w 10000"/>
              <a:gd name="connsiteY10" fmla="*/ 1789 h 5405"/>
              <a:gd name="connsiteX11" fmla="*/ 8637 w 10000"/>
              <a:gd name="connsiteY11" fmla="*/ 2085 h 5405"/>
              <a:gd name="connsiteX12" fmla="*/ 8412 w 10000"/>
              <a:gd name="connsiteY12" fmla="*/ 2338 h 5405"/>
              <a:gd name="connsiteX13" fmla="*/ 8184 w 10000"/>
              <a:gd name="connsiteY13" fmla="*/ 2581 h 5405"/>
              <a:gd name="connsiteX14" fmla="*/ 7957 w 10000"/>
              <a:gd name="connsiteY14" fmla="*/ 2801 h 5405"/>
              <a:gd name="connsiteX15" fmla="*/ 7734 w 10000"/>
              <a:gd name="connsiteY15" fmla="*/ 2991 h 5405"/>
              <a:gd name="connsiteX16" fmla="*/ 7508 w 10000"/>
              <a:gd name="connsiteY16" fmla="*/ 3182 h 5405"/>
              <a:gd name="connsiteX17" fmla="*/ 7285 w 10000"/>
              <a:gd name="connsiteY17" fmla="*/ 3340 h 5405"/>
              <a:gd name="connsiteX18" fmla="*/ 7062 w 10000"/>
              <a:gd name="connsiteY18" fmla="*/ 3463 h 5405"/>
              <a:gd name="connsiteX19" fmla="*/ 6840 w 10000"/>
              <a:gd name="connsiteY19" fmla="*/ 3594 h 5405"/>
              <a:gd name="connsiteX20" fmla="*/ 6620 w 10000"/>
              <a:gd name="connsiteY20" fmla="*/ 3701 h 5405"/>
              <a:gd name="connsiteX21" fmla="*/ 6402 w 10000"/>
              <a:gd name="connsiteY21" fmla="*/ 3779 h 5405"/>
              <a:gd name="connsiteX22" fmla="*/ 6184 w 10000"/>
              <a:gd name="connsiteY22" fmla="*/ 3844 h 5405"/>
              <a:gd name="connsiteX23" fmla="*/ 5968 w 10000"/>
              <a:gd name="connsiteY23" fmla="*/ 3908 h 5405"/>
              <a:gd name="connsiteX24" fmla="*/ 5755 w 10000"/>
              <a:gd name="connsiteY24" fmla="*/ 3937 h 5405"/>
              <a:gd name="connsiteX25" fmla="*/ 5542 w 10000"/>
              <a:gd name="connsiteY25" fmla="*/ 3969 h 5405"/>
              <a:gd name="connsiteX26" fmla="*/ 5332 w 10000"/>
              <a:gd name="connsiteY26" fmla="*/ 3986 h 5405"/>
              <a:gd name="connsiteX27" fmla="*/ 5124 w 10000"/>
              <a:gd name="connsiteY27" fmla="*/ 3969 h 5405"/>
              <a:gd name="connsiteX28" fmla="*/ 4918 w 10000"/>
              <a:gd name="connsiteY28" fmla="*/ 3969 h 5405"/>
              <a:gd name="connsiteX29" fmla="*/ 4714 w 10000"/>
              <a:gd name="connsiteY29" fmla="*/ 3937 h 5405"/>
              <a:gd name="connsiteX30" fmla="*/ 4514 w 10000"/>
              <a:gd name="connsiteY30" fmla="*/ 3891 h 5405"/>
              <a:gd name="connsiteX31" fmla="*/ 4316 w 10000"/>
              <a:gd name="connsiteY31" fmla="*/ 3844 h 5405"/>
              <a:gd name="connsiteX32" fmla="*/ 4122 w 10000"/>
              <a:gd name="connsiteY32" fmla="*/ 3796 h 5405"/>
              <a:gd name="connsiteX33" fmla="*/ 3929 w 10000"/>
              <a:gd name="connsiteY33" fmla="*/ 3718 h 5405"/>
              <a:gd name="connsiteX34" fmla="*/ 3739 w 10000"/>
              <a:gd name="connsiteY34" fmla="*/ 3635 h 5405"/>
              <a:gd name="connsiteX35" fmla="*/ 3553 w 10000"/>
              <a:gd name="connsiteY35" fmla="*/ 3561 h 5405"/>
              <a:gd name="connsiteX36" fmla="*/ 3190 w 10000"/>
              <a:gd name="connsiteY36" fmla="*/ 3353 h 5405"/>
              <a:gd name="connsiteX37" fmla="*/ 2842 w 10000"/>
              <a:gd name="connsiteY37" fmla="*/ 3130 h 5405"/>
              <a:gd name="connsiteX38" fmla="*/ 2508 w 10000"/>
              <a:gd name="connsiteY38" fmla="*/ 2898 h 5405"/>
              <a:gd name="connsiteX39" fmla="*/ 2192 w 10000"/>
              <a:gd name="connsiteY39" fmla="*/ 2642 h 5405"/>
              <a:gd name="connsiteX40" fmla="*/ 1890 w 10000"/>
              <a:gd name="connsiteY40" fmla="*/ 2372 h 5405"/>
              <a:gd name="connsiteX41" fmla="*/ 1610 w 10000"/>
              <a:gd name="connsiteY41" fmla="*/ 2085 h 5405"/>
              <a:gd name="connsiteX42" fmla="*/ 1347 w 10000"/>
              <a:gd name="connsiteY42" fmla="*/ 1801 h 5405"/>
              <a:gd name="connsiteX43" fmla="*/ 1105 w 10000"/>
              <a:gd name="connsiteY43" fmla="*/ 1521 h 5405"/>
              <a:gd name="connsiteX44" fmla="*/ 883 w 10000"/>
              <a:gd name="connsiteY44" fmla="*/ 1251 h 5405"/>
              <a:gd name="connsiteX45" fmla="*/ 686 w 10000"/>
              <a:gd name="connsiteY45" fmla="*/ 997 h 5405"/>
              <a:gd name="connsiteX46" fmla="*/ 508 w 10000"/>
              <a:gd name="connsiteY46" fmla="*/ 757 h 5405"/>
              <a:gd name="connsiteX47" fmla="*/ 358 w 10000"/>
              <a:gd name="connsiteY47" fmla="*/ 557 h 5405"/>
              <a:gd name="connsiteX48" fmla="*/ 232 w 10000"/>
              <a:gd name="connsiteY48" fmla="*/ 367 h 5405"/>
              <a:gd name="connsiteX49" fmla="*/ 59 w 10000"/>
              <a:gd name="connsiteY49" fmla="*/ 93 h 5405"/>
              <a:gd name="connsiteX50" fmla="*/ 0 w 10000"/>
              <a:gd name="connsiteY50" fmla="*/ 0 h 5405"/>
              <a:gd name="connsiteX51" fmla="*/ 0 w 10000"/>
              <a:gd name="connsiteY51" fmla="*/ 0 h 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5405">
                <a:moveTo>
                  <a:pt x="0" y="0"/>
                </a:moveTo>
                <a:cubicBezTo>
                  <a:pt x="5" y="4190"/>
                  <a:pt x="11" y="-1582"/>
                  <a:pt x="16" y="2608"/>
                </a:cubicBezTo>
                <a:lnTo>
                  <a:pt x="5409" y="5405"/>
                </a:lnTo>
                <a:lnTo>
                  <a:pt x="9953" y="1722"/>
                </a:lnTo>
                <a:cubicBezTo>
                  <a:pt x="9969" y="1154"/>
                  <a:pt x="9984" y="587"/>
                  <a:pt x="10000" y="19"/>
                </a:cubicBezTo>
                <a:lnTo>
                  <a:pt x="10000" y="19"/>
                </a:lnTo>
                <a:lnTo>
                  <a:pt x="9773" y="414"/>
                </a:lnTo>
                <a:cubicBezTo>
                  <a:pt x="9698" y="539"/>
                  <a:pt x="9622" y="663"/>
                  <a:pt x="9547" y="788"/>
                </a:cubicBezTo>
                <a:cubicBezTo>
                  <a:pt x="9471" y="910"/>
                  <a:pt x="9396" y="1033"/>
                  <a:pt x="9320" y="1155"/>
                </a:cubicBezTo>
                <a:lnTo>
                  <a:pt x="9092" y="1472"/>
                </a:lnTo>
                <a:lnTo>
                  <a:pt x="8865" y="1789"/>
                </a:lnTo>
                <a:lnTo>
                  <a:pt x="8637" y="2085"/>
                </a:lnTo>
                <a:lnTo>
                  <a:pt x="8412" y="2338"/>
                </a:lnTo>
                <a:lnTo>
                  <a:pt x="8184" y="2581"/>
                </a:lnTo>
                <a:lnTo>
                  <a:pt x="7957" y="2801"/>
                </a:lnTo>
                <a:lnTo>
                  <a:pt x="7734" y="2991"/>
                </a:lnTo>
                <a:lnTo>
                  <a:pt x="7508" y="3182"/>
                </a:lnTo>
                <a:lnTo>
                  <a:pt x="7285" y="3340"/>
                </a:lnTo>
                <a:lnTo>
                  <a:pt x="7062" y="3463"/>
                </a:lnTo>
                <a:lnTo>
                  <a:pt x="6840" y="3594"/>
                </a:lnTo>
                <a:lnTo>
                  <a:pt x="6620" y="3701"/>
                </a:lnTo>
                <a:lnTo>
                  <a:pt x="6402" y="3779"/>
                </a:lnTo>
                <a:lnTo>
                  <a:pt x="6184" y="3844"/>
                </a:lnTo>
                <a:lnTo>
                  <a:pt x="5968" y="3908"/>
                </a:lnTo>
                <a:lnTo>
                  <a:pt x="5755" y="3937"/>
                </a:lnTo>
                <a:lnTo>
                  <a:pt x="5542" y="3969"/>
                </a:lnTo>
                <a:lnTo>
                  <a:pt x="5332" y="3986"/>
                </a:lnTo>
                <a:lnTo>
                  <a:pt x="5124" y="3969"/>
                </a:lnTo>
                <a:lnTo>
                  <a:pt x="4918" y="3969"/>
                </a:lnTo>
                <a:lnTo>
                  <a:pt x="4714" y="3937"/>
                </a:lnTo>
                <a:lnTo>
                  <a:pt x="4514" y="3891"/>
                </a:lnTo>
                <a:lnTo>
                  <a:pt x="4316" y="3844"/>
                </a:lnTo>
                <a:lnTo>
                  <a:pt x="4122" y="3796"/>
                </a:lnTo>
                <a:lnTo>
                  <a:pt x="3929" y="3718"/>
                </a:lnTo>
                <a:lnTo>
                  <a:pt x="3739" y="3635"/>
                </a:lnTo>
                <a:lnTo>
                  <a:pt x="3553" y="3561"/>
                </a:lnTo>
                <a:lnTo>
                  <a:pt x="3190" y="3353"/>
                </a:lnTo>
                <a:lnTo>
                  <a:pt x="2842" y="3130"/>
                </a:lnTo>
                <a:lnTo>
                  <a:pt x="2508" y="2898"/>
                </a:lnTo>
                <a:lnTo>
                  <a:pt x="2192" y="2642"/>
                </a:lnTo>
                <a:lnTo>
                  <a:pt x="1890" y="2372"/>
                </a:lnTo>
                <a:lnTo>
                  <a:pt x="1610" y="2085"/>
                </a:lnTo>
                <a:lnTo>
                  <a:pt x="1347" y="1801"/>
                </a:lnTo>
                <a:lnTo>
                  <a:pt x="1105" y="1521"/>
                </a:lnTo>
                <a:lnTo>
                  <a:pt x="883" y="1251"/>
                </a:lnTo>
                <a:cubicBezTo>
                  <a:pt x="817" y="1167"/>
                  <a:pt x="752" y="1081"/>
                  <a:pt x="686" y="997"/>
                </a:cubicBezTo>
                <a:cubicBezTo>
                  <a:pt x="627" y="916"/>
                  <a:pt x="567" y="837"/>
                  <a:pt x="508" y="757"/>
                </a:cubicBezTo>
                <a:lnTo>
                  <a:pt x="358" y="557"/>
                </a:lnTo>
                <a:lnTo>
                  <a:pt x="232" y="367"/>
                </a:lnTo>
                <a:cubicBezTo>
                  <a:pt x="174" y="277"/>
                  <a:pt x="117" y="184"/>
                  <a:pt x="59" y="93"/>
                </a:cubicBezTo>
                <a:cubicBezTo>
                  <a:pt x="39" y="62"/>
                  <a:pt x="20" y="3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F7C1910-61FC-214E-B19D-2354E571E6B1}"/>
              </a:ext>
            </a:extLst>
          </p:cNvPr>
          <p:cNvSpPr/>
          <p:nvPr userDrawn="1"/>
        </p:nvSpPr>
        <p:spPr bwMode="gray">
          <a:xfrm rot="15922489">
            <a:off x="515259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25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294149" y="685802"/>
            <a:ext cx="10289680" cy="13815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E9A-2755-1B49-9094-02250BA934C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3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F20CFB-DA38-4B74-8407-53A35B39569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8002" y="1178428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Roboto" pitchFamily="2" charset="0"/>
                <a:ea typeface="Roboto" panose="02000000000000000000" pitchFamily="2" charset="0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3"/>
            </a:lvl3pPr>
            <a:lvl4pPr marL="1828801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1" indent="0">
              <a:buNone/>
              <a:defRPr sz="1200"/>
            </a:lvl8pPr>
            <a:lvl9pPr marL="4876801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2A53B-FD84-4867-BC11-F7CCE4E0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455086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bg1">
                    <a:lumMod val="50000"/>
                  </a:schemeClr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8080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66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-gray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426E116-0FE3-D446-B568-6373B436AD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4040" y="1648758"/>
            <a:ext cx="5686246" cy="4566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2000" b="0" i="0">
                <a:solidFill>
                  <a:srgbClr val="848585"/>
                </a:solidFill>
                <a:latin typeface="Montserrat SemiBold" pitchFamily="2" charset="77"/>
                <a:cs typeface="Arial" panose="020B0604020202020204" pitchFamily="34" charset="0"/>
              </a:defRPr>
            </a:lvl1pPr>
            <a:lvl2pPr marL="457177" indent="0">
              <a:lnSpc>
                <a:spcPts val="2400"/>
              </a:lnSpc>
              <a:buNone/>
              <a:defRPr sz="2000">
                <a:solidFill>
                  <a:srgbClr val="84858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55" indent="0">
              <a:lnSpc>
                <a:spcPts val="2400"/>
              </a:lnSpc>
              <a:buNone/>
              <a:defRPr sz="2000">
                <a:solidFill>
                  <a:srgbClr val="84858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32" indent="0">
              <a:lnSpc>
                <a:spcPts val="2400"/>
              </a:lnSpc>
              <a:buNone/>
              <a:defRPr sz="2000">
                <a:solidFill>
                  <a:srgbClr val="84858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09" indent="0">
              <a:lnSpc>
                <a:spcPts val="2400"/>
              </a:lnSpc>
              <a:buNone/>
              <a:defRPr sz="2000">
                <a:solidFill>
                  <a:srgbClr val="84858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C346A8C-5C1D-114F-94D6-BBB1ED2906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808" y="2035250"/>
            <a:ext cx="5676478" cy="4736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600" b="0" i="0">
                <a:solidFill>
                  <a:srgbClr val="2576B7"/>
                </a:solidFill>
                <a:latin typeface="Exo" panose="02000503000000000000" pitchFamily="2" charset="77"/>
                <a:cs typeface="Arial" panose="020B0604020202020204" pitchFamily="34" charset="0"/>
              </a:defRPr>
            </a:lvl1pPr>
            <a:lvl2pPr marL="457177" indent="0">
              <a:lnSpc>
                <a:spcPts val="1400"/>
              </a:lnSpc>
              <a:buNone/>
              <a:defRPr sz="1400">
                <a:solidFill>
                  <a:srgbClr val="2576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55" indent="0">
              <a:lnSpc>
                <a:spcPts val="1400"/>
              </a:lnSpc>
              <a:buNone/>
              <a:defRPr sz="1400">
                <a:solidFill>
                  <a:srgbClr val="2576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32" indent="0">
              <a:lnSpc>
                <a:spcPts val="1400"/>
              </a:lnSpc>
              <a:buNone/>
              <a:defRPr sz="1400">
                <a:solidFill>
                  <a:srgbClr val="2576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09" indent="0">
              <a:lnSpc>
                <a:spcPts val="1400"/>
              </a:lnSpc>
              <a:buNone/>
              <a:defRPr sz="1400">
                <a:solidFill>
                  <a:srgbClr val="2576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488EE5B4-C583-A04D-B5FC-EA23A0B46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60" y="530021"/>
            <a:ext cx="4966394" cy="1130188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21BB38-35D8-6041-AE06-91C7C44D942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1428" y="3125005"/>
            <a:ext cx="6677743" cy="1444156"/>
          </a:xfrm>
          <a:prstGeom prst="rect">
            <a:avLst/>
          </a:prstGeom>
        </p:spPr>
        <p:txBody>
          <a:bodyPr lIns="0" tIns="0" rIns="0" bIns="0" numCol="1" spcCol="292608"/>
          <a:lstStyle>
            <a:lvl1pPr marL="179379" indent="-179379">
              <a:lnSpc>
                <a:spcPct val="110000"/>
              </a:lnSpc>
              <a:tabLst/>
              <a:defRPr sz="1400">
                <a:solidFill>
                  <a:srgbClr val="000000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1pPr>
            <a:lvl2pPr marL="628619" indent="-171442">
              <a:lnSpc>
                <a:spcPct val="110000"/>
              </a:lnSpc>
              <a:tabLst/>
              <a:defRPr sz="1400">
                <a:solidFill>
                  <a:srgbClr val="000000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2pPr>
            <a:lvl3pPr marL="1088970" indent="-174617">
              <a:lnSpc>
                <a:spcPct val="110000"/>
              </a:lnSpc>
              <a:tabLst/>
              <a:defRPr sz="1400">
                <a:solidFill>
                  <a:srgbClr val="000000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3pPr>
            <a:lvl4pPr marL="1549323" indent="-177791">
              <a:lnSpc>
                <a:spcPct val="110000"/>
              </a:lnSpc>
              <a:tabLst/>
              <a:defRPr sz="1400">
                <a:solidFill>
                  <a:srgbClr val="000000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4pPr>
            <a:lvl5pPr marL="2000150" indent="-171442">
              <a:lnSpc>
                <a:spcPct val="110000"/>
              </a:lnSpc>
              <a:tabLst/>
              <a:defRPr sz="1400">
                <a:solidFill>
                  <a:srgbClr val="000000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4109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F20CFB-DA38-4B74-8407-53A35B39569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8002" y="1178428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Roboto" pitchFamily="2" charset="0"/>
                <a:ea typeface="Roboto" panose="02000000000000000000" pitchFamily="2" charset="0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3"/>
            </a:lvl3pPr>
            <a:lvl4pPr marL="1828801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1" indent="0">
              <a:buNone/>
              <a:defRPr sz="1200"/>
            </a:lvl8pPr>
            <a:lvl9pPr marL="4876801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2A53B-FD84-4867-BC11-F7CCE4E0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455086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bg1">
                    <a:lumMod val="50000"/>
                  </a:schemeClr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766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9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D6418-E216-C64F-BF26-5BDA3C39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7" y="106790"/>
            <a:ext cx="11300236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0821-D19D-A148-BAC4-6F471600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673915"/>
            <a:ext cx="11300236" cy="138157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E418-9FFE-C245-86D4-89ED8F8E7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667" y="6357328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 b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8FFA3-C8F7-BB49-9D2C-D08852CF1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2253" y="6357328"/>
            <a:ext cx="251927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sz="1200" b="0" smtClean="0">
                <a:solidFill>
                  <a:schemeClr val="accent2"/>
                </a:solidFill>
              </a:defRPr>
            </a:lvl1pPr>
          </a:lstStyle>
          <a:p>
            <a:fld id="{274CC3B9-6596-1243-9665-72A444B9047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465667" y="821095"/>
            <a:ext cx="11300236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68D067D-7D1A-D643-89DD-494771B9F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931"/>
          <a:stretch/>
        </p:blipFill>
        <p:spPr>
          <a:xfrm>
            <a:off x="11303724" y="6174735"/>
            <a:ext cx="542837" cy="54674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 flipH="1">
            <a:off x="465668" y="6071330"/>
            <a:ext cx="10923693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2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+mn-lt"/>
          <a:ea typeface="Segoe UI Historic" panose="020B0502040204020203" pitchFamily="34" charset="0"/>
          <a:cs typeface="Segoe UI Historic" panose="020B0502040204020203" pitchFamily="34" charset="0"/>
        </a:defRPr>
      </a:lvl1pPr>
    </p:titleStyle>
    <p:bodyStyle>
      <a:lvl1pPr marL="180984" indent="-180984" algn="l" defTabSz="914446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12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61968" indent="-180984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8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2952" indent="-180984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14411" indent="-171459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7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95395" indent="-180984" algn="l" defTabSz="914446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Calibri" panose="020F0502020204030204" pitchFamily="34" charset="0"/>
        <a:buChar char="‐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6DCC-EA0E-2D4C-8481-069698BE7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DBDF3-E57B-EE46-965E-0F0D2D4DB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BFEE820-4EC2-4782-A78D-C2C248EE8160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5" r="1984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4F157EC3-CDD3-40E2-82A3-8E7DBB19EB93}"/>
              </a:ext>
            </a:extLst>
          </p:cNvPr>
          <p:cNvSpPr/>
          <p:nvPr/>
        </p:nvSpPr>
        <p:spPr>
          <a:xfrm flipV="1">
            <a:off x="-641" y="0"/>
            <a:ext cx="6548284" cy="6858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D3D004-6751-4EF3-8DE3-CA55CF643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3" y="1080708"/>
            <a:ext cx="3719623" cy="604934"/>
          </a:xfrm>
          <a:prstGeom prst="rec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9CEE6650-75BE-4B5C-B065-4AC84165E491}"/>
              </a:ext>
            </a:extLst>
          </p:cNvPr>
          <p:cNvSpPr/>
          <p:nvPr/>
        </p:nvSpPr>
        <p:spPr>
          <a:xfrm>
            <a:off x="2018764" y="1682441"/>
            <a:ext cx="3421626" cy="3170904"/>
          </a:xfrm>
          <a:prstGeom prst="parallelogram">
            <a:avLst>
              <a:gd name="adj" fmla="val 94057"/>
            </a:avLst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053F3D9-DCD5-4DB5-952D-EB14FA0BEBCC}"/>
              </a:ext>
            </a:extLst>
          </p:cNvPr>
          <p:cNvSpPr/>
          <p:nvPr/>
        </p:nvSpPr>
        <p:spPr>
          <a:xfrm>
            <a:off x="3568577" y="0"/>
            <a:ext cx="3421626" cy="3170904"/>
          </a:xfrm>
          <a:prstGeom prst="parallelogram">
            <a:avLst>
              <a:gd name="adj" fmla="val 94057"/>
            </a:avLst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70196390-744C-4F74-AB3A-CAC86B3B160D}"/>
              </a:ext>
            </a:extLst>
          </p:cNvPr>
          <p:cNvSpPr/>
          <p:nvPr/>
        </p:nvSpPr>
        <p:spPr>
          <a:xfrm>
            <a:off x="516295" y="3209107"/>
            <a:ext cx="3421626" cy="3170904"/>
          </a:xfrm>
          <a:prstGeom prst="parallelogram">
            <a:avLst>
              <a:gd name="adj" fmla="val 94057"/>
            </a:avLst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6F6CB-C6DD-4849-B9E6-34C70AB13D01}"/>
              </a:ext>
            </a:extLst>
          </p:cNvPr>
          <p:cNvSpPr txBox="1"/>
          <p:nvPr/>
        </p:nvSpPr>
        <p:spPr>
          <a:xfrm>
            <a:off x="-193852" y="3368083"/>
            <a:ext cx="34216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     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Engagement Report – 14</a:t>
            </a: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-August-2026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olar O&amp;M | ACT Power Services">
            <a:extLst>
              <a:ext uri="{FF2B5EF4-FFF2-40B4-BE49-F238E27FC236}">
                <a16:creationId xmlns:a16="http://schemas.microsoft.com/office/drawing/2014/main" id="{A568BACE-F5FA-73D1-ECB9-E62AFB6D5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49" y="2380433"/>
            <a:ext cx="3093252" cy="104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CADE-40FC-B816-063D-4483448A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DF6473-DEEE-A387-FAA0-DD8CEC5B46FA}"/>
              </a:ext>
            </a:extLst>
          </p:cNvPr>
          <p:cNvSpPr/>
          <p:nvPr/>
        </p:nvSpPr>
        <p:spPr>
          <a:xfrm>
            <a:off x="1883426" y="1160300"/>
            <a:ext cx="8425148" cy="1419918"/>
          </a:xfrm>
          <a:prstGeom prst="roundRect">
            <a:avLst>
              <a:gd name="adj" fmla="val 8253"/>
            </a:avLst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2BEF3-8615-9873-805C-5AD4A48A8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Engagement Summary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352D7-6802-EBCA-8ACA-F31D41C38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2</a:t>
            </a:fld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3456A-10CB-A438-A329-2729CDD0389D}"/>
              </a:ext>
            </a:extLst>
          </p:cNvPr>
          <p:cNvSpPr txBox="1"/>
          <p:nvPr/>
        </p:nvSpPr>
        <p:spPr>
          <a:xfrm>
            <a:off x="4937569" y="797763"/>
            <a:ext cx="2316862" cy="335105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Engagement Overview</a:t>
            </a:r>
            <a:endParaRPr lang="en-IN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1D55C6-4A4E-0683-D295-03DC336D6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816" y="1410666"/>
            <a:ext cx="828601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ACT Power Services delivers O&amp;M services to renewable energy asset owners across the United States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Operates 110 utility-scale solar sites in Databricks environment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Taking ownership required independent control of a live platform with no disruption to operations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DataPattern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engaged to transition and run the governed Azure Databricks </a:t>
            </a:r>
            <a:r>
              <a:rPr kumimoji="0" lang="en-US" altLang="en-US" sz="14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lakehouse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under Project Delta 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8AC767E-06DD-4B9E-FF15-12CD5205DFC9}"/>
              </a:ext>
            </a:extLst>
          </p:cNvPr>
          <p:cNvSpPr/>
          <p:nvPr/>
        </p:nvSpPr>
        <p:spPr>
          <a:xfrm>
            <a:off x="584001" y="3540234"/>
            <a:ext cx="5039391" cy="2455479"/>
          </a:xfrm>
          <a:prstGeom prst="rect">
            <a:avLst/>
          </a:prstGeom>
          <a:solidFill>
            <a:srgbClr val="F4F6F9"/>
          </a:solidFill>
          <a:ln w="12700">
            <a:solidFill>
              <a:srgbClr val="E2E7E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1C63FA6-3205-17BF-03BF-820B16EEF9B0}"/>
              </a:ext>
            </a:extLst>
          </p:cNvPr>
          <p:cNvSpPr/>
          <p:nvPr/>
        </p:nvSpPr>
        <p:spPr>
          <a:xfrm>
            <a:off x="584002" y="3540236"/>
            <a:ext cx="100856" cy="245547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E6C9D56-453B-E041-3D3C-3662E1BB17EC}"/>
              </a:ext>
            </a:extLst>
          </p:cNvPr>
          <p:cNvSpPr/>
          <p:nvPr/>
        </p:nvSpPr>
        <p:spPr>
          <a:xfrm>
            <a:off x="584000" y="3229828"/>
            <a:ext cx="5039393" cy="46349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51E747E-BC94-984B-04A9-55808608636D}"/>
              </a:ext>
            </a:extLst>
          </p:cNvPr>
          <p:cNvSpPr/>
          <p:nvPr/>
        </p:nvSpPr>
        <p:spPr>
          <a:xfrm>
            <a:off x="589262" y="3229828"/>
            <a:ext cx="99456" cy="463494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03266B-2ADA-250F-4D95-F376B41FD51A}"/>
              </a:ext>
            </a:extLst>
          </p:cNvPr>
          <p:cNvSpPr txBox="1"/>
          <p:nvPr/>
        </p:nvSpPr>
        <p:spPr>
          <a:xfrm>
            <a:off x="688717" y="3326641"/>
            <a:ext cx="4748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Platform Transition</a:t>
            </a:r>
            <a:r>
              <a:rPr lang="en-IN" sz="1600">
                <a:solidFill>
                  <a:schemeClr val="bg1"/>
                </a:solidFill>
              </a:rPr>
              <a:t> (Phase 1 – Completed)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6ABD8-DAC5-969E-DD2B-1A5EE8FBE82E}"/>
              </a:ext>
            </a:extLst>
          </p:cNvPr>
          <p:cNvSpPr txBox="1"/>
          <p:nvPr/>
        </p:nvSpPr>
        <p:spPr>
          <a:xfrm>
            <a:off x="684858" y="3790135"/>
            <a:ext cx="48379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/>
              <a:t>Transferred Azure subscription and Databricks billing ownership from Pine Gate Renewables to 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Preserved all workloads, jobs, schedules and Unity </a:t>
            </a:r>
            <a:r>
              <a:rPr lang="en-IN" sz="1400" err="1"/>
              <a:t>Catalog</a:t>
            </a:r>
            <a:r>
              <a:rPr lang="en-IN" sz="1400"/>
              <a:t> governance as-is — no re-architecture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Validated, controlled cutover across all 110 sites with zero data loss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Established cost visibility and a stable run-rate spend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Preserved existing pipelines and reporting SLAs</a:t>
            </a: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88A7AE2-0D9A-EB53-C883-A59F43D8D5EF}"/>
              </a:ext>
            </a:extLst>
          </p:cNvPr>
          <p:cNvSpPr/>
          <p:nvPr/>
        </p:nvSpPr>
        <p:spPr>
          <a:xfrm>
            <a:off x="6096001" y="3540234"/>
            <a:ext cx="5517262" cy="2455479"/>
          </a:xfrm>
          <a:prstGeom prst="rect">
            <a:avLst/>
          </a:prstGeom>
          <a:solidFill>
            <a:srgbClr val="F4F6F9"/>
          </a:solidFill>
          <a:ln w="12700">
            <a:solidFill>
              <a:srgbClr val="E2E7E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77EACCF1-9F49-3014-E3F8-74446368A95F}"/>
              </a:ext>
            </a:extLst>
          </p:cNvPr>
          <p:cNvSpPr/>
          <p:nvPr/>
        </p:nvSpPr>
        <p:spPr>
          <a:xfrm>
            <a:off x="6096002" y="3540236"/>
            <a:ext cx="100856" cy="245547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62A47003-9F8F-E420-D64D-9AC83F49136B}"/>
              </a:ext>
            </a:extLst>
          </p:cNvPr>
          <p:cNvSpPr/>
          <p:nvPr/>
        </p:nvSpPr>
        <p:spPr>
          <a:xfrm>
            <a:off x="6096000" y="3229828"/>
            <a:ext cx="5517262" cy="46349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83080A1-AC18-1031-EE22-DDF39157D807}"/>
              </a:ext>
            </a:extLst>
          </p:cNvPr>
          <p:cNvSpPr/>
          <p:nvPr/>
        </p:nvSpPr>
        <p:spPr>
          <a:xfrm>
            <a:off x="6101262" y="3229828"/>
            <a:ext cx="99456" cy="463494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E403FF-5408-8ED5-A976-06BCAD62E536}"/>
              </a:ext>
            </a:extLst>
          </p:cNvPr>
          <p:cNvSpPr txBox="1"/>
          <p:nvPr/>
        </p:nvSpPr>
        <p:spPr>
          <a:xfrm>
            <a:off x="6200717" y="3326641"/>
            <a:ext cx="4748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chemeClr val="bg1"/>
                </a:solidFill>
              </a:rPr>
              <a:t>Operate &amp; Enhance</a:t>
            </a:r>
            <a:r>
              <a:rPr lang="en-IN" sz="1600">
                <a:solidFill>
                  <a:schemeClr val="bg1"/>
                </a:solidFill>
              </a:rPr>
              <a:t> (Phase 2 – Active)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AC2B1-EE4C-6EE3-1E14-632B8DA10F31}"/>
              </a:ext>
            </a:extLst>
          </p:cNvPr>
          <p:cNvSpPr txBox="1"/>
          <p:nvPr/>
        </p:nvSpPr>
        <p:spPr>
          <a:xfrm>
            <a:off x="6175177" y="3696297"/>
            <a:ext cx="53266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Integrated sources: </a:t>
            </a:r>
            <a:r>
              <a:rPr lang="en-IN" sz="1400" err="1"/>
              <a:t>AlsoEnergy</a:t>
            </a:r>
            <a:r>
              <a:rPr lang="en-IN" sz="1400"/>
              <a:t>, </a:t>
            </a:r>
            <a:r>
              <a:rPr lang="en-IN" sz="1400" err="1"/>
              <a:t>Aderis</a:t>
            </a:r>
            <a:r>
              <a:rPr lang="en-IN" sz="1400"/>
              <a:t>, </a:t>
            </a:r>
            <a:r>
              <a:rPr lang="en-IN" sz="1400" err="1"/>
              <a:t>Solcast</a:t>
            </a:r>
            <a:r>
              <a:rPr lang="en-IN" sz="1400"/>
              <a:t>, </a:t>
            </a:r>
            <a:r>
              <a:rPr lang="en-IN" sz="1400" err="1"/>
              <a:t>Fiix</a:t>
            </a:r>
            <a:r>
              <a:rPr lang="en-IN" sz="1400"/>
              <a:t> CMMS, Intacct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Bronze–Silver–Gold medallion architecture on Unity </a:t>
            </a:r>
            <a:r>
              <a:rPr lang="en-IN" sz="1400" err="1"/>
              <a:t>Catalog</a:t>
            </a:r>
            <a:endParaRPr lang="en-IN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Building the Gold layer on Unity Catalog: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 b="1"/>
              <a:t>Hourly Metric Tables</a:t>
            </a:r>
            <a:r>
              <a:rPr lang="en-IN" sz="1400"/>
              <a:t> – Hourly production &amp; irradiance metrics (Live)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 b="1"/>
              <a:t>Weekly &amp; Monthly KPI Tables</a:t>
            </a:r>
            <a:r>
              <a:rPr lang="en-IN" sz="1400"/>
              <a:t> – Site performance roll-ups by week and month (Live)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 b="1"/>
              <a:t>Support work</a:t>
            </a:r>
            <a:r>
              <a:rPr lang="en-IN" sz="1400"/>
              <a:t> – Pipeline monitoring, issue resolution &amp; enhancements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/>
              <a:t>Advancing AI enablement and KPI standardisation across ACT teams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37374C3-BF71-4151-1D82-7537FB891924}"/>
              </a:ext>
            </a:extLst>
          </p:cNvPr>
          <p:cNvSpPr/>
          <p:nvPr/>
        </p:nvSpPr>
        <p:spPr>
          <a:xfrm>
            <a:off x="5688490" y="4606548"/>
            <a:ext cx="342411" cy="12947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5FE984-169A-FBD0-E718-90767685F1A3}"/>
              </a:ext>
            </a:extLst>
          </p:cNvPr>
          <p:cNvSpPr txBox="1"/>
          <p:nvPr/>
        </p:nvSpPr>
        <p:spPr>
          <a:xfrm>
            <a:off x="4768083" y="2686243"/>
            <a:ext cx="269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Transformation Journey</a:t>
            </a:r>
            <a:endParaRPr lang="en-IN" b="1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76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1EB6-984C-4E5E-5286-C81F32A9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369EB9-5FA2-081A-9DD8-3F3A59FFB13B}"/>
              </a:ext>
            </a:extLst>
          </p:cNvPr>
          <p:cNvSpPr/>
          <p:nvPr/>
        </p:nvSpPr>
        <p:spPr>
          <a:xfrm>
            <a:off x="278452" y="968284"/>
            <a:ext cx="11635096" cy="4921431"/>
          </a:xfrm>
          <a:prstGeom prst="roundRect">
            <a:avLst>
              <a:gd name="adj" fmla="val 7941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F073-697D-CD1B-F56C-4CB0D5F52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3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D2A6D8-D62B-4A29-014E-11F7637B7351}"/>
              </a:ext>
            </a:extLst>
          </p:cNvPr>
          <p:cNvSpPr txBox="1">
            <a:spLocks/>
          </p:cNvSpPr>
          <p:nvPr/>
        </p:nvSpPr>
        <p:spPr>
          <a:xfrm>
            <a:off x="465667" y="81763"/>
            <a:ext cx="11300236" cy="71430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n-lt"/>
                <a:ea typeface="Segoe UI Historic" panose="020B0502040204020203" pitchFamily="34" charset="0"/>
                <a:cs typeface="Segoe UI Historic" panose="020B0502040204020203" pitchFamily="34" charset="0"/>
              </a:defRPr>
            </a:lvl1pPr>
          </a:lstStyle>
          <a:p>
            <a:r>
              <a:rPr lang="en-US"/>
              <a:t>Key Projects and What We Delivered</a:t>
            </a:r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216A08-827F-B7EB-FFAE-B86901784812}"/>
              </a:ext>
            </a:extLst>
          </p:cNvPr>
          <p:cNvSpPr txBox="1"/>
          <p:nvPr/>
        </p:nvSpPr>
        <p:spPr>
          <a:xfrm>
            <a:off x="5584888" y="968285"/>
            <a:ext cx="3585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>
                <a:solidFill>
                  <a:schemeClr val="accent5">
                    <a:lumMod val="75000"/>
                  </a:schemeClr>
                </a:solidFill>
              </a:rPr>
              <a:t>Operate &amp; Enhance - Phase 2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A4AF382-9F36-28A3-32AA-22806E01BD19}"/>
              </a:ext>
            </a:extLst>
          </p:cNvPr>
          <p:cNvSpPr/>
          <p:nvPr/>
        </p:nvSpPr>
        <p:spPr>
          <a:xfrm>
            <a:off x="4645727" y="3382067"/>
            <a:ext cx="550001" cy="338555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0E7F32D-6952-F9EF-1090-723CCFB7B0E9}"/>
              </a:ext>
            </a:extLst>
          </p:cNvPr>
          <p:cNvSpPr/>
          <p:nvPr/>
        </p:nvSpPr>
        <p:spPr>
          <a:xfrm>
            <a:off x="7211101" y="3376822"/>
            <a:ext cx="550001" cy="338555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0C722582-BE9E-65F5-88D3-0EEF4FEDDA02}"/>
              </a:ext>
            </a:extLst>
          </p:cNvPr>
          <p:cNvSpPr/>
          <p:nvPr/>
        </p:nvSpPr>
        <p:spPr>
          <a:xfrm>
            <a:off x="10089731" y="3375883"/>
            <a:ext cx="583172" cy="395614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9047BA-14F3-86DD-4567-8ECE6CC5D912}"/>
              </a:ext>
            </a:extLst>
          </p:cNvPr>
          <p:cNvSpPr/>
          <p:nvPr/>
        </p:nvSpPr>
        <p:spPr>
          <a:xfrm>
            <a:off x="951355" y="1293385"/>
            <a:ext cx="2128056" cy="1882433"/>
          </a:xfrm>
          <a:prstGeom prst="roundRect">
            <a:avLst/>
          </a:prstGeom>
          <a:solidFill>
            <a:srgbClr val="CDCD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536121-B2D2-952E-6986-FBC5BC97969C}"/>
              </a:ext>
            </a:extLst>
          </p:cNvPr>
          <p:cNvCxnSpPr>
            <a:cxnSpLocks/>
          </p:cNvCxnSpPr>
          <p:nvPr/>
        </p:nvCxnSpPr>
        <p:spPr>
          <a:xfrm flipV="1">
            <a:off x="1964480" y="3175819"/>
            <a:ext cx="0" cy="25318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2F343CB-2021-59F2-8CCF-171482C15449}"/>
              </a:ext>
            </a:extLst>
          </p:cNvPr>
          <p:cNvSpPr txBox="1"/>
          <p:nvPr/>
        </p:nvSpPr>
        <p:spPr>
          <a:xfrm>
            <a:off x="939207" y="1357634"/>
            <a:ext cx="22555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/>
              <a:t>Jun 2026 – Ops Analytics</a:t>
            </a:r>
          </a:p>
          <a:p>
            <a:r>
              <a:rPr lang="en-US" sz="1200"/>
              <a:t>• AlsoEnergy outage &amp; issue logs</a:t>
            </a:r>
          </a:p>
          <a:p>
            <a:r>
              <a:rPr lang="en-US" sz="1200"/>
              <a:t>• Fiix work-order triage</a:t>
            </a:r>
          </a:p>
          <a:p>
            <a:r>
              <a:rPr lang="en-US" sz="1200"/>
              <a:t>• Claude enablement approach</a:t>
            </a:r>
          </a:p>
          <a:p>
            <a:r>
              <a:rPr lang="en-US" sz="1200"/>
              <a:t>• KPI validation vs exports</a:t>
            </a:r>
          </a:p>
          <a:p>
            <a:r>
              <a:rPr lang="en-US" sz="1200" b="1"/>
              <a:t>Focus:</a:t>
            </a:r>
            <a:r>
              <a:rPr lang="en-US" sz="1200"/>
              <a:t> Ops insight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endParaRPr lang="en-US" sz="120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E64187B-9838-E4CD-88F9-DD07D3773AFC}"/>
              </a:ext>
            </a:extLst>
          </p:cNvPr>
          <p:cNvSpPr/>
          <p:nvPr/>
        </p:nvSpPr>
        <p:spPr>
          <a:xfrm>
            <a:off x="2630354" y="3365772"/>
            <a:ext cx="550001" cy="338555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30EF9FE-BF4F-7556-9E3A-BABBB661A066}"/>
              </a:ext>
            </a:extLst>
          </p:cNvPr>
          <p:cNvSpPr/>
          <p:nvPr/>
        </p:nvSpPr>
        <p:spPr>
          <a:xfrm>
            <a:off x="648930" y="3328041"/>
            <a:ext cx="11200274" cy="454173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59AE24C-A518-C084-15CA-65BBE6D94931}"/>
              </a:ext>
            </a:extLst>
          </p:cNvPr>
          <p:cNvSpPr/>
          <p:nvPr/>
        </p:nvSpPr>
        <p:spPr>
          <a:xfrm>
            <a:off x="2761351" y="3954429"/>
            <a:ext cx="2423317" cy="1690296"/>
          </a:xfrm>
          <a:prstGeom prst="roundRect">
            <a:avLst/>
          </a:prstGeom>
          <a:solidFill>
            <a:srgbClr val="C1FDE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EA0126-2418-AF44-C717-ACF69897BB4D}"/>
              </a:ext>
            </a:extLst>
          </p:cNvPr>
          <p:cNvSpPr txBox="1"/>
          <p:nvPr/>
        </p:nvSpPr>
        <p:spPr>
          <a:xfrm>
            <a:off x="2884440" y="4075065"/>
            <a:ext cx="24233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Jul 2026 – Issue Resolution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Partial data load bug – RCA &amp; fix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failure resolution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completeness validation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KPI reprocessing / backfill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Defect fixes &amp; stability</a:t>
            </a:r>
          </a:p>
          <a:p>
            <a:endParaRPr lang="en-US" sz="120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680E26-38C0-FEC9-3726-886C50CAA547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3973009" y="3608330"/>
            <a:ext cx="1" cy="346099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00000000-0000-0000-414F-4239EED29243}"/>
              </a:ext>
            </a:extLst>
          </p:cNvPr>
          <p:cNvSpPr/>
          <p:nvPr/>
        </p:nvSpPr>
        <p:spPr>
          <a:xfrm>
            <a:off x="4802314" y="1293385"/>
            <a:ext cx="2128056" cy="1882433"/>
          </a:xfrm>
          <a:prstGeom prst="roundRect">
            <a:avLst/>
          </a:prstGeom>
          <a:solidFill>
            <a:srgbClr val="CDCD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0000000-0000-0000-31F1-ED1F72EBA887}"/>
              </a:ext>
            </a:extLst>
          </p:cNvPr>
          <p:cNvSpPr txBox="1"/>
          <p:nvPr/>
        </p:nvSpPr>
        <p:spPr>
          <a:xfrm>
            <a:off x="4790166" y="1357634"/>
            <a:ext cx="22555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Aug 2026 – Re-architecture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Slight re-architecture of the product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Requirement gathering &amp;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Re-architecture &amp; Requirement gathering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endParaRPr lang="en-US" sz="120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0000000-0000-0000-031A-0DAE41C6D6E0}"/>
              </a:ext>
            </a:extLst>
          </p:cNvPr>
          <p:cNvCxnSpPr>
            <a:cxnSpLocks/>
          </p:cNvCxnSpPr>
          <p:nvPr/>
        </p:nvCxnSpPr>
        <p:spPr>
          <a:xfrm flipV="1">
            <a:off x="5815439" y="3175819"/>
            <a:ext cx="0" cy="25318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53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C7A9-261C-2960-C085-01DBD9D5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EA5880-D051-FD6E-985B-CC21CFC90897}"/>
              </a:ext>
            </a:extLst>
          </p:cNvPr>
          <p:cNvCxnSpPr>
            <a:cxnSpLocks/>
          </p:cNvCxnSpPr>
          <p:nvPr/>
        </p:nvCxnSpPr>
        <p:spPr>
          <a:xfrm>
            <a:off x="4235244" y="1867986"/>
            <a:ext cx="0" cy="156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F347B56-CB08-03C0-970D-BF4F5FF6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Team Structure &amp; Escalation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089F-DD0B-74EA-DE03-88F6CF812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4</a:t>
            </a:fld>
            <a:endParaRPr lang="en-CA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E0EC14-8D22-91B1-5B3B-416FA9C73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496" y="948094"/>
            <a:ext cx="1660419" cy="336181"/>
          </a:xfrm>
          <a:noFill/>
        </p:spPr>
        <p:txBody>
          <a:bodyPr wrap="square">
            <a:normAutofit/>
          </a:bodyPr>
          <a:lstStyle/>
          <a:p>
            <a:pPr marL="0" defTabSz="914400">
              <a:buNone/>
            </a:pPr>
            <a:r>
              <a:rPr lang="en-US" sz="1800" b="1">
                <a:solidFill>
                  <a:schemeClr val="accent5">
                    <a:lumMod val="75000"/>
                  </a:schemeClr>
                </a:solidFill>
              </a:rPr>
              <a:t>Escalation Model 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30E3736-32A2-1BF2-6AD9-64B5F6C8AEF4}"/>
              </a:ext>
            </a:extLst>
          </p:cNvPr>
          <p:cNvGraphicFramePr/>
          <p:nvPr/>
        </p:nvGraphicFramePr>
        <p:xfrm>
          <a:off x="8849314" y="2011170"/>
          <a:ext cx="2058787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B8EAC1-C20B-6B43-C1AE-51AE4AFA4603}"/>
              </a:ext>
            </a:extLst>
          </p:cNvPr>
          <p:cNvSpPr txBox="1"/>
          <p:nvPr/>
        </p:nvSpPr>
        <p:spPr>
          <a:xfrm>
            <a:off x="8588758" y="1311707"/>
            <a:ext cx="2579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ea typeface="+mn-lt"/>
                <a:cs typeface="+mn-lt"/>
              </a:rPr>
              <a:t>Routed through the client and project 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leadership teams for review and action</a:t>
            </a:r>
            <a:endParaRPr lang="en-IN" sz="120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9B81A5-29EA-EF37-22FD-3247ED97F076}"/>
              </a:ext>
            </a:extLst>
          </p:cNvPr>
          <p:cNvSpPr txBox="1">
            <a:spLocks/>
          </p:cNvSpPr>
          <p:nvPr/>
        </p:nvSpPr>
        <p:spPr>
          <a:xfrm>
            <a:off x="3330060" y="817412"/>
            <a:ext cx="1660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>
                <a:solidFill>
                  <a:schemeClr val="accent5">
                    <a:lumMod val="75000"/>
                  </a:schemeClr>
                </a:solidFill>
              </a:defRPr>
            </a:lvl1pPr>
            <a:lvl2pPr marL="361968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8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52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4411" indent="-171459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70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5395" indent="-180984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alibri" panose="020F0502020204030204" pitchFamily="34" charset="0"/>
              <a:buChar char="‐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Team Structure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162F43-7BFD-2AE8-59BB-2A22C19E875C}"/>
              </a:ext>
            </a:extLst>
          </p:cNvPr>
          <p:cNvSpPr/>
          <p:nvPr/>
        </p:nvSpPr>
        <p:spPr>
          <a:xfrm>
            <a:off x="1283899" y="3712151"/>
            <a:ext cx="2772697" cy="19566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0A012D-A654-9E1F-DC16-081A436B60A2}"/>
              </a:ext>
            </a:extLst>
          </p:cNvPr>
          <p:cNvSpPr/>
          <p:nvPr/>
        </p:nvSpPr>
        <p:spPr>
          <a:xfrm>
            <a:off x="4523628" y="3712150"/>
            <a:ext cx="2772697" cy="19566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54AA0-96B1-273E-E162-2808AF94B4B6}"/>
              </a:ext>
            </a:extLst>
          </p:cNvPr>
          <p:cNvSpPr txBox="1"/>
          <p:nvPr/>
        </p:nvSpPr>
        <p:spPr>
          <a:xfrm>
            <a:off x="1475628" y="3712150"/>
            <a:ext cx="2462981" cy="4985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DP - Management 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688A21-6379-4529-8A22-7AF6D81E9A0B}"/>
              </a:ext>
            </a:extLst>
          </p:cNvPr>
          <p:cNvSpPr txBox="1"/>
          <p:nvPr/>
        </p:nvSpPr>
        <p:spPr>
          <a:xfrm>
            <a:off x="4833344" y="3694147"/>
            <a:ext cx="2462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DP - Technical Team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D0C664-C71C-285F-5996-363AD19745BA}"/>
              </a:ext>
            </a:extLst>
          </p:cNvPr>
          <p:cNvSpPr/>
          <p:nvPr/>
        </p:nvSpPr>
        <p:spPr>
          <a:xfrm>
            <a:off x="1485714" y="4492655"/>
            <a:ext cx="2261420" cy="4134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AFE685-287D-EC43-25E9-AA2C4F80F517}"/>
              </a:ext>
            </a:extLst>
          </p:cNvPr>
          <p:cNvSpPr/>
          <p:nvPr/>
        </p:nvSpPr>
        <p:spPr>
          <a:xfrm>
            <a:off x="1475628" y="4963253"/>
            <a:ext cx="2261420" cy="4134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D454D7-4207-38D8-D62B-24A67BDC0956}"/>
              </a:ext>
            </a:extLst>
          </p:cNvPr>
          <p:cNvSpPr/>
          <p:nvPr/>
        </p:nvSpPr>
        <p:spPr>
          <a:xfrm>
            <a:off x="4678484" y="4136236"/>
            <a:ext cx="2462981" cy="13752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827A5C-C613-13D6-687F-920397E59406}"/>
              </a:ext>
            </a:extLst>
          </p:cNvPr>
          <p:cNvSpPr txBox="1"/>
          <p:nvPr/>
        </p:nvSpPr>
        <p:spPr>
          <a:xfrm>
            <a:off x="1538310" y="4456511"/>
            <a:ext cx="187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/>
              <a:t>Program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/>
              <a:t>Jennifer </a:t>
            </a:r>
            <a:r>
              <a:rPr lang="en-IN" sz="1200" err="1"/>
              <a:t>Easwaramurthi</a:t>
            </a:r>
            <a:endParaRPr lang="en-IN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BA77F4-3FA7-C55F-9E95-8709CC8A0096}"/>
              </a:ext>
            </a:extLst>
          </p:cNvPr>
          <p:cNvSpPr txBox="1"/>
          <p:nvPr/>
        </p:nvSpPr>
        <p:spPr>
          <a:xfrm>
            <a:off x="1506353" y="4939157"/>
            <a:ext cx="21999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/>
              <a:t>Delivery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/>
              <a:t>Dhamodaran Rameshbabu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BD0EB8-3EAA-2ED0-1946-F20CF5E7CADE}"/>
              </a:ext>
            </a:extLst>
          </p:cNvPr>
          <p:cNvSpPr txBox="1"/>
          <p:nvPr/>
        </p:nvSpPr>
        <p:spPr>
          <a:xfrm>
            <a:off x="5015238" y="4200493"/>
            <a:ext cx="1888079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1200" b="1"/>
              <a:t>Data Engineers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/>
              <a:t>Harish Raghav Prasad 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ea typeface="Calibri"/>
                <a:cs typeface="Calibri"/>
              </a:rPr>
              <a:t>Siva Kumar 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ea typeface="Calibri"/>
                <a:cs typeface="Calibri"/>
              </a:rPr>
              <a:t>Chandru R</a:t>
            </a:r>
          </a:p>
          <a:p>
            <a:pPr>
              <a:buNone/>
            </a:pPr>
            <a:endParaRPr lang="en-IN" sz="1200" b="1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>
              <a:ea typeface="Calibri"/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50747D-4D14-2B7D-C785-45F5B8CBB662}"/>
              </a:ext>
            </a:extLst>
          </p:cNvPr>
          <p:cNvSpPr/>
          <p:nvPr/>
        </p:nvSpPr>
        <p:spPr>
          <a:xfrm>
            <a:off x="1354612" y="1415702"/>
            <a:ext cx="5933768" cy="4522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2697F2-7CC1-30F2-A6E6-07B62A26221B}"/>
              </a:ext>
            </a:extLst>
          </p:cNvPr>
          <p:cNvSpPr/>
          <p:nvPr/>
        </p:nvSpPr>
        <p:spPr>
          <a:xfrm>
            <a:off x="3099837" y="2148103"/>
            <a:ext cx="2343766" cy="89255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B2C27-262F-AA7F-26D6-31B96129E641}"/>
              </a:ext>
            </a:extLst>
          </p:cNvPr>
          <p:cNvSpPr txBox="1"/>
          <p:nvPr/>
        </p:nvSpPr>
        <p:spPr>
          <a:xfrm>
            <a:off x="3090005" y="1457178"/>
            <a:ext cx="2462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ACT Power Services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8A7BDF-B0DC-AF53-B5C8-E4AA712EFF87}"/>
              </a:ext>
            </a:extLst>
          </p:cNvPr>
          <p:cNvSpPr/>
          <p:nvPr/>
        </p:nvSpPr>
        <p:spPr>
          <a:xfrm>
            <a:off x="3342571" y="2285006"/>
            <a:ext cx="1858297" cy="6225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2571A-911C-E8D8-7ACD-E361F8B5995A}"/>
              </a:ext>
            </a:extLst>
          </p:cNvPr>
          <p:cNvSpPr txBox="1"/>
          <p:nvPr/>
        </p:nvSpPr>
        <p:spPr>
          <a:xfrm>
            <a:off x="3539213" y="2343253"/>
            <a:ext cx="1536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/>
              <a:t>Project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/>
              <a:t>Corey Pullium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3253CC-A1A7-07B3-12C7-FED889957E60}"/>
              </a:ext>
            </a:extLst>
          </p:cNvPr>
          <p:cNvCxnSpPr/>
          <p:nvPr/>
        </p:nvCxnSpPr>
        <p:spPr>
          <a:xfrm>
            <a:off x="2585882" y="3429000"/>
            <a:ext cx="32987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68E1D7-273F-FF83-B023-EDD075AFF97B}"/>
              </a:ext>
            </a:extLst>
          </p:cNvPr>
          <p:cNvCxnSpPr>
            <a:cxnSpLocks/>
          </p:cNvCxnSpPr>
          <p:nvPr/>
        </p:nvCxnSpPr>
        <p:spPr>
          <a:xfrm>
            <a:off x="5884605" y="3429000"/>
            <a:ext cx="0" cy="220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DE94FD-0BF6-0B3D-B289-CF50EE33E136}"/>
              </a:ext>
            </a:extLst>
          </p:cNvPr>
          <p:cNvCxnSpPr>
            <a:cxnSpLocks/>
          </p:cNvCxnSpPr>
          <p:nvPr/>
        </p:nvCxnSpPr>
        <p:spPr>
          <a:xfrm>
            <a:off x="2585882" y="3429000"/>
            <a:ext cx="0" cy="220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601A13B-C60E-F674-93D2-25EFB0F502EA}"/>
              </a:ext>
            </a:extLst>
          </p:cNvPr>
          <p:cNvSpPr/>
          <p:nvPr/>
        </p:nvSpPr>
        <p:spPr>
          <a:xfrm>
            <a:off x="1486091" y="4022057"/>
            <a:ext cx="2261420" cy="4134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1A07AC-1FBA-E377-0834-E52140FEE184}"/>
              </a:ext>
            </a:extLst>
          </p:cNvPr>
          <p:cNvSpPr txBox="1"/>
          <p:nvPr/>
        </p:nvSpPr>
        <p:spPr>
          <a:xfrm>
            <a:off x="1569580" y="4019076"/>
            <a:ext cx="187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/>
              <a:t>Project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/>
              <a:t>Shyamala Vignesh</a:t>
            </a:r>
          </a:p>
        </p:txBody>
      </p:sp>
    </p:spTree>
    <p:extLst>
      <p:ext uri="{BB962C8B-B14F-4D97-AF65-F5344CB8AC3E}">
        <p14:creationId xmlns:p14="http://schemas.microsoft.com/office/powerpoint/2010/main" val="4661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DC4A-125A-F088-0CD9-9C9F107E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>
                <a:ea typeface="Segoe UI Historic"/>
                <a:cs typeface="Segoe UI Historic"/>
              </a:rPr>
              <a:t>Weekly Status Report – ACT Power Services</a:t>
            </a:r>
            <a:br>
              <a:rPr lang="en-IN" sz="1800"/>
            </a:br>
            <a:r>
              <a:rPr lang="en-IN" sz="1400">
                <a:ea typeface="Segoe UI Historic"/>
                <a:cs typeface="Segoe UI Historic"/>
              </a:rPr>
              <a:t>Management Report : | Week of August 31 – September 4,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2638-2D68-57DF-8493-191BD68B1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5</a:t>
            </a:fld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47D747-0EDB-F799-CABC-8D4D355AA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95449"/>
              </p:ext>
            </p:extLst>
          </p:nvPr>
        </p:nvGraphicFramePr>
        <p:xfrm>
          <a:off x="465667" y="897161"/>
          <a:ext cx="4034412" cy="3383715"/>
        </p:xfrm>
        <a:graphic>
          <a:graphicData uri="http://schemas.openxmlformats.org/drawingml/2006/table">
            <a:tbl>
              <a:tblPr firstRow="1" bandRow="1"/>
              <a:tblGrid>
                <a:gridCol w="4034412">
                  <a:extLst>
                    <a:ext uri="{9D8B030D-6E8A-4147-A177-3AD203B41FA5}">
                      <a16:colId xmlns:a16="http://schemas.microsoft.com/office/drawing/2014/main" val="2638798687"/>
                    </a:ext>
                  </a:extLst>
                </a:gridCol>
              </a:tblGrid>
              <a:tr h="300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/>
                      <a:r>
                        <a:rPr lang="en-IN" sz="1400" b="1" i="0" kern="1200">
                          <a:solidFill>
                            <a:schemeClr val="bg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Highlights &amp; Accomplishments</a:t>
                      </a:r>
                      <a:endParaRPr lang="en-IN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mpd="sng">
                      <a:solidFill>
                        <a:schemeClr val="tx1"/>
                      </a:solidFill>
                    </a:lnT>
                    <a:lnB w="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90000"/>
                        <a:lumOff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17092"/>
                  </a:ext>
                </a:extLst>
              </a:tr>
              <a:tr h="26829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IN" sz="1400" b="1">
                          <a:solidFill>
                            <a:schemeClr val="accent6"/>
                          </a:solidFill>
                        </a:rPr>
                        <a:t>Completed Tasks</a:t>
                      </a:r>
                    </a:p>
                    <a:p>
                      <a:endParaRPr lang="en-US" sz="1200" b="1" i="0" u="none" strike="noStrike" kern="1200" noProof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Task No – 01: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 Aderis Modularization &amp; Parametrization – Completed modularization and parametrization of the Aderis ingestion pipeline, along with pipeline validation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0" cmpd="sng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21874"/>
                  </a:ext>
                </a:extLst>
              </a:tr>
              <a:tr h="395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200" b="1" i="0" u="none" strike="noStrike" kern="1200" noProof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6507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7A4E10-11B7-0F73-897F-A90EA5E2A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83411"/>
              </p:ext>
            </p:extLst>
          </p:nvPr>
        </p:nvGraphicFramePr>
        <p:xfrm>
          <a:off x="7472149" y="4474186"/>
          <a:ext cx="4559870" cy="1475278"/>
        </p:xfrm>
        <a:graphic>
          <a:graphicData uri="http://schemas.openxmlformats.org/drawingml/2006/table">
            <a:tbl>
              <a:tblPr firstRow="1" bandRow="1"/>
              <a:tblGrid>
                <a:gridCol w="4559870">
                  <a:extLst>
                    <a:ext uri="{9D8B030D-6E8A-4147-A177-3AD203B41FA5}">
                      <a16:colId xmlns:a16="http://schemas.microsoft.com/office/drawing/2014/main" val="2638798687"/>
                    </a:ext>
                  </a:extLst>
                </a:gridCol>
              </a:tblGrid>
              <a:tr h="440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/>
                      <a:r>
                        <a:rPr lang="en-IN" sz="1400" b="1" i="0" kern="1200">
                          <a:solidFill>
                            <a:schemeClr val="bg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Risk &amp; Issues</a:t>
                      </a:r>
                      <a:endParaRPr lang="en-IN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90000"/>
                        <a:lumOff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17092"/>
                  </a:ext>
                </a:extLst>
              </a:tr>
              <a:tr h="10348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IN" sz="1100" b="1"/>
                        <a:t>None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2187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B36DA4-166E-6F18-FB13-EDE88A2CE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506559"/>
              </p:ext>
            </p:extLst>
          </p:nvPr>
        </p:nvGraphicFramePr>
        <p:xfrm>
          <a:off x="4597404" y="906227"/>
          <a:ext cx="7440403" cy="3482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725">
                  <a:extLst>
                    <a:ext uri="{9D8B030D-6E8A-4147-A177-3AD203B41FA5}">
                      <a16:colId xmlns:a16="http://schemas.microsoft.com/office/drawing/2014/main" val="3685670438"/>
                    </a:ext>
                  </a:extLst>
                </a:gridCol>
                <a:gridCol w="1320187">
                  <a:extLst>
                    <a:ext uri="{9D8B030D-6E8A-4147-A177-3AD203B41FA5}">
                      <a16:colId xmlns:a16="http://schemas.microsoft.com/office/drawing/2014/main" val="1218655193"/>
                    </a:ext>
                  </a:extLst>
                </a:gridCol>
                <a:gridCol w="1364020">
                  <a:extLst>
                    <a:ext uri="{9D8B030D-6E8A-4147-A177-3AD203B41FA5}">
                      <a16:colId xmlns:a16="http://schemas.microsoft.com/office/drawing/2014/main" val="4063665063"/>
                    </a:ext>
                  </a:extLst>
                </a:gridCol>
                <a:gridCol w="2896471">
                  <a:extLst>
                    <a:ext uri="{9D8B030D-6E8A-4147-A177-3AD203B41FA5}">
                      <a16:colId xmlns:a16="http://schemas.microsoft.com/office/drawing/2014/main" val="1419883937"/>
                    </a:ext>
                  </a:extLst>
                </a:gridCol>
              </a:tblGrid>
              <a:tr h="470889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Milestone &amp; Supporting Activities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550" marR="5550" marT="55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74036"/>
                  </a:ext>
                </a:extLst>
              </a:tr>
              <a:tr h="28914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Milestone Area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0" marR="5550" marT="55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Task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0" marR="5550" marT="55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Status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0" marR="5550" marT="55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Remarks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0" marR="5550" marT="55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300899"/>
                  </a:ext>
                </a:extLst>
              </a:tr>
              <a:tr h="735248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PowerTrack</a:t>
                      </a:r>
                      <a:r>
                        <a:rPr lang="en-US" sz="1200" dirty="0"/>
                        <a:t> Reconciliation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Reconcile </a:t>
                      </a:r>
                      <a:r>
                        <a:rPr lang="en-US" sz="1200" dirty="0" err="1"/>
                        <a:t>PowerTrack</a:t>
                      </a:r>
                      <a:r>
                        <a:rPr lang="en-US" sz="1200" dirty="0"/>
                        <a:t> &amp; </a:t>
                      </a:r>
                      <a:r>
                        <a:rPr lang="en-US" sz="1200" dirty="0" err="1"/>
                        <a:t>ae_formatted</a:t>
                      </a:r>
                      <a:r>
                        <a:rPr lang="en-US" sz="1200" dirty="0"/>
                        <a:t> table</a:t>
                      </a:r>
                    </a:p>
                  </a:txBody>
                  <a:tcPr marL="7620" marR="7620" marT="7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🟡</a:t>
                      </a:r>
                      <a:r>
                        <a:rPr lang="en-IN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strike="noStrike" noProof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 Reconciliation ongoing between PowerTrack and Databricks ae_formatted table</a:t>
                      </a:r>
                    </a:p>
                  </a:txBody>
                  <a:tcPr marL="7620" marR="7620" marT="7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141303"/>
                  </a:ext>
                </a:extLst>
              </a:tr>
              <a:tr h="1044139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/>
                        <a:t>Ingestion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Aderis modularization</a:t>
                      </a:r>
                      <a:r>
                        <a:rPr lang="en-US" sz="1200"/>
                        <a:t> &amp; parametrization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🟢</a:t>
                      </a:r>
                      <a:r>
                        <a:rPr lang="en-IN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Completed </a:t>
                      </a:r>
                      <a:r>
                        <a:rPr lang="en-US" sz="1200" dirty="0" err="1"/>
                        <a:t>Aderis</a:t>
                      </a:r>
                      <a:r>
                        <a:rPr lang="en-US" sz="1200" dirty="0"/>
                        <a:t> pipeline modularization, parametrization &amp; validation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683395"/>
                  </a:ext>
                </a:extLst>
              </a:tr>
              <a:tr h="94341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dirty="0"/>
                        <a:t>AlsoEnergy Current Pipeline</a:t>
                      </a:r>
                      <a:endParaRPr lang="en-US" sz="12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AlsoEnergy pipeline validation</a:t>
                      </a:r>
                    </a:p>
                  </a:txBody>
                  <a:tcPr marL="7620" marR="7620" marT="7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🟡</a:t>
                      </a:r>
                      <a:r>
                        <a:rPr lang="en-IN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lang="en-US" sz="1200"/>
                    </a:p>
                    <a:p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 </a:t>
                      </a:r>
                      <a:r>
                        <a:rPr lang="en-US" sz="1200" dirty="0"/>
                        <a:t>Validation of AlsoEnergy pipeline ongoing</a:t>
                      </a:r>
                      <a:endParaRPr lang="en-IN" sz="1200" dirty="0"/>
                    </a:p>
                  </a:txBody>
                  <a:tcPr marL="7620" marR="7620" marT="7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06024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7EA5103-991E-8DAB-9A0B-0DB869E59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9365"/>
              </p:ext>
            </p:extLst>
          </p:nvPr>
        </p:nvGraphicFramePr>
        <p:xfrm>
          <a:off x="465666" y="4474187"/>
          <a:ext cx="6909157" cy="1486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9157">
                  <a:extLst>
                    <a:ext uri="{9D8B030D-6E8A-4147-A177-3AD203B41FA5}">
                      <a16:colId xmlns:a16="http://schemas.microsoft.com/office/drawing/2014/main" val="325615774"/>
                    </a:ext>
                  </a:extLst>
                </a:gridCol>
              </a:tblGrid>
              <a:tr h="28009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Upcoming Activities </a:t>
                      </a:r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( Next Week Plan)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111" marR="7111" marT="71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86336"/>
                  </a:ext>
                </a:extLst>
              </a:tr>
              <a:tr h="1028524"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IN" sz="1200" b="1" u="none" strike="noStrike">
                        <a:effectLst/>
                        <a:latin typeface="+mn-lt"/>
                      </a:endParaRPr>
                    </a:p>
                    <a:p>
                      <a:pPr marL="171450" marR="0" lvl="0" indent="-17145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u="none" strike="noStrike">
                          <a:effectLst/>
                          <a:latin typeface="+mn-lt"/>
                        </a:rPr>
                        <a:t>AE historical reconciliation</a:t>
                      </a:r>
                    </a:p>
                    <a:p>
                      <a:pPr marL="171450" marR="0" lvl="0" indent="-17145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u="none" strike="noStrike">
                          <a:effectLst/>
                          <a:latin typeface="+mn-lt"/>
                        </a:rPr>
                        <a:t>Bronze_std_time_series table</a:t>
                      </a:r>
                    </a:p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IN" sz="1200" b="0" u="none" strike="noStrike">
                        <a:effectLst/>
                        <a:latin typeface="+mn-lt"/>
                      </a:endParaRPr>
                    </a:p>
                  </a:txBody>
                  <a:tcPr marL="7111" marR="7111" marT="711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79456"/>
                  </a:ext>
                </a:extLst>
              </a:tr>
              <a:tr h="178035">
                <a:tc>
                  <a:txBody>
                    <a:bodyPr/>
                    <a:lstStyle/>
                    <a:p>
                      <a:pPr marL="0" marR="0" lvl="0" indent="0" algn="l" defTabSz="914446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11" marR="7111" marT="711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514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42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9C9C-4D0D-AA8E-63B2-27421476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82" y="-62105"/>
            <a:ext cx="11300236" cy="714306"/>
          </a:xfrm>
        </p:spPr>
        <p:txBody>
          <a:bodyPr/>
          <a:lstStyle/>
          <a:p>
            <a:r>
              <a:rPr lang="en-IN"/>
              <a:t>Professional Accomplishment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F9EC2-E5D8-C3B5-2A3F-365AB9979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4CC3B9-6596-1243-9665-72A444B9047F}" type="slidenum">
              <a:rPr lang="en-CA" smtClean="0"/>
              <a:pPr/>
              <a:t>6</a:t>
            </a:fld>
            <a:endParaRPr lang="en-C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626E901-1E1D-70D5-7917-CDC6B311EAC0}"/>
              </a:ext>
            </a:extLst>
          </p:cNvPr>
          <p:cNvGrpSpPr/>
          <p:nvPr/>
        </p:nvGrpSpPr>
        <p:grpSpPr>
          <a:xfrm>
            <a:off x="2240931" y="2726658"/>
            <a:ext cx="8524365" cy="3263923"/>
            <a:chOff x="457216" y="1271777"/>
            <a:chExt cx="8524365" cy="4191763"/>
          </a:xfrm>
        </p:grpSpPr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96CF2C2C-26AE-7B00-4DD7-B51A8B907033}"/>
                </a:ext>
              </a:extLst>
            </p:cNvPr>
            <p:cNvSpPr/>
            <p:nvPr/>
          </p:nvSpPr>
          <p:spPr>
            <a:xfrm>
              <a:off x="457216" y="1394460"/>
              <a:ext cx="2682232" cy="40690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4CD073-5907-CCCC-8D95-34DEE47EAA3C}"/>
                </a:ext>
              </a:extLst>
            </p:cNvPr>
            <p:cNvSpPr/>
            <p:nvPr/>
          </p:nvSpPr>
          <p:spPr>
            <a:xfrm>
              <a:off x="457216" y="1394460"/>
              <a:ext cx="2682232" cy="1051560"/>
            </a:xfrm>
            <a:prstGeom prst="rect">
              <a:avLst/>
            </a:prstGeom>
            <a:solidFill>
              <a:srgbClr val="1F3A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164592" rIns="182880" bIns="9144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800" b="1">
                  <a:solidFill>
                    <a:srgbClr val="FFFFFF"/>
                  </a:solidFill>
                  <a:latin typeface="Calibri"/>
                </a:rPr>
                <a:t>Harish Raghav Prasad R</a:t>
              </a:r>
              <a:endParaRPr sz="1800" b="1">
                <a:solidFill>
                  <a:srgbClr val="FFFFFF"/>
                </a:solidFill>
                <a:latin typeface="Calibri"/>
              </a:endParaRPr>
            </a:p>
            <a:p>
              <a:pPr algn="l"/>
              <a:r>
                <a:rPr sz="1100" i="1">
                  <a:solidFill>
                    <a:srgbClr val="CFDBEC"/>
                  </a:solidFill>
                  <a:latin typeface="Calibri"/>
                </a:rPr>
                <a:t>Data Engineer</a:t>
              </a:r>
            </a:p>
          </p:txBody>
        </p:sp>
        <p:sp>
          <p:nvSpPr>
            <p:cNvPr id="7" name="Rounded Rectangle 8">
              <a:extLst>
                <a:ext uri="{FF2B5EF4-FFF2-40B4-BE49-F238E27FC236}">
                  <a16:creationId xmlns:a16="http://schemas.microsoft.com/office/drawing/2014/main" id="{BF048B42-9D56-8D2C-520B-BE16706DFE1F}"/>
                </a:ext>
              </a:extLst>
            </p:cNvPr>
            <p:cNvSpPr/>
            <p:nvPr/>
          </p:nvSpPr>
          <p:spPr>
            <a:xfrm>
              <a:off x="2242064" y="1976860"/>
              <a:ext cx="813817" cy="914400"/>
            </a:xfrm>
            <a:prstGeom prst="roundRect">
              <a:avLst>
                <a:gd name="adj" fmla="val 12000"/>
              </a:avLst>
            </a:prstGeom>
            <a:solidFill>
              <a:srgbClr val="E86A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3400" b="1">
                  <a:solidFill>
                    <a:srgbClr val="FFFFFF"/>
                  </a:solidFill>
                  <a:latin typeface="Calibri"/>
                </a:rPr>
                <a:t>4</a:t>
              </a:r>
            </a:p>
            <a:p>
              <a:pPr algn="ctr"/>
              <a:r>
                <a:rPr sz="900" b="1">
                  <a:solidFill>
                    <a:srgbClr val="FFFFFF"/>
                  </a:solidFill>
                  <a:latin typeface="Calibri"/>
                </a:rPr>
                <a:t>Certifications</a:t>
              </a:r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A5CF967B-AC9F-26D8-AC7A-8630F963E609}"/>
                </a:ext>
              </a:extLst>
            </p:cNvPr>
            <p:cNvSpPr txBox="1"/>
            <p:nvPr/>
          </p:nvSpPr>
          <p:spPr>
            <a:xfrm>
              <a:off x="685816" y="3040380"/>
              <a:ext cx="1245534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>
                  <a:solidFill>
                    <a:srgbClr val="1F3A68"/>
                  </a:solidFill>
                  <a:latin typeface="Calibri"/>
                </a:rPr>
                <a:t>D</a:t>
              </a:r>
              <a:r>
                <a:rPr lang="en-IN" sz="1000" b="1">
                  <a:solidFill>
                    <a:srgbClr val="1F3A68"/>
                  </a:solidFill>
                  <a:latin typeface="Calibri"/>
                </a:rPr>
                <a:t>atabricks</a:t>
              </a:r>
              <a:r>
                <a:rPr sz="1000" b="1">
                  <a:solidFill>
                    <a:srgbClr val="1F3A68"/>
                  </a:solidFill>
                  <a:latin typeface="Calibri"/>
                </a:rPr>
                <a:t> C</a:t>
              </a:r>
              <a:r>
                <a:rPr lang="en-IN" sz="1000" b="1">
                  <a:solidFill>
                    <a:srgbClr val="1F3A68"/>
                  </a:solidFill>
                  <a:latin typeface="Calibri"/>
                </a:rPr>
                <a:t>ertification</a:t>
              </a:r>
              <a:endParaRPr sz="1000" b="1">
                <a:solidFill>
                  <a:srgbClr val="1F3A68"/>
                </a:solidFill>
                <a:latin typeface="Calibri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35CEB4-FD36-FFEB-A57D-B610F63AE03B}"/>
                </a:ext>
              </a:extLst>
            </p:cNvPr>
            <p:cNvSpPr/>
            <p:nvPr/>
          </p:nvSpPr>
          <p:spPr>
            <a:xfrm>
              <a:off x="685816" y="3287268"/>
              <a:ext cx="457200" cy="19050"/>
            </a:xfrm>
            <a:prstGeom prst="rect">
              <a:avLst/>
            </a:prstGeom>
            <a:solidFill>
              <a:srgbClr val="E86A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" name="Rounded Rectangle 11">
              <a:extLst>
                <a:ext uri="{FF2B5EF4-FFF2-40B4-BE49-F238E27FC236}">
                  <a16:creationId xmlns:a16="http://schemas.microsoft.com/office/drawing/2014/main" id="{03066206-FF88-7EBE-3D94-8A708959BD53}"/>
                </a:ext>
              </a:extLst>
            </p:cNvPr>
            <p:cNvSpPr/>
            <p:nvPr/>
          </p:nvSpPr>
          <p:spPr>
            <a:xfrm>
              <a:off x="685816" y="3451860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Engineer Associate</a:t>
              </a:r>
            </a:p>
          </p:txBody>
        </p:sp>
        <p:sp>
          <p:nvSpPr>
            <p:cNvPr id="11" name="Rounded Rectangle 12">
              <a:extLst>
                <a:ext uri="{FF2B5EF4-FFF2-40B4-BE49-F238E27FC236}">
                  <a16:creationId xmlns:a16="http://schemas.microsoft.com/office/drawing/2014/main" id="{EB545A3B-ECB0-0B78-2539-22494FB597F7}"/>
                </a:ext>
              </a:extLst>
            </p:cNvPr>
            <p:cNvSpPr/>
            <p:nvPr/>
          </p:nvSpPr>
          <p:spPr>
            <a:xfrm>
              <a:off x="685816" y="3927348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Engineer Professional</a:t>
              </a:r>
            </a:p>
          </p:txBody>
        </p:sp>
        <p:sp>
          <p:nvSpPr>
            <p:cNvPr id="12" name="Rounded Rectangle 13">
              <a:extLst>
                <a:ext uri="{FF2B5EF4-FFF2-40B4-BE49-F238E27FC236}">
                  <a16:creationId xmlns:a16="http://schemas.microsoft.com/office/drawing/2014/main" id="{6A047F34-50B8-1921-EC04-F655D778552A}"/>
                </a:ext>
              </a:extLst>
            </p:cNvPr>
            <p:cNvSpPr/>
            <p:nvPr/>
          </p:nvSpPr>
          <p:spPr>
            <a:xfrm>
              <a:off x="685816" y="4402836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Analyst Associate</a:t>
              </a:r>
            </a:p>
          </p:txBody>
        </p:sp>
        <p:sp>
          <p:nvSpPr>
            <p:cNvPr id="13" name="Rounded Rectangle 14">
              <a:extLst>
                <a:ext uri="{FF2B5EF4-FFF2-40B4-BE49-F238E27FC236}">
                  <a16:creationId xmlns:a16="http://schemas.microsoft.com/office/drawing/2014/main" id="{FA1F8BEE-1AEB-1F3D-3B66-CD64C6E14B65}"/>
                </a:ext>
              </a:extLst>
            </p:cNvPr>
            <p:cNvSpPr/>
            <p:nvPr/>
          </p:nvSpPr>
          <p:spPr>
            <a:xfrm>
              <a:off x="685816" y="4877260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</a:t>
              </a:r>
              <a:r>
                <a:rPr lang="en-US" sz="900">
                  <a:solidFill>
                    <a:srgbClr val="E86A33"/>
                  </a:solidFill>
                  <a:latin typeface="Calibri"/>
                </a:rPr>
                <a:t> </a:t>
              </a:r>
              <a:r>
                <a:rPr lang="en-US" sz="1000">
                  <a:solidFill>
                    <a:srgbClr val="1F2A44"/>
                  </a:solidFill>
                  <a:latin typeface="Calibri"/>
                </a:rPr>
                <a:t>A</a:t>
              </a:r>
              <a:r>
                <a:rPr lang="en-US" sz="1000" b="0">
                  <a:solidFill>
                    <a:srgbClr val="1F2A44"/>
                  </a:solidFill>
                  <a:latin typeface="Calibri"/>
                </a:rPr>
                <a:t>pache Spark Associate</a:t>
              </a:r>
              <a:endParaRPr sz="1000" b="0">
                <a:solidFill>
                  <a:srgbClr val="1F2A44"/>
                </a:solidFill>
                <a:latin typeface="Calibri"/>
              </a:endParaRPr>
            </a:p>
          </p:txBody>
        </p:sp>
        <p:sp>
          <p:nvSpPr>
            <p:cNvPr id="14" name="Rounded Rectangle 15">
              <a:extLst>
                <a:ext uri="{FF2B5EF4-FFF2-40B4-BE49-F238E27FC236}">
                  <a16:creationId xmlns:a16="http://schemas.microsoft.com/office/drawing/2014/main" id="{C8CFB675-F727-B321-5F48-8A740451FAC3}"/>
                </a:ext>
              </a:extLst>
            </p:cNvPr>
            <p:cNvSpPr/>
            <p:nvPr/>
          </p:nvSpPr>
          <p:spPr>
            <a:xfrm>
              <a:off x="3322328" y="1394460"/>
              <a:ext cx="2682232" cy="40690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610D00-821D-9547-A7F2-1179DCFDD1C5}"/>
                </a:ext>
              </a:extLst>
            </p:cNvPr>
            <p:cNvSpPr/>
            <p:nvPr/>
          </p:nvSpPr>
          <p:spPr>
            <a:xfrm>
              <a:off x="3322328" y="1394460"/>
              <a:ext cx="2682232" cy="1051560"/>
            </a:xfrm>
            <a:prstGeom prst="rect">
              <a:avLst/>
            </a:prstGeom>
            <a:solidFill>
              <a:srgbClr val="1F3A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164592" rIns="182880" bIns="9144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800" b="1">
                  <a:solidFill>
                    <a:srgbClr val="FFFFFF"/>
                  </a:solidFill>
                  <a:latin typeface="Calibri"/>
                </a:rPr>
                <a:t>Siva Kumar V</a:t>
              </a:r>
              <a:endParaRPr sz="1800" b="1">
                <a:solidFill>
                  <a:srgbClr val="FFFFFF"/>
                </a:solidFill>
                <a:latin typeface="Calibri"/>
              </a:endParaRPr>
            </a:p>
            <a:p>
              <a:pPr algn="l"/>
              <a:r>
                <a:rPr sz="1100" i="1">
                  <a:solidFill>
                    <a:srgbClr val="CFDBEC"/>
                  </a:solidFill>
                  <a:latin typeface="Calibri"/>
                </a:rPr>
                <a:t>Data Engineer</a:t>
              </a:r>
            </a:p>
          </p:txBody>
        </p:sp>
        <p:sp>
          <p:nvSpPr>
            <p:cNvPr id="16" name="Rounded Rectangle 17">
              <a:extLst>
                <a:ext uri="{FF2B5EF4-FFF2-40B4-BE49-F238E27FC236}">
                  <a16:creationId xmlns:a16="http://schemas.microsoft.com/office/drawing/2014/main" id="{8CF42A3F-8465-5DAB-D76B-1BE8283C4E16}"/>
                </a:ext>
              </a:extLst>
            </p:cNvPr>
            <p:cNvSpPr/>
            <p:nvPr/>
          </p:nvSpPr>
          <p:spPr>
            <a:xfrm>
              <a:off x="4924296" y="1976860"/>
              <a:ext cx="897384" cy="941186"/>
            </a:xfrm>
            <a:prstGeom prst="roundRect">
              <a:avLst>
                <a:gd name="adj" fmla="val 12000"/>
              </a:avLst>
            </a:prstGeom>
            <a:solidFill>
              <a:srgbClr val="E86A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400" b="1">
                  <a:solidFill>
                    <a:srgbClr val="FFFFFF"/>
                  </a:solidFill>
                  <a:latin typeface="Calibri"/>
                </a:rPr>
                <a:t>4</a:t>
              </a:r>
              <a:endParaRPr sz="3400" b="1">
                <a:solidFill>
                  <a:srgbClr val="FFFFFF"/>
                </a:solidFill>
                <a:latin typeface="Calibri"/>
              </a:endParaRPr>
            </a:p>
            <a:p>
              <a:pPr algn="ctr"/>
              <a:r>
                <a:rPr sz="900" b="1">
                  <a:solidFill>
                    <a:srgbClr val="FFFFFF"/>
                  </a:solidFill>
                  <a:latin typeface="Calibri"/>
                </a:rPr>
                <a:t>Certifications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4240A5-814B-9846-9691-3436736091E3}"/>
                </a:ext>
              </a:extLst>
            </p:cNvPr>
            <p:cNvSpPr/>
            <p:nvPr/>
          </p:nvSpPr>
          <p:spPr>
            <a:xfrm>
              <a:off x="3550928" y="3287268"/>
              <a:ext cx="457200" cy="19050"/>
            </a:xfrm>
            <a:prstGeom prst="rect">
              <a:avLst/>
            </a:prstGeom>
            <a:solidFill>
              <a:srgbClr val="E86A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9" name="Rounded Rectangle 20">
              <a:extLst>
                <a:ext uri="{FF2B5EF4-FFF2-40B4-BE49-F238E27FC236}">
                  <a16:creationId xmlns:a16="http://schemas.microsoft.com/office/drawing/2014/main" id="{6D6FF39E-EE9B-3896-44EC-F380710C7717}"/>
                </a:ext>
              </a:extLst>
            </p:cNvPr>
            <p:cNvSpPr/>
            <p:nvPr/>
          </p:nvSpPr>
          <p:spPr>
            <a:xfrm>
              <a:off x="3550928" y="3451860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Engineer Associate</a:t>
              </a:r>
            </a:p>
          </p:txBody>
        </p:sp>
        <p:sp>
          <p:nvSpPr>
            <p:cNvPr id="20" name="Rounded Rectangle 21">
              <a:extLst>
                <a:ext uri="{FF2B5EF4-FFF2-40B4-BE49-F238E27FC236}">
                  <a16:creationId xmlns:a16="http://schemas.microsoft.com/office/drawing/2014/main" id="{FCD4739D-F237-0D6A-3774-31B2407A5AC4}"/>
                </a:ext>
              </a:extLst>
            </p:cNvPr>
            <p:cNvSpPr/>
            <p:nvPr/>
          </p:nvSpPr>
          <p:spPr>
            <a:xfrm>
              <a:off x="3550928" y="3927348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Engineer Professional</a:t>
              </a:r>
            </a:p>
          </p:txBody>
        </p:sp>
        <p:sp>
          <p:nvSpPr>
            <p:cNvPr id="21" name="Rounded Rectangle 22">
              <a:extLst>
                <a:ext uri="{FF2B5EF4-FFF2-40B4-BE49-F238E27FC236}">
                  <a16:creationId xmlns:a16="http://schemas.microsoft.com/office/drawing/2014/main" id="{0D3897F3-B446-F4B1-10A8-8593780E2EE5}"/>
                </a:ext>
              </a:extLst>
            </p:cNvPr>
            <p:cNvSpPr/>
            <p:nvPr/>
          </p:nvSpPr>
          <p:spPr>
            <a:xfrm>
              <a:off x="3550928" y="4402836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Analyst Associate</a:t>
              </a:r>
            </a:p>
          </p:txBody>
        </p:sp>
        <p:sp>
          <p:nvSpPr>
            <p:cNvPr id="22" name="Rounded Rectangle 23">
              <a:extLst>
                <a:ext uri="{FF2B5EF4-FFF2-40B4-BE49-F238E27FC236}">
                  <a16:creationId xmlns:a16="http://schemas.microsoft.com/office/drawing/2014/main" id="{7DF4DDBF-DBE3-7AB1-D551-841307F653A1}"/>
                </a:ext>
              </a:extLst>
            </p:cNvPr>
            <p:cNvSpPr/>
            <p:nvPr/>
          </p:nvSpPr>
          <p:spPr>
            <a:xfrm>
              <a:off x="6299349" y="1271777"/>
              <a:ext cx="2682232" cy="40690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1F3A68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Databricks Certification</a:t>
              </a:r>
            </a:p>
            <a:p>
              <a:endParaRPr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CDD165-70D6-7341-6DF6-7D1F2230F819}"/>
                </a:ext>
              </a:extLst>
            </p:cNvPr>
            <p:cNvSpPr/>
            <p:nvPr/>
          </p:nvSpPr>
          <p:spPr>
            <a:xfrm>
              <a:off x="6187440" y="1394460"/>
              <a:ext cx="2682232" cy="1051560"/>
            </a:xfrm>
            <a:prstGeom prst="rect">
              <a:avLst/>
            </a:prstGeom>
            <a:solidFill>
              <a:srgbClr val="1F3A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164592" rIns="182880" bIns="9144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800" b="1">
                  <a:solidFill>
                    <a:srgbClr val="FFFFFF"/>
                  </a:solidFill>
                  <a:latin typeface="Calibri"/>
                </a:rPr>
                <a:t>Chandru R</a:t>
              </a:r>
              <a:endParaRPr sz="1800" b="1">
                <a:solidFill>
                  <a:srgbClr val="FFFFFF"/>
                </a:solidFill>
                <a:latin typeface="Calibri"/>
              </a:endParaRPr>
            </a:p>
            <a:p>
              <a:pPr algn="l"/>
              <a:r>
                <a:rPr sz="1100" i="1">
                  <a:solidFill>
                    <a:srgbClr val="CFDBEC"/>
                  </a:solidFill>
                  <a:latin typeface="Calibri"/>
                </a:rPr>
                <a:t>Data Engineer</a:t>
              </a:r>
            </a:p>
          </p:txBody>
        </p:sp>
        <p:sp>
          <p:nvSpPr>
            <p:cNvPr id="24" name="Rounded Rectangle 25">
              <a:extLst>
                <a:ext uri="{FF2B5EF4-FFF2-40B4-BE49-F238E27FC236}">
                  <a16:creationId xmlns:a16="http://schemas.microsoft.com/office/drawing/2014/main" id="{E7CCF417-E559-AAA6-D84E-7E964025D48E}"/>
                </a:ext>
              </a:extLst>
            </p:cNvPr>
            <p:cNvSpPr/>
            <p:nvPr/>
          </p:nvSpPr>
          <p:spPr>
            <a:xfrm>
              <a:off x="7823576" y="1976860"/>
              <a:ext cx="863215" cy="914400"/>
            </a:xfrm>
            <a:prstGeom prst="roundRect">
              <a:avLst>
                <a:gd name="adj" fmla="val 12000"/>
              </a:avLst>
            </a:prstGeom>
            <a:solidFill>
              <a:srgbClr val="E86A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400" b="1">
                  <a:solidFill>
                    <a:srgbClr val="FFFFFF"/>
                  </a:solidFill>
                  <a:latin typeface="Calibri"/>
                </a:rPr>
                <a:t>4</a:t>
              </a:r>
              <a:endParaRPr sz="3400" b="1">
                <a:solidFill>
                  <a:srgbClr val="FFFFFF"/>
                </a:solidFill>
                <a:latin typeface="Calibri"/>
              </a:endParaRPr>
            </a:p>
            <a:p>
              <a:pPr algn="ctr"/>
              <a:r>
                <a:rPr sz="900" b="1">
                  <a:solidFill>
                    <a:srgbClr val="FFFFFF"/>
                  </a:solidFill>
                  <a:latin typeface="Calibri"/>
                </a:rPr>
                <a:t>Certifications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EFD569-2AA0-A107-1085-06D49616E89A}"/>
                </a:ext>
              </a:extLst>
            </p:cNvPr>
            <p:cNvSpPr/>
            <p:nvPr/>
          </p:nvSpPr>
          <p:spPr>
            <a:xfrm>
              <a:off x="6416040" y="3287268"/>
              <a:ext cx="457200" cy="19050"/>
            </a:xfrm>
            <a:prstGeom prst="rect">
              <a:avLst/>
            </a:prstGeom>
            <a:solidFill>
              <a:srgbClr val="E86A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7" name="Rounded Rectangle 28">
              <a:extLst>
                <a:ext uri="{FF2B5EF4-FFF2-40B4-BE49-F238E27FC236}">
                  <a16:creationId xmlns:a16="http://schemas.microsoft.com/office/drawing/2014/main" id="{2900368A-5261-1F3B-C6C4-9862F664955D}"/>
                </a:ext>
              </a:extLst>
            </p:cNvPr>
            <p:cNvSpPr/>
            <p:nvPr/>
          </p:nvSpPr>
          <p:spPr>
            <a:xfrm>
              <a:off x="6416040" y="3451860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Engineer Associate</a:t>
              </a:r>
            </a:p>
          </p:txBody>
        </p:sp>
        <p:sp>
          <p:nvSpPr>
            <p:cNvPr id="28" name="Rounded Rectangle 29">
              <a:extLst>
                <a:ext uri="{FF2B5EF4-FFF2-40B4-BE49-F238E27FC236}">
                  <a16:creationId xmlns:a16="http://schemas.microsoft.com/office/drawing/2014/main" id="{00869896-9505-4C29-F8CB-CEB1BE209C6B}"/>
                </a:ext>
              </a:extLst>
            </p:cNvPr>
            <p:cNvSpPr/>
            <p:nvPr/>
          </p:nvSpPr>
          <p:spPr>
            <a:xfrm>
              <a:off x="6416040" y="3927348"/>
              <a:ext cx="2225032" cy="384048"/>
            </a:xfrm>
            <a:prstGeom prst="roundRect">
              <a:avLst>
                <a:gd name="adj" fmla="val 35000"/>
              </a:avLst>
            </a:prstGeom>
            <a:solidFill>
              <a:srgbClr val="F5F7FA"/>
            </a:solidFill>
            <a:ln w="6350">
              <a:solidFill>
                <a:srgbClr val="D8DF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tIns="36576" bIns="365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00">
                  <a:solidFill>
                    <a:srgbClr val="E86A33"/>
                  </a:solidFill>
                  <a:latin typeface="Calibri"/>
                </a:rPr>
                <a:t>● </a:t>
              </a:r>
              <a:r>
                <a:rPr sz="1000" b="0">
                  <a:solidFill>
                    <a:srgbClr val="1F2A44"/>
                  </a:solidFill>
                  <a:latin typeface="Calibri"/>
                </a:rPr>
                <a:t>Data Engineer Professional</a:t>
              </a:r>
            </a:p>
          </p:txBody>
        </p:sp>
      </p:grpSp>
      <p:pic>
        <p:nvPicPr>
          <p:cNvPr id="40" name="Picture 3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AE0827E-3F33-A4F9-E614-44679BD4A7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677" y="1249499"/>
            <a:ext cx="1081654" cy="133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41" descr="A logo of a company&#10;&#10;AI-generated content may be incorrect.">
            <a:extLst>
              <a:ext uri="{FF2B5EF4-FFF2-40B4-BE49-F238E27FC236}">
                <a16:creationId xmlns:a16="http://schemas.microsoft.com/office/drawing/2014/main" id="{CB8337F0-BEED-AECE-CBF8-885FD4E414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301" y="1157865"/>
            <a:ext cx="1463746" cy="1463746"/>
          </a:xfrm>
          <a:prstGeom prst="rect">
            <a:avLst/>
          </a:prstGeom>
        </p:spPr>
      </p:pic>
      <p:sp>
        <p:nvSpPr>
          <p:cNvPr id="46" name="TextBox 9">
            <a:extLst>
              <a:ext uri="{FF2B5EF4-FFF2-40B4-BE49-F238E27FC236}">
                <a16:creationId xmlns:a16="http://schemas.microsoft.com/office/drawing/2014/main" id="{4A3FE148-BD99-695A-F0D0-23455E6015F4}"/>
              </a:ext>
            </a:extLst>
          </p:cNvPr>
          <p:cNvSpPr txBox="1"/>
          <p:nvPr/>
        </p:nvSpPr>
        <p:spPr>
          <a:xfrm>
            <a:off x="5334643" y="4085472"/>
            <a:ext cx="124553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1F3A68"/>
                </a:solidFill>
                <a:latin typeface="Calibri"/>
              </a:rPr>
              <a:t>D</a:t>
            </a:r>
            <a:r>
              <a:rPr lang="en-IN" sz="1000" b="1">
                <a:solidFill>
                  <a:srgbClr val="1F3A68"/>
                </a:solidFill>
                <a:latin typeface="Calibri"/>
              </a:rPr>
              <a:t>atabricks</a:t>
            </a:r>
            <a:r>
              <a:rPr sz="1000" b="1">
                <a:solidFill>
                  <a:srgbClr val="1F3A68"/>
                </a:solidFill>
                <a:latin typeface="Calibri"/>
              </a:rPr>
              <a:t> C</a:t>
            </a:r>
            <a:r>
              <a:rPr lang="en-IN" sz="1000" b="1">
                <a:solidFill>
                  <a:srgbClr val="1F3A68"/>
                </a:solidFill>
                <a:latin typeface="Calibri"/>
              </a:rPr>
              <a:t>ertification</a:t>
            </a:r>
            <a:endParaRPr sz="1000" b="1">
              <a:solidFill>
                <a:srgbClr val="1F3A68"/>
              </a:solidFill>
              <a:latin typeface="Calibri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6A310D5-25C7-25AA-31EB-F1BA75D00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882" y="1192166"/>
            <a:ext cx="1015389" cy="141085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8513638-CCBE-55CE-29F5-DC386CC5AED0}"/>
              </a:ext>
            </a:extLst>
          </p:cNvPr>
          <p:cNvSpPr txBox="1"/>
          <p:nvPr/>
        </p:nvSpPr>
        <p:spPr>
          <a:xfrm>
            <a:off x="5689504" y="867419"/>
            <a:ext cx="1661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rgbClr val="002060"/>
                </a:solidFill>
              </a:rPr>
              <a:t>Certification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C6DC95A5-58D8-7938-03A5-7537F0C61D59}"/>
              </a:ext>
            </a:extLst>
          </p:cNvPr>
          <p:cNvSpPr/>
          <p:nvPr/>
        </p:nvSpPr>
        <p:spPr>
          <a:xfrm>
            <a:off x="5334643" y="5533257"/>
            <a:ext cx="2225032" cy="299040"/>
          </a:xfrm>
          <a:prstGeom prst="roundRect">
            <a:avLst>
              <a:gd name="adj" fmla="val 35000"/>
            </a:avLst>
          </a:prstGeom>
          <a:solidFill>
            <a:srgbClr val="F5F7FA"/>
          </a:solidFill>
          <a:ln w="635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>
                <a:solidFill>
                  <a:srgbClr val="E86A33"/>
                </a:solidFill>
                <a:latin typeface="Calibri"/>
              </a:rPr>
              <a:t>●</a:t>
            </a:r>
            <a:r>
              <a:rPr lang="en-US" sz="900">
                <a:solidFill>
                  <a:srgbClr val="E86A33"/>
                </a:solidFill>
                <a:latin typeface="Calibri"/>
              </a:rPr>
              <a:t> </a:t>
            </a:r>
            <a:r>
              <a:rPr lang="en-US" sz="1000">
                <a:solidFill>
                  <a:srgbClr val="1F2A44"/>
                </a:solidFill>
                <a:latin typeface="Calibri"/>
              </a:rPr>
              <a:t>A</a:t>
            </a:r>
            <a:r>
              <a:rPr lang="en-US" sz="1000" b="0">
                <a:solidFill>
                  <a:srgbClr val="1F2A44"/>
                </a:solidFill>
                <a:latin typeface="Calibri"/>
              </a:rPr>
              <a:t>pache Spark Associate</a:t>
            </a:r>
            <a:endParaRPr sz="1000" b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B6C3A58D-5BD8-ADC5-479F-61BDE8637B01}"/>
              </a:ext>
            </a:extLst>
          </p:cNvPr>
          <p:cNvSpPr/>
          <p:nvPr/>
        </p:nvSpPr>
        <p:spPr>
          <a:xfrm>
            <a:off x="8199755" y="5545419"/>
            <a:ext cx="2225032" cy="299040"/>
          </a:xfrm>
          <a:prstGeom prst="roundRect">
            <a:avLst>
              <a:gd name="adj" fmla="val 35000"/>
            </a:avLst>
          </a:prstGeom>
          <a:solidFill>
            <a:srgbClr val="F5F7FA"/>
          </a:solidFill>
          <a:ln w="635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>
                <a:solidFill>
                  <a:srgbClr val="E86A33"/>
                </a:solidFill>
                <a:latin typeface="Calibri"/>
              </a:rPr>
              <a:t>●</a:t>
            </a:r>
            <a:r>
              <a:rPr lang="en-US" sz="900">
                <a:solidFill>
                  <a:srgbClr val="E86A33"/>
                </a:solidFill>
                <a:latin typeface="Calibri"/>
              </a:rPr>
              <a:t> </a:t>
            </a:r>
            <a:r>
              <a:rPr lang="en-US" sz="1000">
                <a:solidFill>
                  <a:srgbClr val="1F2A44"/>
                </a:solidFill>
                <a:latin typeface="Calibri"/>
              </a:rPr>
              <a:t>A</a:t>
            </a:r>
            <a:r>
              <a:rPr lang="en-US" sz="1000" b="0">
                <a:solidFill>
                  <a:srgbClr val="1F2A44"/>
                </a:solidFill>
                <a:latin typeface="Calibri"/>
              </a:rPr>
              <a:t>pache Spark Associate</a:t>
            </a:r>
            <a:endParaRPr sz="1000" b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8" name="Rounded Rectangle 22">
            <a:extLst>
              <a:ext uri="{FF2B5EF4-FFF2-40B4-BE49-F238E27FC236}">
                <a16:creationId xmlns:a16="http://schemas.microsoft.com/office/drawing/2014/main" id="{F1E9594F-259F-CB41-26E5-61BA66D4B19A}"/>
              </a:ext>
            </a:extLst>
          </p:cNvPr>
          <p:cNvSpPr/>
          <p:nvPr/>
        </p:nvSpPr>
        <p:spPr>
          <a:xfrm>
            <a:off x="8199755" y="5169921"/>
            <a:ext cx="2225032" cy="299040"/>
          </a:xfrm>
          <a:prstGeom prst="roundRect">
            <a:avLst>
              <a:gd name="adj" fmla="val 35000"/>
            </a:avLst>
          </a:prstGeom>
          <a:solidFill>
            <a:srgbClr val="F5F7FA"/>
          </a:solidFill>
          <a:ln w="635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>
                <a:solidFill>
                  <a:srgbClr val="E86A33"/>
                </a:solidFill>
                <a:latin typeface="Calibri"/>
              </a:rPr>
              <a:t>● </a:t>
            </a:r>
            <a:r>
              <a:rPr sz="1000" b="0">
                <a:solidFill>
                  <a:srgbClr val="1F2A44"/>
                </a:solidFill>
                <a:latin typeface="Calibri"/>
              </a:rPr>
              <a:t>Data Analyst Associate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5546248-00EC-E0DA-2906-4AB7D2A08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592" y="1300526"/>
            <a:ext cx="1034683" cy="128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96139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Custom 2">
      <a:dk1>
        <a:srgbClr val="3F3F3F"/>
      </a:dk1>
      <a:lt1>
        <a:srgbClr val="FFFFFF"/>
      </a:lt1>
      <a:dk2>
        <a:srgbClr val="002060"/>
      </a:dk2>
      <a:lt2>
        <a:srgbClr val="E7E6E6"/>
      </a:lt2>
      <a:accent1>
        <a:srgbClr val="D8D8D8"/>
      </a:accent1>
      <a:accent2>
        <a:srgbClr val="7F7F7F"/>
      </a:accent2>
      <a:accent3>
        <a:srgbClr val="0070C0"/>
      </a:accent3>
      <a:accent4>
        <a:srgbClr val="F4B183"/>
      </a:accent4>
      <a:accent5>
        <a:srgbClr val="000066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A132C21D1ED47BE53CCDBFC9DAD65" ma:contentTypeVersion="10" ma:contentTypeDescription="Create a new document." ma:contentTypeScope="" ma:versionID="cd660a76007682086f7f32db33061f3e">
  <xsd:schema xmlns:xsd="http://www.w3.org/2001/XMLSchema" xmlns:xs="http://www.w3.org/2001/XMLSchema" xmlns:p="http://schemas.microsoft.com/office/2006/metadata/properties" xmlns:ns2="948aca04-575f-490f-b824-883528be4c9e" xmlns:ns3="5d6593c5-e4e3-4069-8908-67830756f2c7" targetNamespace="http://schemas.microsoft.com/office/2006/metadata/properties" ma:root="true" ma:fieldsID="89c51b9272f4787bd75e3956010924a0" ns2:_="" ns3:_="">
    <xsd:import namespace="948aca04-575f-490f-b824-883528be4c9e"/>
    <xsd:import namespace="5d6593c5-e4e3-4069-8908-67830756f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8aca04-575f-490f-b824-883528be4c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22d1f1-43e3-4405-90dd-222f4591eb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593c5-e4e3-4069-8908-67830756f2c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334cb06-5bd9-4681-ae05-828fb9ec4524}" ma:internalName="TaxCatchAll" ma:showField="CatchAllData" ma:web="5d6593c5-e4e3-4069-8908-67830756f2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8aca04-575f-490f-b824-883528be4c9e">
      <Terms xmlns="http://schemas.microsoft.com/office/infopath/2007/PartnerControls"/>
    </lcf76f155ced4ddcb4097134ff3c332f>
    <TaxCatchAll xmlns="5d6593c5-e4e3-4069-8908-67830756f2c7" xsi:nil="true"/>
  </documentManagement>
</p:properties>
</file>

<file path=customXml/itemProps1.xml><?xml version="1.0" encoding="utf-8"?>
<ds:datastoreItem xmlns:ds="http://schemas.openxmlformats.org/officeDocument/2006/customXml" ds:itemID="{337FBD6F-D087-4A22-BD85-6CDBC40CAD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B5FF8D-B902-46B1-8762-504A9E152D97}">
  <ds:schemaRefs>
    <ds:schemaRef ds:uri="5d6593c5-e4e3-4069-8908-67830756f2c7"/>
    <ds:schemaRef ds:uri="948aca04-575f-490f-b824-883528be4c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2598447-3FD9-450E-AE49-94A1B8B448FE}">
  <ds:schemaRefs>
    <ds:schemaRef ds:uri="5d6593c5-e4e3-4069-8908-67830756f2c7"/>
    <ds:schemaRef ds:uri="948aca04-575f-490f-b824-883528be4c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596</Words>
  <Application>Microsoft Office PowerPoint</Application>
  <PresentationFormat>Widescreen</PresentationFormat>
  <Paragraphs>131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4_Office Theme</vt:lpstr>
      <vt:lpstr>PowerPoint Presentation</vt:lpstr>
      <vt:lpstr>Engagement Summary</vt:lpstr>
      <vt:lpstr>PowerPoint Presentation</vt:lpstr>
      <vt:lpstr>Team Structure &amp; Escalation Model</vt:lpstr>
      <vt:lpstr>Weekly Status Report – ACT Power Services Management Report : | Week of August 31 – September 4, 2026</vt:lpstr>
      <vt:lpstr>Professional Accomplishment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Yakin V</dc:creator>
  <cp:lastModifiedBy>Harish Raghav Prasad R</cp:lastModifiedBy>
  <cp:revision>3</cp:revision>
  <dcterms:created xsi:type="dcterms:W3CDTF">2026-03-24T22:50:57Z</dcterms:created>
  <dcterms:modified xsi:type="dcterms:W3CDTF">2026-09-16T04:24:37Z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0x010100784A132C21D1ED47BE53CCDBFC9DAD65</vt:lpwstr>
  </property>
  <property fmtid="{D5CDD505-2E9C-101B-9397-08002B2CF9AE}" pid="3" name="MediaServiceImageTags">
    <vt:lpwstr/>
  </property>
</Properties>
</file>